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10972800" cy="502920"/>
          </a:xfrm>
          <a:prstGeom prst="rect">
            <a:avLst/>
          </a:prstGeom>
          <a:noFill/>
        </p:spPr>
        <p:txBody>
          <a:bodyPr wrap="square">
            <a:spAutoFit/>
          </a:bodyPr>
          <a:lstStyle/>
          <a:p>
            <a:pPr algn="l"/>
            <a:r>
              <a:rPr sz="1300" b="1" i="0">
                <a:solidFill>
                  <a:srgbClr val="6366F1"/>
                </a:solidFill>
                <a:latin typeface="Calibri"/>
              </a:rPr>
              <a:t>PROJET #3 — SOUTENANCE</a:t>
            </a:r>
          </a:p>
        </p:txBody>
      </p:sp>
      <p:sp>
        <p:nvSpPr>
          <p:cNvPr id="5" name="TextBox 4"/>
          <p:cNvSpPr txBox="1"/>
          <p:nvPr/>
        </p:nvSpPr>
        <p:spPr>
          <a:xfrm>
            <a:off x="731520" y="1554480"/>
            <a:ext cx="10515600" cy="1005840"/>
          </a:xfrm>
          <a:prstGeom prst="rect">
            <a:avLst/>
          </a:prstGeom>
          <a:noFill/>
        </p:spPr>
        <p:txBody>
          <a:bodyPr wrap="square">
            <a:spAutoFit/>
          </a:bodyPr>
          <a:lstStyle/>
          <a:p>
            <a:pPr algn="l"/>
            <a:r>
              <a:rPr sz="4200" b="1" i="0">
                <a:solidFill>
                  <a:srgbClr val="FFFFFF"/>
                </a:solidFill>
                <a:latin typeface="Calibri"/>
              </a:rPr>
              <a:t>Prédiction du Churn Client</a:t>
            </a:r>
          </a:p>
        </p:txBody>
      </p:sp>
      <p:sp>
        <p:nvSpPr>
          <p:cNvPr id="6" name="TextBox 5"/>
          <p:cNvSpPr txBox="1"/>
          <p:nvPr/>
        </p:nvSpPr>
        <p:spPr>
          <a:xfrm>
            <a:off x="731520" y="2514600"/>
            <a:ext cx="10515600" cy="640080"/>
          </a:xfrm>
          <a:prstGeom prst="rect">
            <a:avLst/>
          </a:prstGeom>
          <a:noFill/>
        </p:spPr>
        <p:txBody>
          <a:bodyPr wrap="square">
            <a:spAutoFit/>
          </a:bodyPr>
          <a:lstStyle/>
          <a:p>
            <a:pPr algn="l"/>
            <a:r>
              <a:rPr sz="2600" b="0" i="0">
                <a:solidFill>
                  <a:srgbClr val="AABBCC"/>
                </a:solidFill>
                <a:latin typeface="Calibri"/>
              </a:rPr>
              <a:t>avec des modèles de Machine Learning</a:t>
            </a:r>
          </a:p>
        </p:txBody>
      </p:sp>
      <p:sp>
        <p:nvSpPr>
          <p:cNvPr id="7" name="Rectangle 6"/>
          <p:cNvSpPr/>
          <p:nvPr/>
        </p:nvSpPr>
        <p:spPr>
          <a:xfrm>
            <a:off x="731520" y="4114800"/>
            <a:ext cx="1517904" cy="2926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Machine Learning</a:t>
            </a:r>
          </a:p>
        </p:txBody>
      </p:sp>
      <p:sp>
        <p:nvSpPr>
          <p:cNvPr id="8" name="Rectangle 7"/>
          <p:cNvSpPr/>
          <p:nvPr/>
        </p:nvSpPr>
        <p:spPr>
          <a:xfrm>
            <a:off x="2194560" y="4114800"/>
            <a:ext cx="740664"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Python</a:t>
            </a:r>
          </a:p>
        </p:txBody>
      </p:sp>
      <p:sp>
        <p:nvSpPr>
          <p:cNvPr id="9" name="Rectangle 8"/>
          <p:cNvSpPr/>
          <p:nvPr/>
        </p:nvSpPr>
        <p:spPr>
          <a:xfrm>
            <a:off x="3108960" y="4114800"/>
            <a:ext cx="81838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FastAPI</a:t>
            </a:r>
          </a:p>
        </p:txBody>
      </p:sp>
      <p:sp>
        <p:nvSpPr>
          <p:cNvPr id="10" name="Rectangle 9"/>
          <p:cNvSpPr/>
          <p:nvPr/>
        </p:nvSpPr>
        <p:spPr>
          <a:xfrm>
            <a:off x="3977639" y="4114800"/>
            <a:ext cx="585216"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Dash</a:t>
            </a:r>
          </a:p>
        </p:txBody>
      </p:sp>
      <p:sp>
        <p:nvSpPr>
          <p:cNvPr id="11" name="Rectangle 10"/>
          <p:cNvSpPr/>
          <p:nvPr/>
        </p:nvSpPr>
        <p:spPr>
          <a:xfrm>
            <a:off x="4572000" y="4114800"/>
            <a:ext cx="662940"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CI/CD</a:t>
            </a:r>
          </a:p>
        </p:txBody>
      </p:sp>
      <p:sp>
        <p:nvSpPr>
          <p:cNvPr id="12" name="TextBox 11"/>
          <p:cNvSpPr txBox="1"/>
          <p:nvPr/>
        </p:nvSpPr>
        <p:spPr>
          <a:xfrm>
            <a:off x="731520" y="5212080"/>
            <a:ext cx="7315200" cy="411480"/>
          </a:xfrm>
          <a:prstGeom prst="rect">
            <a:avLst/>
          </a:prstGeom>
          <a:noFill/>
        </p:spPr>
        <p:txBody>
          <a:bodyPr wrap="square">
            <a:spAutoFit/>
          </a:bodyPr>
          <a:lstStyle/>
          <a:p>
            <a:pPr algn="l"/>
            <a:r>
              <a:rPr sz="1400" b="0" i="0">
                <a:solidFill>
                  <a:srgbClr val="FFFFFF"/>
                </a:solidFill>
                <a:latin typeface="Calibri"/>
              </a:rPr>
              <a:t>Kouame Adamou Kevin</a:t>
            </a:r>
          </a:p>
        </p:txBody>
      </p:sp>
      <p:sp>
        <p:nvSpPr>
          <p:cNvPr id="13" name="TextBox 12"/>
          <p:cNvSpPr txBox="1"/>
          <p:nvPr/>
        </p:nvSpPr>
        <p:spPr>
          <a:xfrm>
            <a:off x="731520" y="5577840"/>
            <a:ext cx="7315200" cy="365760"/>
          </a:xfrm>
          <a:prstGeom prst="rect">
            <a:avLst/>
          </a:prstGeom>
          <a:noFill/>
        </p:spPr>
        <p:txBody>
          <a:bodyPr wrap="square">
            <a:spAutoFit/>
          </a:bodyPr>
          <a:lstStyle/>
          <a:p>
            <a:pPr algn="l"/>
            <a:r>
              <a:rPr sz="1200" b="0" i="0">
                <a:solidFill>
                  <a:srgbClr val="64748B"/>
                </a:solidFill>
                <a:latin typeface="Calibri"/>
              </a:rPr>
              <a:t>L'École Multimédia · Septembre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Sommaire</a:t>
            </a:r>
          </a:p>
        </p:txBody>
      </p:sp>
      <p:sp>
        <p:nvSpPr>
          <p:cNvPr id="4" name="Rectangle 3"/>
          <p:cNvSpPr/>
          <p:nvPr/>
        </p:nvSpPr>
        <p:spPr>
          <a:xfrm>
            <a:off x="548640" y="1188720"/>
            <a:ext cx="411480" cy="4114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11480" cy="411480"/>
          </a:xfrm>
          <a:prstGeom prst="rect">
            <a:avLst/>
          </a:prstGeom>
          <a:noFill/>
        </p:spPr>
        <p:txBody>
          <a:bodyPr wrap="square">
            <a:spAutoFit/>
          </a:bodyPr>
          <a:lstStyle/>
          <a:p>
            <a:pPr algn="ctr"/>
            <a:r>
              <a:rPr sz="1400" b="1" i="0">
                <a:solidFill>
                  <a:srgbClr val="FFFFFF"/>
                </a:solidFill>
                <a:latin typeface="Calibri"/>
              </a:rPr>
              <a:t>01</a:t>
            </a:r>
          </a:p>
        </p:txBody>
      </p:sp>
      <p:sp>
        <p:nvSpPr>
          <p:cNvPr id="6" name="TextBox 5"/>
          <p:cNvSpPr txBox="1"/>
          <p:nvPr/>
        </p:nvSpPr>
        <p:spPr>
          <a:xfrm>
            <a:off x="1097280" y="1234440"/>
            <a:ext cx="5120640" cy="365760"/>
          </a:xfrm>
          <a:prstGeom prst="rect">
            <a:avLst/>
          </a:prstGeom>
          <a:noFill/>
        </p:spPr>
        <p:txBody>
          <a:bodyPr wrap="square">
            <a:spAutoFit/>
          </a:bodyPr>
          <a:lstStyle/>
          <a:p>
            <a:pPr algn="l"/>
            <a:r>
              <a:rPr sz="1300" b="0" i="0">
                <a:solidFill>
                  <a:srgbClr val="1E293B"/>
                </a:solidFill>
                <a:latin typeface="Calibri"/>
              </a:rPr>
              <a:t>Rappel du brief, contexte et problématique</a:t>
            </a:r>
          </a:p>
        </p:txBody>
      </p:sp>
      <p:sp>
        <p:nvSpPr>
          <p:cNvPr id="7" name="Rectangle 6"/>
          <p:cNvSpPr/>
          <p:nvPr/>
        </p:nvSpPr>
        <p:spPr>
          <a:xfrm>
            <a:off x="548640" y="2103120"/>
            <a:ext cx="411480" cy="4114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411480" cy="411480"/>
          </a:xfrm>
          <a:prstGeom prst="rect">
            <a:avLst/>
          </a:prstGeom>
          <a:noFill/>
        </p:spPr>
        <p:txBody>
          <a:bodyPr wrap="square">
            <a:spAutoFit/>
          </a:bodyPr>
          <a:lstStyle/>
          <a:p>
            <a:pPr algn="ctr"/>
            <a:r>
              <a:rPr sz="1400" b="1" i="0">
                <a:solidFill>
                  <a:srgbClr val="FFFFFF"/>
                </a:solidFill>
                <a:latin typeface="Calibri"/>
              </a:rPr>
              <a:t>02</a:t>
            </a:r>
          </a:p>
        </p:txBody>
      </p:sp>
      <p:sp>
        <p:nvSpPr>
          <p:cNvPr id="9" name="TextBox 8"/>
          <p:cNvSpPr txBox="1"/>
          <p:nvPr/>
        </p:nvSpPr>
        <p:spPr>
          <a:xfrm>
            <a:off x="1097280" y="2148839"/>
            <a:ext cx="5120640" cy="365760"/>
          </a:xfrm>
          <a:prstGeom prst="rect">
            <a:avLst/>
          </a:prstGeom>
          <a:noFill/>
        </p:spPr>
        <p:txBody>
          <a:bodyPr wrap="square">
            <a:spAutoFit/>
          </a:bodyPr>
          <a:lstStyle/>
          <a:p>
            <a:pPr algn="l"/>
            <a:r>
              <a:rPr sz="1300" b="0" i="0">
                <a:solidFill>
                  <a:srgbClr val="1E293B"/>
                </a:solidFill>
                <a:latin typeface="Calibri"/>
              </a:rPr>
              <a:t>Mes choix technologiques</a:t>
            </a:r>
          </a:p>
        </p:txBody>
      </p:sp>
      <p:sp>
        <p:nvSpPr>
          <p:cNvPr id="10" name="Rectangle 9"/>
          <p:cNvSpPr/>
          <p:nvPr/>
        </p:nvSpPr>
        <p:spPr>
          <a:xfrm>
            <a:off x="548640" y="3017520"/>
            <a:ext cx="411480" cy="4114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411480" cy="411480"/>
          </a:xfrm>
          <a:prstGeom prst="rect">
            <a:avLst/>
          </a:prstGeom>
          <a:noFill/>
        </p:spPr>
        <p:txBody>
          <a:bodyPr wrap="square">
            <a:spAutoFit/>
          </a:bodyPr>
          <a:lstStyle/>
          <a:p>
            <a:pPr algn="ctr"/>
            <a:r>
              <a:rPr sz="1400" b="1" i="0">
                <a:solidFill>
                  <a:srgbClr val="FFFFFF"/>
                </a:solidFill>
                <a:latin typeface="Calibri"/>
              </a:rPr>
              <a:t>03</a:t>
            </a:r>
          </a:p>
        </p:txBody>
      </p:sp>
      <p:sp>
        <p:nvSpPr>
          <p:cNvPr id="12" name="TextBox 11"/>
          <p:cNvSpPr txBox="1"/>
          <p:nvPr/>
        </p:nvSpPr>
        <p:spPr>
          <a:xfrm>
            <a:off x="1097280" y="3063239"/>
            <a:ext cx="5120640" cy="365760"/>
          </a:xfrm>
          <a:prstGeom prst="rect">
            <a:avLst/>
          </a:prstGeom>
          <a:noFill/>
        </p:spPr>
        <p:txBody>
          <a:bodyPr wrap="square">
            <a:spAutoFit/>
          </a:bodyPr>
          <a:lstStyle/>
          <a:p>
            <a:pPr algn="l"/>
            <a:r>
              <a:rPr sz="1300" b="0" i="0">
                <a:solidFill>
                  <a:srgbClr val="1E293B"/>
                </a:solidFill>
                <a:latin typeface="Calibri"/>
              </a:rPr>
              <a:t>Pipeline de traitement</a:t>
            </a:r>
          </a:p>
        </p:txBody>
      </p:sp>
      <p:sp>
        <p:nvSpPr>
          <p:cNvPr id="13" name="Rectangle 12"/>
          <p:cNvSpPr/>
          <p:nvPr/>
        </p:nvSpPr>
        <p:spPr>
          <a:xfrm>
            <a:off x="548640" y="3931920"/>
            <a:ext cx="411480" cy="4114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931920"/>
            <a:ext cx="411480" cy="411480"/>
          </a:xfrm>
          <a:prstGeom prst="rect">
            <a:avLst/>
          </a:prstGeom>
          <a:noFill/>
        </p:spPr>
        <p:txBody>
          <a:bodyPr wrap="square">
            <a:spAutoFit/>
          </a:bodyPr>
          <a:lstStyle/>
          <a:p>
            <a:pPr algn="ctr"/>
            <a:r>
              <a:rPr sz="1400" b="1" i="0">
                <a:solidFill>
                  <a:srgbClr val="FFFFFF"/>
                </a:solidFill>
                <a:latin typeface="Calibri"/>
              </a:rPr>
              <a:t>04</a:t>
            </a:r>
          </a:p>
        </p:txBody>
      </p:sp>
      <p:sp>
        <p:nvSpPr>
          <p:cNvPr id="15" name="TextBox 14"/>
          <p:cNvSpPr txBox="1"/>
          <p:nvPr/>
        </p:nvSpPr>
        <p:spPr>
          <a:xfrm>
            <a:off x="1097280" y="3977639"/>
            <a:ext cx="5120640" cy="365760"/>
          </a:xfrm>
          <a:prstGeom prst="rect">
            <a:avLst/>
          </a:prstGeom>
          <a:noFill/>
        </p:spPr>
        <p:txBody>
          <a:bodyPr wrap="square">
            <a:spAutoFit/>
          </a:bodyPr>
          <a:lstStyle/>
          <a:p>
            <a:pPr algn="l"/>
            <a:r>
              <a:rPr sz="1300" b="0" i="0">
                <a:solidFill>
                  <a:srgbClr val="1E293B"/>
                </a:solidFill>
                <a:latin typeface="Calibri"/>
              </a:rPr>
              <a:t>Le jeu de données et son analyse (EDA)</a:t>
            </a:r>
          </a:p>
        </p:txBody>
      </p:sp>
      <p:sp>
        <p:nvSpPr>
          <p:cNvPr id="16" name="Rectangle 15"/>
          <p:cNvSpPr/>
          <p:nvPr/>
        </p:nvSpPr>
        <p:spPr>
          <a:xfrm>
            <a:off x="548640" y="4846320"/>
            <a:ext cx="411480" cy="4114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846320"/>
            <a:ext cx="411480" cy="411480"/>
          </a:xfrm>
          <a:prstGeom prst="rect">
            <a:avLst/>
          </a:prstGeom>
          <a:noFill/>
        </p:spPr>
        <p:txBody>
          <a:bodyPr wrap="square">
            <a:spAutoFit/>
          </a:bodyPr>
          <a:lstStyle/>
          <a:p>
            <a:pPr algn="ctr"/>
            <a:r>
              <a:rPr sz="1400" b="1" i="0">
                <a:solidFill>
                  <a:srgbClr val="FFFFFF"/>
                </a:solidFill>
                <a:latin typeface="Calibri"/>
              </a:rPr>
              <a:t>05</a:t>
            </a:r>
          </a:p>
        </p:txBody>
      </p:sp>
      <p:sp>
        <p:nvSpPr>
          <p:cNvPr id="18" name="TextBox 17"/>
          <p:cNvSpPr txBox="1"/>
          <p:nvPr/>
        </p:nvSpPr>
        <p:spPr>
          <a:xfrm>
            <a:off x="1097280" y="4892040"/>
            <a:ext cx="5120640" cy="365760"/>
          </a:xfrm>
          <a:prstGeom prst="rect">
            <a:avLst/>
          </a:prstGeom>
          <a:noFill/>
        </p:spPr>
        <p:txBody>
          <a:bodyPr wrap="square">
            <a:spAutoFit/>
          </a:bodyPr>
          <a:lstStyle/>
          <a:p>
            <a:pPr algn="l"/>
            <a:r>
              <a:rPr sz="1300" b="0" i="0">
                <a:solidFill>
                  <a:srgbClr val="1E293B"/>
                </a:solidFill>
                <a:latin typeface="Calibri"/>
              </a:rPr>
              <a:t>Préparation des données</a:t>
            </a:r>
          </a:p>
        </p:txBody>
      </p:sp>
      <p:sp>
        <p:nvSpPr>
          <p:cNvPr id="19" name="Rectangle 18"/>
          <p:cNvSpPr/>
          <p:nvPr/>
        </p:nvSpPr>
        <p:spPr>
          <a:xfrm>
            <a:off x="6492240" y="1188720"/>
            <a:ext cx="41148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188720"/>
            <a:ext cx="411480" cy="411480"/>
          </a:xfrm>
          <a:prstGeom prst="rect">
            <a:avLst/>
          </a:prstGeom>
          <a:noFill/>
        </p:spPr>
        <p:txBody>
          <a:bodyPr wrap="square">
            <a:spAutoFit/>
          </a:bodyPr>
          <a:lstStyle/>
          <a:p>
            <a:pPr algn="ctr"/>
            <a:r>
              <a:rPr sz="1400" b="1" i="0">
                <a:solidFill>
                  <a:srgbClr val="FFFFFF"/>
                </a:solidFill>
                <a:latin typeface="Calibri"/>
              </a:rPr>
              <a:t>06</a:t>
            </a:r>
          </a:p>
        </p:txBody>
      </p:sp>
      <p:sp>
        <p:nvSpPr>
          <p:cNvPr id="21" name="TextBox 20"/>
          <p:cNvSpPr txBox="1"/>
          <p:nvPr/>
        </p:nvSpPr>
        <p:spPr>
          <a:xfrm>
            <a:off x="7040879" y="1234440"/>
            <a:ext cx="5120640" cy="365760"/>
          </a:xfrm>
          <a:prstGeom prst="rect">
            <a:avLst/>
          </a:prstGeom>
          <a:noFill/>
        </p:spPr>
        <p:txBody>
          <a:bodyPr wrap="square">
            <a:spAutoFit/>
          </a:bodyPr>
          <a:lstStyle/>
          <a:p>
            <a:pPr algn="l"/>
            <a:r>
              <a:rPr sz="1300" b="0" i="0">
                <a:solidFill>
                  <a:srgbClr val="1E293B"/>
                </a:solidFill>
                <a:latin typeface="Calibri"/>
              </a:rPr>
              <a:t>Modèles, métriques, optimisation et résultats</a:t>
            </a:r>
          </a:p>
        </p:txBody>
      </p:sp>
      <p:sp>
        <p:nvSpPr>
          <p:cNvPr id="22" name="Rectangle 21"/>
          <p:cNvSpPr/>
          <p:nvPr/>
        </p:nvSpPr>
        <p:spPr>
          <a:xfrm>
            <a:off x="6492240" y="2103120"/>
            <a:ext cx="41148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103120"/>
            <a:ext cx="411480" cy="411480"/>
          </a:xfrm>
          <a:prstGeom prst="rect">
            <a:avLst/>
          </a:prstGeom>
          <a:noFill/>
        </p:spPr>
        <p:txBody>
          <a:bodyPr wrap="square">
            <a:spAutoFit/>
          </a:bodyPr>
          <a:lstStyle/>
          <a:p>
            <a:pPr algn="ctr"/>
            <a:r>
              <a:rPr sz="1400" b="1" i="0">
                <a:solidFill>
                  <a:srgbClr val="FFFFFF"/>
                </a:solidFill>
                <a:latin typeface="Calibri"/>
              </a:rPr>
              <a:t>07</a:t>
            </a:r>
          </a:p>
        </p:txBody>
      </p:sp>
      <p:sp>
        <p:nvSpPr>
          <p:cNvPr id="24" name="TextBox 23"/>
          <p:cNvSpPr txBox="1"/>
          <p:nvPr/>
        </p:nvSpPr>
        <p:spPr>
          <a:xfrm>
            <a:off x="7040879" y="2148839"/>
            <a:ext cx="5120640" cy="365760"/>
          </a:xfrm>
          <a:prstGeom prst="rect">
            <a:avLst/>
          </a:prstGeom>
          <a:noFill/>
        </p:spPr>
        <p:txBody>
          <a:bodyPr wrap="square">
            <a:spAutoFit/>
          </a:bodyPr>
          <a:lstStyle/>
          <a:p>
            <a:pPr algn="l"/>
            <a:r>
              <a:rPr sz="1300" b="0" i="0">
                <a:solidFill>
                  <a:srgbClr val="1E293B"/>
                </a:solidFill>
                <a:latin typeface="Calibri"/>
              </a:rPr>
              <a:t>Synthèse des expérimentations</a:t>
            </a:r>
          </a:p>
        </p:txBody>
      </p:sp>
      <p:sp>
        <p:nvSpPr>
          <p:cNvPr id="25" name="Rectangle 24"/>
          <p:cNvSpPr/>
          <p:nvPr/>
        </p:nvSpPr>
        <p:spPr>
          <a:xfrm>
            <a:off x="6492240" y="3017520"/>
            <a:ext cx="4114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017520"/>
            <a:ext cx="411480" cy="411480"/>
          </a:xfrm>
          <a:prstGeom prst="rect">
            <a:avLst/>
          </a:prstGeom>
          <a:noFill/>
        </p:spPr>
        <p:txBody>
          <a:bodyPr wrap="square">
            <a:spAutoFit/>
          </a:bodyPr>
          <a:lstStyle/>
          <a:p>
            <a:pPr algn="ctr"/>
            <a:r>
              <a:rPr sz="1400" b="1" i="0">
                <a:solidFill>
                  <a:srgbClr val="FFFFFF"/>
                </a:solidFill>
                <a:latin typeface="Calibri"/>
              </a:rPr>
              <a:t>08</a:t>
            </a:r>
          </a:p>
        </p:txBody>
      </p:sp>
      <p:sp>
        <p:nvSpPr>
          <p:cNvPr id="27" name="TextBox 26"/>
          <p:cNvSpPr txBox="1"/>
          <p:nvPr/>
        </p:nvSpPr>
        <p:spPr>
          <a:xfrm>
            <a:off x="7040879" y="3063239"/>
            <a:ext cx="5120640" cy="365760"/>
          </a:xfrm>
          <a:prstGeom prst="rect">
            <a:avLst/>
          </a:prstGeom>
          <a:noFill/>
        </p:spPr>
        <p:txBody>
          <a:bodyPr wrap="square">
            <a:spAutoFit/>
          </a:bodyPr>
          <a:lstStyle/>
          <a:p>
            <a:pPr algn="l"/>
            <a:r>
              <a:rPr sz="1300" b="0" i="0">
                <a:solidFill>
                  <a:srgbClr val="1E293B"/>
                </a:solidFill>
                <a:latin typeface="Calibri"/>
              </a:rPr>
              <a:t>Déploiement : API et dashboard</a:t>
            </a:r>
          </a:p>
        </p:txBody>
      </p:sp>
      <p:sp>
        <p:nvSpPr>
          <p:cNvPr id="28" name="Rectangle 27"/>
          <p:cNvSpPr/>
          <p:nvPr/>
        </p:nvSpPr>
        <p:spPr>
          <a:xfrm>
            <a:off x="6492240" y="3931920"/>
            <a:ext cx="4114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931920"/>
            <a:ext cx="411480" cy="411480"/>
          </a:xfrm>
          <a:prstGeom prst="rect">
            <a:avLst/>
          </a:prstGeom>
          <a:noFill/>
        </p:spPr>
        <p:txBody>
          <a:bodyPr wrap="square">
            <a:spAutoFit/>
          </a:bodyPr>
          <a:lstStyle/>
          <a:p>
            <a:pPr algn="ctr"/>
            <a:r>
              <a:rPr sz="1400" b="1" i="0">
                <a:solidFill>
                  <a:srgbClr val="FFFFFF"/>
                </a:solidFill>
                <a:latin typeface="Calibri"/>
              </a:rPr>
              <a:t>09</a:t>
            </a:r>
          </a:p>
        </p:txBody>
      </p:sp>
      <p:sp>
        <p:nvSpPr>
          <p:cNvPr id="30" name="TextBox 29"/>
          <p:cNvSpPr txBox="1"/>
          <p:nvPr/>
        </p:nvSpPr>
        <p:spPr>
          <a:xfrm>
            <a:off x="7040879" y="3977639"/>
            <a:ext cx="5120640" cy="365760"/>
          </a:xfrm>
          <a:prstGeom prst="rect">
            <a:avLst/>
          </a:prstGeom>
          <a:noFill/>
        </p:spPr>
        <p:txBody>
          <a:bodyPr wrap="square">
            <a:spAutoFit/>
          </a:bodyPr>
          <a:lstStyle/>
          <a:p>
            <a:pPr algn="l"/>
            <a:r>
              <a:rPr sz="1300" b="0" i="0">
                <a:solidFill>
                  <a:srgbClr val="1E293B"/>
                </a:solidFill>
                <a:latin typeface="Calibri"/>
              </a:rPr>
              <a:t>Revue de code, qualité et monitoring</a:t>
            </a:r>
          </a:p>
        </p:txBody>
      </p:sp>
      <p:sp>
        <p:nvSpPr>
          <p:cNvPr id="31" name="Rectangle 30"/>
          <p:cNvSpPr/>
          <p:nvPr/>
        </p:nvSpPr>
        <p:spPr>
          <a:xfrm>
            <a:off x="6492240" y="4846320"/>
            <a:ext cx="41148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846320"/>
            <a:ext cx="411480" cy="411480"/>
          </a:xfrm>
          <a:prstGeom prst="rect">
            <a:avLst/>
          </a:prstGeom>
          <a:noFill/>
        </p:spPr>
        <p:txBody>
          <a:bodyPr wrap="square">
            <a:spAutoFit/>
          </a:bodyPr>
          <a:lstStyle/>
          <a:p>
            <a:pPr algn="ctr"/>
            <a:r>
              <a:rPr sz="1400" b="1" i="0">
                <a:solidFill>
                  <a:srgbClr val="FFFFFF"/>
                </a:solidFill>
                <a:latin typeface="Calibri"/>
              </a:rPr>
              <a:t>10</a:t>
            </a:r>
          </a:p>
        </p:txBody>
      </p:sp>
      <p:sp>
        <p:nvSpPr>
          <p:cNvPr id="33" name="TextBox 32"/>
          <p:cNvSpPr txBox="1"/>
          <p:nvPr/>
        </p:nvSpPr>
        <p:spPr>
          <a:xfrm>
            <a:off x="7040879" y="4892040"/>
            <a:ext cx="5120640" cy="365760"/>
          </a:xfrm>
          <a:prstGeom prst="rect">
            <a:avLst/>
          </a:prstGeom>
          <a:noFill/>
        </p:spPr>
        <p:txBody>
          <a:bodyPr wrap="square">
            <a:spAutoFit/>
          </a:bodyPr>
          <a:lstStyle/>
          <a:p>
            <a:pPr algn="l"/>
            <a:r>
              <a:rPr sz="1300" b="0" i="0">
                <a:solidFill>
                  <a:srgbClr val="1E293B"/>
                </a:solidFill>
                <a:latin typeface="Calibri"/>
              </a:rPr>
              <a:t>Approche critique et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Rappel du brief</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01 — Ce qu'on me demandait</a:t>
            </a:r>
          </a:p>
        </p:txBody>
      </p:sp>
      <p:sp>
        <p:nvSpPr>
          <p:cNvPr id="5" name="Rectangle 4"/>
          <p:cNvSpPr/>
          <p:nvPr/>
        </p:nvSpPr>
        <p:spPr>
          <a:xfrm>
            <a:off x="457200" y="1143000"/>
            <a:ext cx="5577840" cy="52120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5212080" cy="365760"/>
          </a:xfrm>
          <a:prstGeom prst="rect">
            <a:avLst/>
          </a:prstGeom>
          <a:noFill/>
        </p:spPr>
        <p:txBody>
          <a:bodyPr wrap="square">
            <a:spAutoFit/>
          </a:bodyPr>
          <a:lstStyle/>
          <a:p>
            <a:pPr algn="l"/>
            <a:r>
              <a:rPr sz="1400" b="1" i="0">
                <a:solidFill>
                  <a:srgbClr val="0F172A"/>
                </a:solidFill>
                <a:latin typeface="Calibri"/>
              </a:rPr>
              <a:t>La mission</a:t>
            </a:r>
          </a:p>
        </p:txBody>
      </p:sp>
      <p:sp>
        <p:nvSpPr>
          <p:cNvPr id="7" name="TextBox 6"/>
          <p:cNvSpPr txBox="1"/>
          <p:nvPr/>
        </p:nvSpPr>
        <p:spPr>
          <a:xfrm>
            <a:off x="640080" y="1600200"/>
            <a:ext cx="5212080" cy="1600200"/>
          </a:xfrm>
          <a:prstGeom prst="rect">
            <a:avLst/>
          </a:prstGeom>
          <a:noFill/>
        </p:spPr>
        <p:txBody>
          <a:bodyPr wrap="square">
            <a:spAutoFit/>
          </a:bodyPr>
          <a:lstStyle/>
          <a:p>
            <a:pPr algn="l"/>
            <a:r>
              <a:rPr sz="1100" b="0" i="0">
                <a:solidFill>
                  <a:srgbClr val="1E293B"/>
                </a:solidFill>
                <a:latin typeface="Calibri"/>
              </a:rPr>
              <a:t>Je me suis mis dans la peau d'un data scientist (= la personne qui analyse des données pour en tirer des décisions) embauché par une entreprise de télécommunications. Ma mission : construire un modèle de Machine Learning (ML = apprentissage automatique, c'est-à-dire un programme qui apprend des règles à partir d'exemples au lieu d'être programmé à la main) capable de prédire le churn, c'est-à-dire le risque qu'un client résilie son abonnement.</a:t>
            </a:r>
          </a:p>
        </p:txBody>
      </p:sp>
      <p:sp>
        <p:nvSpPr>
          <p:cNvPr id="8" name="TextBox 7"/>
          <p:cNvSpPr txBox="1"/>
          <p:nvPr/>
        </p:nvSpPr>
        <p:spPr>
          <a:xfrm>
            <a:off x="640080" y="3246120"/>
            <a:ext cx="5212080" cy="347472"/>
          </a:xfrm>
          <a:prstGeom prst="rect">
            <a:avLst/>
          </a:prstGeom>
          <a:noFill/>
        </p:spPr>
        <p:txBody>
          <a:bodyPr wrap="square">
            <a:spAutoFit/>
          </a:bodyPr>
          <a:lstStyle/>
          <a:p>
            <a:pPr algn="l"/>
            <a:r>
              <a:rPr sz="1300" b="1" i="0">
                <a:solidFill>
                  <a:srgbClr val="0F172A"/>
                </a:solidFill>
                <a:latin typeface="Calibri"/>
              </a:rPr>
              <a:t>Les 5 objectifs du brief</a:t>
            </a:r>
          </a:p>
        </p:txBody>
      </p:sp>
      <p:sp>
        <p:nvSpPr>
          <p:cNvPr id="9" name="TextBox 8"/>
          <p:cNvSpPr txBox="1"/>
          <p:nvPr/>
        </p:nvSpPr>
        <p:spPr>
          <a:xfrm>
            <a:off x="640080" y="3611880"/>
            <a:ext cx="5212080" cy="594360"/>
          </a:xfrm>
          <a:prstGeom prst="rect">
            <a:avLst/>
          </a:prstGeom>
          <a:noFill/>
        </p:spPr>
        <p:txBody>
          <a:bodyPr wrap="square">
            <a:spAutoFit/>
          </a:bodyPr>
          <a:lstStyle/>
          <a:p>
            <a:pPr algn="l"/>
            <a:r>
              <a:rPr sz="1050" b="0" i="0">
                <a:solidFill>
                  <a:srgbClr val="1E293B"/>
                </a:solidFill>
                <a:latin typeface="Calibri"/>
              </a:rPr>
              <a:t>•  Collecter et préparer les données.</a:t>
            </a:r>
          </a:p>
        </p:txBody>
      </p:sp>
      <p:sp>
        <p:nvSpPr>
          <p:cNvPr id="10" name="TextBox 9"/>
          <p:cNvSpPr txBox="1"/>
          <p:nvPr/>
        </p:nvSpPr>
        <p:spPr>
          <a:xfrm>
            <a:off x="640080" y="4114800"/>
            <a:ext cx="5212080" cy="594360"/>
          </a:xfrm>
          <a:prstGeom prst="rect">
            <a:avLst/>
          </a:prstGeom>
          <a:noFill/>
        </p:spPr>
        <p:txBody>
          <a:bodyPr wrap="square">
            <a:spAutoFit/>
          </a:bodyPr>
          <a:lstStyle/>
          <a:p>
            <a:pPr algn="l"/>
            <a:r>
              <a:rPr sz="1050" b="0" i="0">
                <a:solidFill>
                  <a:srgbClr val="1E293B"/>
                </a:solidFill>
                <a:latin typeface="Calibri"/>
              </a:rPr>
              <a:t>•  Développer et comparer plusieurs modèles (régression logistique, arbre de décision, Random Forest).</a:t>
            </a:r>
          </a:p>
        </p:txBody>
      </p:sp>
      <p:sp>
        <p:nvSpPr>
          <p:cNvPr id="11" name="TextBox 10"/>
          <p:cNvSpPr txBox="1"/>
          <p:nvPr/>
        </p:nvSpPr>
        <p:spPr>
          <a:xfrm>
            <a:off x="640080" y="4617720"/>
            <a:ext cx="5212080" cy="594360"/>
          </a:xfrm>
          <a:prstGeom prst="rect">
            <a:avLst/>
          </a:prstGeom>
          <a:noFill/>
        </p:spPr>
        <p:txBody>
          <a:bodyPr wrap="square">
            <a:spAutoFit/>
          </a:bodyPr>
          <a:lstStyle/>
          <a:p>
            <a:pPr algn="l"/>
            <a:r>
              <a:rPr sz="1050" b="0" i="0">
                <a:solidFill>
                  <a:srgbClr val="1E293B"/>
                </a:solidFill>
                <a:latin typeface="Calibri"/>
              </a:rPr>
              <a:t>•  Évaluer et optimiser ces modèles (validation croisée, hyperparamètres).</a:t>
            </a:r>
          </a:p>
        </p:txBody>
      </p:sp>
      <p:sp>
        <p:nvSpPr>
          <p:cNvPr id="12" name="TextBox 11"/>
          <p:cNvSpPr txBox="1"/>
          <p:nvPr/>
        </p:nvSpPr>
        <p:spPr>
          <a:xfrm>
            <a:off x="640080" y="5120640"/>
            <a:ext cx="5212080" cy="594360"/>
          </a:xfrm>
          <a:prstGeom prst="rect">
            <a:avLst/>
          </a:prstGeom>
          <a:noFill/>
        </p:spPr>
        <p:txBody>
          <a:bodyPr wrap="square">
            <a:spAutoFit/>
          </a:bodyPr>
          <a:lstStyle/>
          <a:p>
            <a:pPr algn="l"/>
            <a:r>
              <a:rPr sz="1050" b="0" i="0">
                <a:solidFill>
                  <a:srgbClr val="1E293B"/>
                </a:solidFill>
                <a:latin typeface="Calibri"/>
              </a:rPr>
              <a:t>•  Visualiser les résultats pour aider la prise de décision.</a:t>
            </a:r>
          </a:p>
        </p:txBody>
      </p:sp>
      <p:sp>
        <p:nvSpPr>
          <p:cNvPr id="13" name="TextBox 12"/>
          <p:cNvSpPr txBox="1"/>
          <p:nvPr/>
        </p:nvSpPr>
        <p:spPr>
          <a:xfrm>
            <a:off x="640080" y="5623560"/>
            <a:ext cx="5212080" cy="594360"/>
          </a:xfrm>
          <a:prstGeom prst="rect">
            <a:avLst/>
          </a:prstGeom>
          <a:noFill/>
        </p:spPr>
        <p:txBody>
          <a:bodyPr wrap="square">
            <a:spAutoFit/>
          </a:bodyPr>
          <a:lstStyle/>
          <a:p>
            <a:pPr algn="l"/>
            <a:r>
              <a:rPr sz="1050" b="0" i="0">
                <a:solidFill>
                  <a:srgbClr val="1E293B"/>
                </a:solidFill>
                <a:latin typeface="Calibri"/>
              </a:rPr>
              <a:t>•  Documenter tout le processus et le présenter.</a:t>
            </a:r>
          </a:p>
        </p:txBody>
      </p:sp>
      <p:sp>
        <p:nvSpPr>
          <p:cNvPr id="14" name="Rectangle 13"/>
          <p:cNvSpPr/>
          <p:nvPr/>
        </p:nvSpPr>
        <p:spPr>
          <a:xfrm>
            <a:off x="6309360" y="1143000"/>
            <a:ext cx="5394960" cy="52120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234440"/>
            <a:ext cx="5029200" cy="365760"/>
          </a:xfrm>
          <a:prstGeom prst="rect">
            <a:avLst/>
          </a:prstGeom>
          <a:noFill/>
        </p:spPr>
        <p:txBody>
          <a:bodyPr wrap="square">
            <a:spAutoFit/>
          </a:bodyPr>
          <a:lstStyle/>
          <a:p>
            <a:pPr algn="l"/>
            <a:r>
              <a:rPr sz="1400" b="1" i="0">
                <a:solidFill>
                  <a:srgbClr val="FFFFFF"/>
                </a:solidFill>
                <a:latin typeface="Calibri"/>
              </a:rPr>
              <a:t>Les contraintes</a:t>
            </a:r>
          </a:p>
        </p:txBody>
      </p:sp>
      <p:sp>
        <p:nvSpPr>
          <p:cNvPr id="16" name="TextBox 15"/>
          <p:cNvSpPr txBox="1"/>
          <p:nvPr/>
        </p:nvSpPr>
        <p:spPr>
          <a:xfrm>
            <a:off x="6492240" y="1645920"/>
            <a:ext cx="5029200" cy="594360"/>
          </a:xfrm>
          <a:prstGeom prst="rect">
            <a:avLst/>
          </a:prstGeom>
          <a:noFill/>
        </p:spPr>
        <p:txBody>
          <a:bodyPr wrap="square">
            <a:spAutoFit/>
          </a:bodyPr>
          <a:lstStyle/>
          <a:p>
            <a:pPr algn="l"/>
            <a:r>
              <a:rPr sz="1050" b="0" i="0">
                <a:solidFill>
                  <a:srgbClr val="FFFFFF"/>
                </a:solidFill>
                <a:latin typeface="Calibri"/>
              </a:rPr>
              <a:t>•  Travailler en autonomie.</a:t>
            </a:r>
          </a:p>
        </p:txBody>
      </p:sp>
      <p:sp>
        <p:nvSpPr>
          <p:cNvPr id="17" name="TextBox 16"/>
          <p:cNvSpPr txBox="1"/>
          <p:nvPr/>
        </p:nvSpPr>
        <p:spPr>
          <a:xfrm>
            <a:off x="6492240" y="2148840"/>
            <a:ext cx="5029200" cy="594360"/>
          </a:xfrm>
          <a:prstGeom prst="rect">
            <a:avLst/>
          </a:prstGeom>
          <a:noFill/>
        </p:spPr>
        <p:txBody>
          <a:bodyPr wrap="square">
            <a:spAutoFit/>
          </a:bodyPr>
          <a:lstStyle/>
          <a:p>
            <a:pPr algn="l"/>
            <a:r>
              <a:rPr sz="1050" b="0" i="0">
                <a:solidFill>
                  <a:srgbClr val="FFFFFF"/>
                </a:solidFill>
                <a:latin typeface="Calibri"/>
              </a:rPr>
              <a:t>•  Documenter chaque étape du projet.</a:t>
            </a:r>
          </a:p>
        </p:txBody>
      </p:sp>
      <p:sp>
        <p:nvSpPr>
          <p:cNvPr id="18" name="TextBox 17"/>
          <p:cNvSpPr txBox="1"/>
          <p:nvPr/>
        </p:nvSpPr>
        <p:spPr>
          <a:xfrm>
            <a:off x="6492240" y="2651760"/>
            <a:ext cx="5029200" cy="594360"/>
          </a:xfrm>
          <a:prstGeom prst="rect">
            <a:avLst/>
          </a:prstGeom>
          <a:noFill/>
        </p:spPr>
        <p:txBody>
          <a:bodyPr wrap="square">
            <a:spAutoFit/>
          </a:bodyPr>
          <a:lstStyle/>
          <a:p>
            <a:pPr algn="l"/>
            <a:r>
              <a:rPr sz="1050" b="0" i="0">
                <a:solidFill>
                  <a:srgbClr val="FFFFFF"/>
                </a:solidFill>
                <a:latin typeface="Calibri"/>
              </a:rPr>
              <a:t>•  Versionner sur Git/GitHub avec des commits réguliers et normalisés (Conventional Commits = messages du type feat:, fix:, docs:).</a:t>
            </a:r>
          </a:p>
        </p:txBody>
      </p:sp>
      <p:sp>
        <p:nvSpPr>
          <p:cNvPr id="19" name="TextBox 18"/>
          <p:cNvSpPr txBox="1"/>
          <p:nvPr/>
        </p:nvSpPr>
        <p:spPr>
          <a:xfrm>
            <a:off x="6492240" y="3154680"/>
            <a:ext cx="5029200" cy="594360"/>
          </a:xfrm>
          <a:prstGeom prst="rect">
            <a:avLst/>
          </a:prstGeom>
          <a:noFill/>
        </p:spPr>
        <p:txBody>
          <a:bodyPr wrap="square">
            <a:spAutoFit/>
          </a:bodyPr>
          <a:lstStyle/>
          <a:p>
            <a:pPr algn="l"/>
            <a:r>
              <a:rPr sz="1050" b="0" i="0">
                <a:solidFill>
                  <a:srgbClr val="FFFFFF"/>
                </a:solidFill>
                <a:latin typeface="Calibri"/>
              </a:rPr>
              <a:t>•  Rendre une archive ZIP dans les délais.</a:t>
            </a:r>
          </a:p>
        </p:txBody>
      </p:sp>
      <p:sp>
        <p:nvSpPr>
          <p:cNvPr id="20" name="TextBox 19"/>
          <p:cNvSpPr txBox="1"/>
          <p:nvPr/>
        </p:nvSpPr>
        <p:spPr>
          <a:xfrm>
            <a:off x="6492240" y="3886200"/>
            <a:ext cx="5029200" cy="347472"/>
          </a:xfrm>
          <a:prstGeom prst="rect">
            <a:avLst/>
          </a:prstGeom>
          <a:noFill/>
        </p:spPr>
        <p:txBody>
          <a:bodyPr wrap="square">
            <a:spAutoFit/>
          </a:bodyPr>
          <a:lstStyle/>
          <a:p>
            <a:pPr algn="l"/>
            <a:r>
              <a:rPr sz="1300" b="1" i="0">
                <a:solidFill>
                  <a:srgbClr val="6366F1"/>
                </a:solidFill>
                <a:latin typeface="Calibri"/>
              </a:rPr>
              <a:t>Le rendu attendu : 3 documents</a:t>
            </a:r>
          </a:p>
        </p:txBody>
      </p:sp>
      <p:sp>
        <p:nvSpPr>
          <p:cNvPr id="21" name="TextBox 20"/>
          <p:cNvSpPr txBox="1"/>
          <p:nvPr/>
        </p:nvSpPr>
        <p:spPr>
          <a:xfrm>
            <a:off x="6492240" y="4251960"/>
            <a:ext cx="5029200" cy="594360"/>
          </a:xfrm>
          <a:prstGeom prst="rect">
            <a:avLst/>
          </a:prstGeom>
          <a:noFill/>
        </p:spPr>
        <p:txBody>
          <a:bodyPr wrap="square">
            <a:spAutoFit/>
          </a:bodyPr>
          <a:lstStyle/>
          <a:p>
            <a:pPr algn="l"/>
            <a:r>
              <a:rPr sz="1050" b="0" i="0">
                <a:solidFill>
                  <a:srgbClr val="FFFFFF"/>
                </a:solidFill>
                <a:latin typeface="Calibri"/>
              </a:rPr>
              <a:t>•  L'analyse et le nettoyage du jeu de données (notebooks 01 et 02).</a:t>
            </a:r>
          </a:p>
        </p:txBody>
      </p:sp>
      <p:sp>
        <p:nvSpPr>
          <p:cNvPr id="22" name="TextBox 21"/>
          <p:cNvSpPr txBox="1"/>
          <p:nvPr/>
        </p:nvSpPr>
        <p:spPr>
          <a:xfrm>
            <a:off x="6492240" y="4754880"/>
            <a:ext cx="5029200" cy="594360"/>
          </a:xfrm>
          <a:prstGeom prst="rect">
            <a:avLst/>
          </a:prstGeom>
          <a:noFill/>
        </p:spPr>
        <p:txBody>
          <a:bodyPr wrap="square">
            <a:spAutoFit/>
          </a:bodyPr>
          <a:lstStyle/>
          <a:p>
            <a:pPr algn="l"/>
            <a:r>
              <a:rPr sz="1050" b="0" i="0">
                <a:solidFill>
                  <a:srgbClr val="FFFFFF"/>
                </a:solidFill>
                <a:latin typeface="Calibri"/>
              </a:rPr>
              <a:t>•  La mise en œuvre du Machine Learning, avec les choix justifiés (notebook 03, rapport).</a:t>
            </a:r>
          </a:p>
        </p:txBody>
      </p:sp>
      <p:sp>
        <p:nvSpPr>
          <p:cNvPr id="23" name="TextBox 22"/>
          <p:cNvSpPr txBox="1"/>
          <p:nvPr/>
        </p:nvSpPr>
        <p:spPr>
          <a:xfrm>
            <a:off x="6492240" y="5257800"/>
            <a:ext cx="5029200" cy="594360"/>
          </a:xfrm>
          <a:prstGeom prst="rect">
            <a:avLst/>
          </a:prstGeom>
          <a:noFill/>
        </p:spPr>
        <p:txBody>
          <a:bodyPr wrap="square">
            <a:spAutoFit/>
          </a:bodyPr>
          <a:lstStyle/>
          <a:p>
            <a:pPr algn="l"/>
            <a:r>
              <a:rPr sz="1050" b="0" i="0">
                <a:solidFill>
                  <a:srgbClr val="FFFFFF"/>
                </a:solidFill>
                <a:latin typeface="Calibri"/>
              </a:rPr>
              <a:t>•  La validation du modèle sur un jeu de test (notebook 04, rapport).</a:t>
            </a:r>
          </a:p>
        </p:txBody>
      </p:sp>
      <p:sp>
        <p:nvSpPr>
          <p:cNvPr id="24" name="TextBox 23"/>
          <p:cNvSpPr txBox="1"/>
          <p:nvPr/>
        </p:nvSpPr>
        <p:spPr>
          <a:xfrm>
            <a:off x="457200" y="6492240"/>
            <a:ext cx="11247120" cy="292608"/>
          </a:xfrm>
          <a:prstGeom prst="rect">
            <a:avLst/>
          </a:prstGeom>
          <a:noFill/>
        </p:spPr>
        <p:txBody>
          <a:bodyPr wrap="square">
            <a:spAutoFit/>
          </a:bodyPr>
          <a:lstStyle/>
          <a:p>
            <a:pPr algn="ctr"/>
            <a:r>
              <a:rPr sz="1000" b="0" i="1">
                <a:solidFill>
                  <a:srgbClr val="64748B"/>
                </a:solidFill>
                <a:latin typeface="Calibri"/>
              </a:rPr>
              <a:t>Évaluation sur 6 critères : préparation des données, performance, optimisation, visualisations, documentation et Git, présentation.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Contexte et problématique</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01 — Pourquoi ce projet a du sens</a:t>
            </a:r>
          </a:p>
        </p:txBody>
      </p:sp>
      <p:sp>
        <p:nvSpPr>
          <p:cNvPr id="5" name="Rectangle 4"/>
          <p:cNvSpPr/>
          <p:nvPr/>
        </p:nvSpPr>
        <p:spPr>
          <a:xfrm>
            <a:off x="457200" y="1188720"/>
            <a:ext cx="557784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5257800" cy="347472"/>
          </a:xfrm>
          <a:prstGeom prst="rect">
            <a:avLst/>
          </a:prstGeom>
          <a:noFill/>
        </p:spPr>
        <p:txBody>
          <a:bodyPr wrap="square">
            <a:spAutoFit/>
          </a:bodyPr>
          <a:lstStyle/>
          <a:p>
            <a:pPr algn="l"/>
            <a:r>
              <a:rPr sz="1250" b="1" i="0">
                <a:solidFill>
                  <a:srgbClr val="0F172A"/>
                </a:solidFill>
                <a:latin typeface="Calibri"/>
              </a:rPr>
              <a:t>Le problème métier</a:t>
            </a:r>
          </a:p>
        </p:txBody>
      </p:sp>
      <p:sp>
        <p:nvSpPr>
          <p:cNvPr id="7" name="TextBox 6"/>
          <p:cNvSpPr txBox="1"/>
          <p:nvPr/>
        </p:nvSpPr>
        <p:spPr>
          <a:xfrm>
            <a:off x="640080" y="1645920"/>
            <a:ext cx="5257800" cy="2194560"/>
          </a:xfrm>
          <a:prstGeom prst="rect">
            <a:avLst/>
          </a:prstGeom>
          <a:noFill/>
        </p:spPr>
        <p:txBody>
          <a:bodyPr wrap="square">
            <a:spAutoFit/>
          </a:bodyPr>
          <a:lstStyle/>
          <a:p>
            <a:pPr algn="l"/>
            <a:r>
              <a:rPr sz="1100" b="0" i="0">
                <a:solidFill>
                  <a:srgbClr val="1E293B"/>
                </a:solidFill>
                <a:latin typeface="Calibri"/>
              </a:rPr>
              <a:t>Le churn (mot anglais pour « résiliation ») désigne un client qui quitte l'opérateur. C'est un vrai enjeu économique : acquérir un nouveau client coûte en moyenne 5 à 7 fois plus cher que de retenir un client existant. Chaque départ qui n'a pas été anticipé est donc une perte importante pour l'entreprise.</a:t>
            </a:r>
          </a:p>
        </p:txBody>
      </p:sp>
      <p:sp>
        <p:nvSpPr>
          <p:cNvPr id="8" name="Rectangle 7"/>
          <p:cNvSpPr/>
          <p:nvPr/>
        </p:nvSpPr>
        <p:spPr>
          <a:xfrm>
            <a:off x="6309360" y="1188720"/>
            <a:ext cx="5394960" cy="2743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80160"/>
            <a:ext cx="5074920" cy="347472"/>
          </a:xfrm>
          <a:prstGeom prst="rect">
            <a:avLst/>
          </a:prstGeom>
          <a:noFill/>
        </p:spPr>
        <p:txBody>
          <a:bodyPr wrap="square">
            <a:spAutoFit/>
          </a:bodyPr>
          <a:lstStyle/>
          <a:p>
            <a:pPr algn="l"/>
            <a:r>
              <a:rPr sz="1250" b="1" i="0">
                <a:solidFill>
                  <a:srgbClr val="FFFFFF"/>
                </a:solidFill>
                <a:latin typeface="Calibri"/>
              </a:rPr>
              <a:t>La problématique que je me suis posée</a:t>
            </a:r>
          </a:p>
        </p:txBody>
      </p:sp>
      <p:sp>
        <p:nvSpPr>
          <p:cNvPr id="10" name="TextBox 9"/>
          <p:cNvSpPr txBox="1"/>
          <p:nvPr/>
        </p:nvSpPr>
        <p:spPr>
          <a:xfrm>
            <a:off x="6492240" y="1645920"/>
            <a:ext cx="5074920" cy="2194560"/>
          </a:xfrm>
          <a:prstGeom prst="rect">
            <a:avLst/>
          </a:prstGeom>
          <a:noFill/>
        </p:spPr>
        <p:txBody>
          <a:bodyPr wrap="square">
            <a:spAutoFit/>
          </a:bodyPr>
          <a:lstStyle/>
          <a:p>
            <a:pPr algn="l"/>
            <a:r>
              <a:rPr sz="1100" b="0" i="0">
                <a:solidFill>
                  <a:srgbClr val="FFFFFF"/>
                </a:solidFill>
                <a:latin typeface="Calibri"/>
              </a:rPr>
              <a:t>Peut-on prédire à l'avance, à partir du profil d'un client (son contrat, son ancienneté, ses services, ce qu'il paie chaque mois), s'il risque de résilier — pour que l'entreprise puisse agir avant qu'il ne parte (offre de rétention, appel commercial) ?</a:t>
            </a:r>
          </a:p>
        </p:txBody>
      </p:sp>
      <p:sp>
        <p:nvSpPr>
          <p:cNvPr id="11" name="Rectangle 10"/>
          <p:cNvSpPr/>
          <p:nvPr/>
        </p:nvSpPr>
        <p:spPr>
          <a:xfrm>
            <a:off x="457200" y="4160520"/>
            <a:ext cx="11247120" cy="21031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51960"/>
            <a:ext cx="10881360" cy="347472"/>
          </a:xfrm>
          <a:prstGeom prst="rect">
            <a:avLst/>
          </a:prstGeom>
          <a:noFill/>
        </p:spPr>
        <p:txBody>
          <a:bodyPr wrap="square">
            <a:spAutoFit/>
          </a:bodyPr>
          <a:lstStyle/>
          <a:p>
            <a:pPr algn="l"/>
            <a:r>
              <a:rPr sz="1300" b="1" i="0">
                <a:solidFill>
                  <a:srgbClr val="0F172A"/>
                </a:solidFill>
                <a:latin typeface="Calibri"/>
              </a:rPr>
              <a:t>Ce que ça veut dire techniquement</a:t>
            </a:r>
          </a:p>
        </p:txBody>
      </p:sp>
      <p:sp>
        <p:nvSpPr>
          <p:cNvPr id="13" name="TextBox 12"/>
          <p:cNvSpPr txBox="1"/>
          <p:nvPr/>
        </p:nvSpPr>
        <p:spPr>
          <a:xfrm>
            <a:off x="640080" y="4617720"/>
            <a:ext cx="10881360" cy="1554480"/>
          </a:xfrm>
          <a:prstGeom prst="rect">
            <a:avLst/>
          </a:prstGeom>
          <a:noFill/>
        </p:spPr>
        <p:txBody>
          <a:bodyPr wrap="square">
            <a:spAutoFit/>
          </a:bodyPr>
          <a:lstStyle/>
          <a:p>
            <a:pPr algn="l"/>
            <a:r>
              <a:rPr sz="1100" b="0" i="0">
                <a:solidFill>
                  <a:srgbClr val="1E293B"/>
                </a:solidFill>
                <a:latin typeface="Calibri"/>
              </a:rPr>
              <a:t>C'est un problème de classification binaire (= prédire l'une de deux catégories : « va résilier » ou « va rester ») sur des données tabulaires (= un tableau : un client par ligne, une caractéristique par colonne). Le modèle ne répond pas seulement oui ou non : il donne une probabilité de churn (entre 0 et 1), ce qui permet de classer les clients du plus au moins risqué et de concentrer les actions commerciales sur les plus fragiles.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Mes choix technologiques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02 — Pourquoi j'ai choisi chaque outil</a:t>
            </a:r>
          </a:p>
        </p:txBody>
      </p:sp>
      <p:sp>
        <p:nvSpPr>
          <p:cNvPr id="5" name="Rectangle 4"/>
          <p:cNvSpPr/>
          <p:nvPr/>
        </p:nvSpPr>
        <p:spPr>
          <a:xfrm>
            <a:off x="457200" y="114300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1600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3337560" cy="347472"/>
          </a:xfrm>
          <a:prstGeom prst="rect">
            <a:avLst/>
          </a:prstGeom>
          <a:noFill/>
        </p:spPr>
        <p:txBody>
          <a:bodyPr wrap="square">
            <a:spAutoFit/>
          </a:bodyPr>
          <a:lstStyle/>
          <a:p>
            <a:pPr algn="l"/>
            <a:r>
              <a:rPr sz="1200" b="1" i="0">
                <a:solidFill>
                  <a:srgbClr val="0F172A"/>
                </a:solidFill>
                <a:latin typeface="Calibri"/>
              </a:rPr>
              <a:t>Python</a:t>
            </a:r>
          </a:p>
        </p:txBody>
      </p:sp>
      <p:sp>
        <p:nvSpPr>
          <p:cNvPr id="8" name="TextBox 7"/>
          <p:cNvSpPr txBox="1"/>
          <p:nvPr/>
        </p:nvSpPr>
        <p:spPr>
          <a:xfrm>
            <a:off x="640080" y="1600200"/>
            <a:ext cx="3337560" cy="1051560"/>
          </a:xfrm>
          <a:prstGeom prst="rect">
            <a:avLst/>
          </a:prstGeom>
          <a:noFill/>
        </p:spPr>
        <p:txBody>
          <a:bodyPr wrap="square">
            <a:spAutoFit/>
          </a:bodyPr>
          <a:lstStyle/>
          <a:p>
            <a:pPr algn="l"/>
            <a:r>
              <a:rPr sz="950" b="0" i="0">
                <a:solidFill>
                  <a:srgbClr val="1E293B"/>
                </a:solidFill>
                <a:latin typeface="Calibri"/>
              </a:rPr>
              <a:t>Le langage de référence en data science : simple à lire, et toutes les bibliothèques dont j'avais besoin existent en Python. C'était aussi la base imposée par le brief.</a:t>
            </a:r>
          </a:p>
        </p:txBody>
      </p:sp>
      <p:sp>
        <p:nvSpPr>
          <p:cNvPr id="9" name="Rectangle 8"/>
          <p:cNvSpPr/>
          <p:nvPr/>
        </p:nvSpPr>
        <p:spPr>
          <a:xfrm>
            <a:off x="4251960" y="114300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143000"/>
            <a:ext cx="64008" cy="1600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234440"/>
            <a:ext cx="3337560" cy="347472"/>
          </a:xfrm>
          <a:prstGeom prst="rect">
            <a:avLst/>
          </a:prstGeom>
          <a:noFill/>
        </p:spPr>
        <p:txBody>
          <a:bodyPr wrap="square">
            <a:spAutoFit/>
          </a:bodyPr>
          <a:lstStyle/>
          <a:p>
            <a:pPr algn="l"/>
            <a:r>
              <a:rPr sz="1200" b="1" i="0">
                <a:solidFill>
                  <a:srgbClr val="0F172A"/>
                </a:solidFill>
                <a:latin typeface="Calibri"/>
              </a:rPr>
              <a:t>pandas</a:t>
            </a:r>
          </a:p>
        </p:txBody>
      </p:sp>
      <p:sp>
        <p:nvSpPr>
          <p:cNvPr id="12" name="TextBox 11"/>
          <p:cNvSpPr txBox="1"/>
          <p:nvPr/>
        </p:nvSpPr>
        <p:spPr>
          <a:xfrm>
            <a:off x="4434840" y="1600200"/>
            <a:ext cx="3337560" cy="1051560"/>
          </a:xfrm>
          <a:prstGeom prst="rect">
            <a:avLst/>
          </a:prstGeom>
          <a:noFill/>
        </p:spPr>
        <p:txBody>
          <a:bodyPr wrap="square">
            <a:spAutoFit/>
          </a:bodyPr>
          <a:lstStyle/>
          <a:p>
            <a:pPr algn="l"/>
            <a:r>
              <a:rPr sz="950" b="0" i="0">
                <a:solidFill>
                  <a:srgbClr val="1E293B"/>
                </a:solidFill>
                <a:latin typeface="Calibri"/>
              </a:rPr>
              <a:t>Pour charger et manipuler les données sous forme de tableau (un DataFrame) : nettoyage, encodage, statistiques. C'est l'outil standard pour ce travail.</a:t>
            </a:r>
          </a:p>
        </p:txBody>
      </p:sp>
      <p:sp>
        <p:nvSpPr>
          <p:cNvPr id="13" name="Rectangle 12"/>
          <p:cNvSpPr/>
          <p:nvPr/>
        </p:nvSpPr>
        <p:spPr>
          <a:xfrm>
            <a:off x="8046720" y="114300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143000"/>
            <a:ext cx="64008" cy="1600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234440"/>
            <a:ext cx="3337560" cy="347472"/>
          </a:xfrm>
          <a:prstGeom prst="rect">
            <a:avLst/>
          </a:prstGeom>
          <a:noFill/>
        </p:spPr>
        <p:txBody>
          <a:bodyPr wrap="square">
            <a:spAutoFit/>
          </a:bodyPr>
          <a:lstStyle/>
          <a:p>
            <a:pPr algn="l"/>
            <a:r>
              <a:rPr sz="1200" b="1" i="0">
                <a:solidFill>
                  <a:srgbClr val="0F172A"/>
                </a:solidFill>
                <a:latin typeface="Calibri"/>
              </a:rPr>
              <a:t>scikit-learn</a:t>
            </a:r>
          </a:p>
        </p:txBody>
      </p:sp>
      <p:sp>
        <p:nvSpPr>
          <p:cNvPr id="16" name="TextBox 15"/>
          <p:cNvSpPr txBox="1"/>
          <p:nvPr/>
        </p:nvSpPr>
        <p:spPr>
          <a:xfrm>
            <a:off x="8229600" y="1600200"/>
            <a:ext cx="3337560" cy="1051560"/>
          </a:xfrm>
          <a:prstGeom prst="rect">
            <a:avLst/>
          </a:prstGeom>
          <a:noFill/>
        </p:spPr>
        <p:txBody>
          <a:bodyPr wrap="square">
            <a:spAutoFit/>
          </a:bodyPr>
          <a:lstStyle/>
          <a:p>
            <a:pPr algn="l"/>
            <a:r>
              <a:rPr sz="950" b="0" i="0">
                <a:solidFill>
                  <a:srgbClr val="1E293B"/>
                </a:solidFill>
                <a:latin typeface="Calibri"/>
              </a:rPr>
              <a:t>La bibliothèque de ML la plus utilisée : tous les modèles classiques, le découpage train/test, la validation croisée et les métriques, toujours avec la même logique (.fit pour entraîner, .predict pour prédire).</a:t>
            </a:r>
          </a:p>
        </p:txBody>
      </p:sp>
      <p:sp>
        <p:nvSpPr>
          <p:cNvPr id="17" name="Rectangle 16"/>
          <p:cNvSpPr/>
          <p:nvPr/>
        </p:nvSpPr>
        <p:spPr>
          <a:xfrm>
            <a:off x="457200" y="288036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880360"/>
            <a:ext cx="64008" cy="1600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971800"/>
            <a:ext cx="3337560" cy="347472"/>
          </a:xfrm>
          <a:prstGeom prst="rect">
            <a:avLst/>
          </a:prstGeom>
          <a:noFill/>
        </p:spPr>
        <p:txBody>
          <a:bodyPr wrap="square">
            <a:spAutoFit/>
          </a:bodyPr>
          <a:lstStyle/>
          <a:p>
            <a:pPr algn="l"/>
            <a:r>
              <a:rPr sz="1200" b="1" i="0">
                <a:solidFill>
                  <a:srgbClr val="0F172A"/>
                </a:solidFill>
                <a:latin typeface="Calibri"/>
              </a:rPr>
              <a:t>matplotlib et seaborn</a:t>
            </a:r>
          </a:p>
        </p:txBody>
      </p:sp>
      <p:sp>
        <p:nvSpPr>
          <p:cNvPr id="20" name="TextBox 19"/>
          <p:cNvSpPr txBox="1"/>
          <p:nvPr/>
        </p:nvSpPr>
        <p:spPr>
          <a:xfrm>
            <a:off x="640080" y="3337560"/>
            <a:ext cx="3337560" cy="1051560"/>
          </a:xfrm>
          <a:prstGeom prst="rect">
            <a:avLst/>
          </a:prstGeom>
          <a:noFill/>
        </p:spPr>
        <p:txBody>
          <a:bodyPr wrap="square">
            <a:spAutoFit/>
          </a:bodyPr>
          <a:lstStyle/>
          <a:p>
            <a:pPr algn="l"/>
            <a:r>
              <a:rPr sz="950" b="0" i="0">
                <a:solidFill>
                  <a:srgbClr val="1E293B"/>
                </a:solidFill>
                <a:latin typeface="Calibri"/>
              </a:rPr>
              <a:t>Pour les graphiques d'analyse dans les notebooks (histogrammes, boxplots, corrélations). seaborn rend les graphiques statistiques lisibles avec très peu de code.</a:t>
            </a:r>
          </a:p>
        </p:txBody>
      </p:sp>
      <p:sp>
        <p:nvSpPr>
          <p:cNvPr id="21" name="Rectangle 20"/>
          <p:cNvSpPr/>
          <p:nvPr/>
        </p:nvSpPr>
        <p:spPr>
          <a:xfrm>
            <a:off x="4251960" y="288036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60" y="2880360"/>
            <a:ext cx="64008" cy="160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2971800"/>
            <a:ext cx="3337560" cy="347472"/>
          </a:xfrm>
          <a:prstGeom prst="rect">
            <a:avLst/>
          </a:prstGeom>
          <a:noFill/>
        </p:spPr>
        <p:txBody>
          <a:bodyPr wrap="square">
            <a:spAutoFit/>
          </a:bodyPr>
          <a:lstStyle/>
          <a:p>
            <a:pPr algn="l"/>
            <a:r>
              <a:rPr sz="1200" b="1" i="0">
                <a:solidFill>
                  <a:srgbClr val="0F172A"/>
                </a:solidFill>
                <a:latin typeface="Calibri"/>
              </a:rPr>
              <a:t>Plotly et Dash</a:t>
            </a:r>
          </a:p>
        </p:txBody>
      </p:sp>
      <p:sp>
        <p:nvSpPr>
          <p:cNvPr id="24" name="TextBox 23"/>
          <p:cNvSpPr txBox="1"/>
          <p:nvPr/>
        </p:nvSpPr>
        <p:spPr>
          <a:xfrm>
            <a:off x="4434840" y="3337560"/>
            <a:ext cx="3337560" cy="1051560"/>
          </a:xfrm>
          <a:prstGeom prst="rect">
            <a:avLst/>
          </a:prstGeom>
          <a:noFill/>
        </p:spPr>
        <p:txBody>
          <a:bodyPr wrap="square">
            <a:spAutoFit/>
          </a:bodyPr>
          <a:lstStyle/>
          <a:p>
            <a:pPr algn="l"/>
            <a:r>
              <a:rPr sz="950" b="0" i="0">
                <a:solidFill>
                  <a:srgbClr val="1E293B"/>
                </a:solidFill>
                <a:latin typeface="Calibri"/>
              </a:rPr>
              <a:t>Pour le dashboard : Plotly fait des graphiques interactifs (zoom, survol) et Dash permet d'en faire une application web complète en Python, sans écrire de JavaScript.</a:t>
            </a:r>
          </a:p>
        </p:txBody>
      </p:sp>
      <p:sp>
        <p:nvSpPr>
          <p:cNvPr id="25" name="Rectangle 24"/>
          <p:cNvSpPr/>
          <p:nvPr/>
        </p:nvSpPr>
        <p:spPr>
          <a:xfrm>
            <a:off x="8046720" y="288036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2880360"/>
            <a:ext cx="64008" cy="160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2971800"/>
            <a:ext cx="3337560" cy="347472"/>
          </a:xfrm>
          <a:prstGeom prst="rect">
            <a:avLst/>
          </a:prstGeom>
          <a:noFill/>
        </p:spPr>
        <p:txBody>
          <a:bodyPr wrap="square">
            <a:spAutoFit/>
          </a:bodyPr>
          <a:lstStyle/>
          <a:p>
            <a:pPr algn="l"/>
            <a:r>
              <a:rPr sz="1200" b="1" i="0">
                <a:solidFill>
                  <a:srgbClr val="0F172A"/>
                </a:solidFill>
                <a:latin typeface="Calibri"/>
              </a:rPr>
              <a:t>FastAPI et Uvicorn</a:t>
            </a:r>
          </a:p>
        </p:txBody>
      </p:sp>
      <p:sp>
        <p:nvSpPr>
          <p:cNvPr id="28" name="TextBox 27"/>
          <p:cNvSpPr txBox="1"/>
          <p:nvPr/>
        </p:nvSpPr>
        <p:spPr>
          <a:xfrm>
            <a:off x="8229600" y="3337560"/>
            <a:ext cx="3337560" cy="1051560"/>
          </a:xfrm>
          <a:prstGeom prst="rect">
            <a:avLst/>
          </a:prstGeom>
          <a:noFill/>
        </p:spPr>
        <p:txBody>
          <a:bodyPr wrap="square">
            <a:spAutoFit/>
          </a:bodyPr>
          <a:lstStyle/>
          <a:p>
            <a:pPr algn="l"/>
            <a:r>
              <a:rPr sz="950" b="0" i="0">
                <a:solidFill>
                  <a:srgbClr val="1E293B"/>
                </a:solidFill>
                <a:latin typeface="Calibri"/>
              </a:rPr>
              <a:t>Pour exposer le modèle sous forme d'API (= une porte d'entrée qu'un autre programme peut appeler). Préféré à Flask pour sa documentation automatique et sa validation des données.</a:t>
            </a:r>
          </a:p>
        </p:txBody>
      </p:sp>
      <p:sp>
        <p:nvSpPr>
          <p:cNvPr id="29" name="Rectangle 28"/>
          <p:cNvSpPr/>
          <p:nvPr/>
        </p:nvSpPr>
        <p:spPr>
          <a:xfrm>
            <a:off x="457200" y="461772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617720"/>
            <a:ext cx="64008"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709159"/>
            <a:ext cx="3337560" cy="347472"/>
          </a:xfrm>
          <a:prstGeom prst="rect">
            <a:avLst/>
          </a:prstGeom>
          <a:noFill/>
        </p:spPr>
        <p:txBody>
          <a:bodyPr wrap="square">
            <a:spAutoFit/>
          </a:bodyPr>
          <a:lstStyle/>
          <a:p>
            <a:pPr algn="l"/>
            <a:r>
              <a:rPr sz="1200" b="1" i="0">
                <a:solidFill>
                  <a:srgbClr val="0F172A"/>
                </a:solidFill>
                <a:latin typeface="Calibri"/>
              </a:rPr>
              <a:t>pytest, flake8, black, pylint</a:t>
            </a:r>
          </a:p>
        </p:txBody>
      </p:sp>
      <p:sp>
        <p:nvSpPr>
          <p:cNvPr id="32" name="TextBox 31"/>
          <p:cNvSpPr txBox="1"/>
          <p:nvPr/>
        </p:nvSpPr>
        <p:spPr>
          <a:xfrm>
            <a:off x="640080" y="5074920"/>
            <a:ext cx="3337560" cy="1051560"/>
          </a:xfrm>
          <a:prstGeom prst="rect">
            <a:avLst/>
          </a:prstGeom>
          <a:noFill/>
        </p:spPr>
        <p:txBody>
          <a:bodyPr wrap="square">
            <a:spAutoFit/>
          </a:bodyPr>
          <a:lstStyle/>
          <a:p>
            <a:pPr algn="l"/>
            <a:r>
              <a:rPr sz="950" b="0" i="0">
                <a:solidFill>
                  <a:srgbClr val="1E293B"/>
                </a:solidFill>
                <a:latin typeface="Calibri"/>
              </a:rPr>
              <a:t>pytest lance mes tests automatisés. flake8, black et pylint vérifient que le code est propre, lisible et conforme aux conventions Python (PEP 8).</a:t>
            </a:r>
          </a:p>
        </p:txBody>
      </p:sp>
      <p:sp>
        <p:nvSpPr>
          <p:cNvPr id="33" name="Rectangle 32"/>
          <p:cNvSpPr/>
          <p:nvPr/>
        </p:nvSpPr>
        <p:spPr>
          <a:xfrm>
            <a:off x="4251960" y="461772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51960" y="4617720"/>
            <a:ext cx="64008"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34840" y="4709159"/>
            <a:ext cx="3337560" cy="347472"/>
          </a:xfrm>
          <a:prstGeom prst="rect">
            <a:avLst/>
          </a:prstGeom>
          <a:noFill/>
        </p:spPr>
        <p:txBody>
          <a:bodyPr wrap="square">
            <a:spAutoFit/>
          </a:bodyPr>
          <a:lstStyle/>
          <a:p>
            <a:pPr algn="l"/>
            <a:r>
              <a:rPr sz="1200" b="1" i="0">
                <a:solidFill>
                  <a:srgbClr val="0F172A"/>
                </a:solidFill>
                <a:latin typeface="Calibri"/>
              </a:rPr>
              <a:t>Git, GitHub, GitHub Actions</a:t>
            </a:r>
          </a:p>
        </p:txBody>
      </p:sp>
      <p:sp>
        <p:nvSpPr>
          <p:cNvPr id="36" name="TextBox 35"/>
          <p:cNvSpPr txBox="1"/>
          <p:nvPr/>
        </p:nvSpPr>
        <p:spPr>
          <a:xfrm>
            <a:off x="4434840" y="5074920"/>
            <a:ext cx="3337560" cy="1051560"/>
          </a:xfrm>
          <a:prstGeom prst="rect">
            <a:avLst/>
          </a:prstGeom>
          <a:noFill/>
        </p:spPr>
        <p:txBody>
          <a:bodyPr wrap="square">
            <a:spAutoFit/>
          </a:bodyPr>
          <a:lstStyle/>
          <a:p>
            <a:pPr algn="l"/>
            <a:r>
              <a:rPr sz="950" b="0" i="0">
                <a:solidFill>
                  <a:srgbClr val="1E293B"/>
                </a:solidFill>
                <a:latin typeface="Calibri"/>
              </a:rPr>
              <a:t>Git garde l'historique de chaque modification, GitHub héberge le projet, et GitHub Actions relance automatiquement tous les tests à chaque envoi de code (intégration continue).</a:t>
            </a:r>
          </a:p>
        </p:txBody>
      </p:sp>
      <p:sp>
        <p:nvSpPr>
          <p:cNvPr id="37" name="Rectangle 36"/>
          <p:cNvSpPr/>
          <p:nvPr/>
        </p:nvSpPr>
        <p:spPr>
          <a:xfrm>
            <a:off x="8046720" y="4617720"/>
            <a:ext cx="36576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4617720"/>
            <a:ext cx="64008" cy="1600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4709159"/>
            <a:ext cx="3337560" cy="347472"/>
          </a:xfrm>
          <a:prstGeom prst="rect">
            <a:avLst/>
          </a:prstGeom>
          <a:noFill/>
        </p:spPr>
        <p:txBody>
          <a:bodyPr wrap="square">
            <a:spAutoFit/>
          </a:bodyPr>
          <a:lstStyle/>
          <a:p>
            <a:pPr algn="l"/>
            <a:r>
              <a:rPr sz="1200" b="1" i="0">
                <a:solidFill>
                  <a:srgbClr val="0F172A"/>
                </a:solidFill>
                <a:latin typeface="Calibri"/>
              </a:rPr>
              <a:t>Evidently</a:t>
            </a:r>
          </a:p>
        </p:txBody>
      </p:sp>
      <p:sp>
        <p:nvSpPr>
          <p:cNvPr id="40" name="TextBox 39"/>
          <p:cNvSpPr txBox="1"/>
          <p:nvPr/>
        </p:nvSpPr>
        <p:spPr>
          <a:xfrm>
            <a:off x="8229600" y="5074920"/>
            <a:ext cx="3337560" cy="1051560"/>
          </a:xfrm>
          <a:prstGeom prst="rect">
            <a:avLst/>
          </a:prstGeom>
          <a:noFill/>
        </p:spPr>
        <p:txBody>
          <a:bodyPr wrap="square">
            <a:spAutoFit/>
          </a:bodyPr>
          <a:lstStyle/>
          <a:p>
            <a:pPr algn="l"/>
            <a:r>
              <a:rPr sz="950" b="0" i="0">
                <a:solidFill>
                  <a:srgbClr val="1E293B"/>
                </a:solidFill>
                <a:latin typeface="Calibri"/>
              </a:rPr>
              <a:t>Pour le monitoring (= la surveillance du modèle après déploiement) : vérifier que les nouvelles données n'ont pas « dérivé » par rapport à celles de l'entraînement.</a:t>
            </a:r>
          </a:p>
        </p:txBody>
      </p:sp>
      <p:sp>
        <p:nvSpPr>
          <p:cNvPr id="41" name="TextBox 40"/>
          <p:cNvSpPr txBox="1"/>
          <p:nvPr/>
        </p:nvSpPr>
        <p:spPr>
          <a:xfrm>
            <a:off x="457200" y="6492240"/>
            <a:ext cx="11247120" cy="292608"/>
          </a:xfrm>
          <a:prstGeom prst="rect">
            <a:avLst/>
          </a:prstGeom>
          <a:noFill/>
        </p:spPr>
        <p:txBody>
          <a:bodyPr wrap="square">
            <a:spAutoFit/>
          </a:bodyPr>
          <a:lstStyle/>
          <a:p>
            <a:pPr algn="ctr"/>
            <a:r>
              <a:rPr sz="1000" b="0" i="1">
                <a:solidFill>
                  <a:srgbClr val="64748B"/>
                </a:solidFill>
                <a:latin typeface="Calibri"/>
              </a:rPr>
              <a:t>Tout est en Python : un seul langage du nettoyage des données jusqu'au déploiement, ce qui simplifie la maintenance.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Pipeline de traitement</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03 — Le chemin de la donnée brute au modèle en production</a:t>
            </a:r>
          </a:p>
        </p:txBody>
      </p:sp>
      <p:sp>
        <p:nvSpPr>
          <p:cNvPr id="5" name="Rectangle 4"/>
          <p:cNvSpPr/>
          <p:nvPr/>
        </p:nvSpPr>
        <p:spPr>
          <a:xfrm>
            <a:off x="502920" y="1371600"/>
            <a:ext cx="1691640"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0"/>
            <a:ext cx="1691640" cy="822960"/>
          </a:xfrm>
          <a:prstGeom prst="rect">
            <a:avLst/>
          </a:prstGeom>
          <a:noFill/>
        </p:spPr>
        <p:txBody>
          <a:bodyPr wrap="square">
            <a:spAutoFit/>
          </a:bodyPr>
          <a:lstStyle/>
          <a:p>
            <a:pPr algn="ctr"/>
            <a:r>
              <a:rPr sz="1250" b="1">
                <a:solidFill>
                  <a:srgbClr val="FFFFFF"/>
                </a:solidFill>
                <a:latin typeface="Calibri"/>
              </a:rPr>
              <a:t>Données</a:t>
            </a:r>
          </a:p>
          <a:p>
            <a:pPr algn="ctr"/>
            <a:r>
              <a:rPr sz="1250" b="1">
                <a:solidFill>
                  <a:srgbClr val="FFFFFF"/>
                </a:solidFill>
                <a:latin typeface="Calibri"/>
              </a:rPr>
              <a:t>brutes</a:t>
            </a:r>
          </a:p>
        </p:txBody>
      </p:sp>
      <p:sp>
        <p:nvSpPr>
          <p:cNvPr id="7" name="TextBox 6"/>
          <p:cNvSpPr txBox="1"/>
          <p:nvPr/>
        </p:nvSpPr>
        <p:spPr>
          <a:xfrm>
            <a:off x="411480" y="2651760"/>
            <a:ext cx="1874520" cy="640080"/>
          </a:xfrm>
          <a:prstGeom prst="rect">
            <a:avLst/>
          </a:prstGeom>
          <a:noFill/>
        </p:spPr>
        <p:txBody>
          <a:bodyPr wrap="square">
            <a:spAutoFit/>
          </a:bodyPr>
          <a:lstStyle/>
          <a:p>
            <a:pPr algn="ctr"/>
            <a:r>
              <a:rPr sz="950" b="0" i="0">
                <a:solidFill>
                  <a:srgbClr val="64748B"/>
                </a:solidFill>
                <a:latin typeface="Calibri"/>
              </a:rPr>
              <a:t>data/raw/
7 043 clients</a:t>
            </a:r>
          </a:p>
        </p:txBody>
      </p:sp>
      <p:sp>
        <p:nvSpPr>
          <p:cNvPr id="8" name="TextBox 7"/>
          <p:cNvSpPr txBox="1"/>
          <p:nvPr/>
        </p:nvSpPr>
        <p:spPr>
          <a:xfrm>
            <a:off x="2194560" y="1691640"/>
            <a:ext cx="256032" cy="457200"/>
          </a:xfrm>
          <a:prstGeom prst="rect">
            <a:avLst/>
          </a:prstGeom>
          <a:noFill/>
        </p:spPr>
        <p:txBody>
          <a:bodyPr wrap="square">
            <a:spAutoFit/>
          </a:bodyPr>
          <a:lstStyle/>
          <a:p>
            <a:pPr algn="ctr"/>
            <a:r>
              <a:rPr sz="2000" b="1" i="0">
                <a:solidFill>
                  <a:srgbClr val="64748B"/>
                </a:solidFill>
                <a:latin typeface="Calibri"/>
              </a:rPr>
              <a:t>→</a:t>
            </a:r>
          </a:p>
        </p:txBody>
      </p:sp>
      <p:sp>
        <p:nvSpPr>
          <p:cNvPr id="9" name="Rectangle 8"/>
          <p:cNvSpPr/>
          <p:nvPr/>
        </p:nvSpPr>
        <p:spPr>
          <a:xfrm>
            <a:off x="2450591" y="1371600"/>
            <a:ext cx="1691640"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50591" y="1463040"/>
            <a:ext cx="1691640" cy="822960"/>
          </a:xfrm>
          <a:prstGeom prst="rect">
            <a:avLst/>
          </a:prstGeom>
          <a:noFill/>
        </p:spPr>
        <p:txBody>
          <a:bodyPr wrap="square">
            <a:spAutoFit/>
          </a:bodyPr>
          <a:lstStyle/>
          <a:p>
            <a:pPr algn="ctr"/>
            <a:r>
              <a:rPr sz="1250" b="1">
                <a:solidFill>
                  <a:srgbClr val="FFFFFF"/>
                </a:solidFill>
                <a:latin typeface="Calibri"/>
              </a:rPr>
              <a:t>Nettoyage et</a:t>
            </a:r>
          </a:p>
          <a:p>
            <a:pPr algn="ctr"/>
            <a:r>
              <a:rPr sz="1250" b="1">
                <a:solidFill>
                  <a:srgbClr val="FFFFFF"/>
                </a:solidFill>
                <a:latin typeface="Calibri"/>
              </a:rPr>
              <a:t>encodage</a:t>
            </a:r>
          </a:p>
        </p:txBody>
      </p:sp>
      <p:sp>
        <p:nvSpPr>
          <p:cNvPr id="11" name="TextBox 10"/>
          <p:cNvSpPr txBox="1"/>
          <p:nvPr/>
        </p:nvSpPr>
        <p:spPr>
          <a:xfrm>
            <a:off x="2359151" y="2651760"/>
            <a:ext cx="1874520" cy="640080"/>
          </a:xfrm>
          <a:prstGeom prst="rect">
            <a:avLst/>
          </a:prstGeom>
          <a:noFill/>
        </p:spPr>
        <p:txBody>
          <a:bodyPr wrap="square">
            <a:spAutoFit/>
          </a:bodyPr>
          <a:lstStyle/>
          <a:p>
            <a:pPr algn="ctr"/>
            <a:r>
              <a:rPr sz="950" b="0" i="0">
                <a:solidFill>
                  <a:srgbClr val="64748B"/>
                </a:solidFill>
                <a:latin typeface="Calibri"/>
              </a:rPr>
              <a:t>src/preprocessing.py
30 features</a:t>
            </a:r>
          </a:p>
        </p:txBody>
      </p:sp>
      <p:sp>
        <p:nvSpPr>
          <p:cNvPr id="12" name="TextBox 11"/>
          <p:cNvSpPr txBox="1"/>
          <p:nvPr/>
        </p:nvSpPr>
        <p:spPr>
          <a:xfrm>
            <a:off x="4142231" y="1691640"/>
            <a:ext cx="256032" cy="457200"/>
          </a:xfrm>
          <a:prstGeom prst="rect">
            <a:avLst/>
          </a:prstGeom>
          <a:noFill/>
        </p:spPr>
        <p:txBody>
          <a:bodyPr wrap="square">
            <a:spAutoFit/>
          </a:bodyPr>
          <a:lstStyle/>
          <a:p>
            <a:pPr algn="ctr"/>
            <a:r>
              <a:rPr sz="2000" b="1" i="0">
                <a:solidFill>
                  <a:srgbClr val="64748B"/>
                </a:solidFill>
                <a:latin typeface="Calibri"/>
              </a:rPr>
              <a:t>→</a:t>
            </a:r>
          </a:p>
        </p:txBody>
      </p:sp>
      <p:sp>
        <p:nvSpPr>
          <p:cNvPr id="13" name="Rectangle 12"/>
          <p:cNvSpPr/>
          <p:nvPr/>
        </p:nvSpPr>
        <p:spPr>
          <a:xfrm>
            <a:off x="4398264" y="1371600"/>
            <a:ext cx="1691640"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8264" y="1463040"/>
            <a:ext cx="1691640" cy="822960"/>
          </a:xfrm>
          <a:prstGeom prst="rect">
            <a:avLst/>
          </a:prstGeom>
          <a:noFill/>
        </p:spPr>
        <p:txBody>
          <a:bodyPr wrap="square">
            <a:spAutoFit/>
          </a:bodyPr>
          <a:lstStyle/>
          <a:p>
            <a:pPr algn="ctr"/>
            <a:r>
              <a:rPr sz="1250" b="1">
                <a:solidFill>
                  <a:srgbClr val="FFFFFF"/>
                </a:solidFill>
                <a:latin typeface="Calibri"/>
              </a:rPr>
              <a:t>Exploration</a:t>
            </a:r>
          </a:p>
          <a:p>
            <a:pPr algn="ctr"/>
            <a:r>
              <a:rPr sz="1250" b="1">
                <a:solidFill>
                  <a:srgbClr val="FFFFFF"/>
                </a:solidFill>
                <a:latin typeface="Calibri"/>
              </a:rPr>
              <a:t>(EDA)</a:t>
            </a:r>
          </a:p>
        </p:txBody>
      </p:sp>
      <p:sp>
        <p:nvSpPr>
          <p:cNvPr id="15" name="TextBox 14"/>
          <p:cNvSpPr txBox="1"/>
          <p:nvPr/>
        </p:nvSpPr>
        <p:spPr>
          <a:xfrm>
            <a:off x="4306824" y="2651760"/>
            <a:ext cx="1874520" cy="640080"/>
          </a:xfrm>
          <a:prstGeom prst="rect">
            <a:avLst/>
          </a:prstGeom>
          <a:noFill/>
        </p:spPr>
        <p:txBody>
          <a:bodyPr wrap="square">
            <a:spAutoFit/>
          </a:bodyPr>
          <a:lstStyle/>
          <a:p>
            <a:pPr algn="ctr"/>
            <a:r>
              <a:rPr sz="950" b="0" i="0">
                <a:solidFill>
                  <a:srgbClr val="64748B"/>
                </a:solidFill>
                <a:latin typeface="Calibri"/>
              </a:rPr>
              <a:t>notebooks/02
corrélations</a:t>
            </a:r>
          </a:p>
        </p:txBody>
      </p:sp>
      <p:sp>
        <p:nvSpPr>
          <p:cNvPr id="16" name="TextBox 15"/>
          <p:cNvSpPr txBox="1"/>
          <p:nvPr/>
        </p:nvSpPr>
        <p:spPr>
          <a:xfrm>
            <a:off x="6089904" y="1691640"/>
            <a:ext cx="256032" cy="457200"/>
          </a:xfrm>
          <a:prstGeom prst="rect">
            <a:avLst/>
          </a:prstGeom>
          <a:noFill/>
        </p:spPr>
        <p:txBody>
          <a:bodyPr wrap="square">
            <a:spAutoFit/>
          </a:bodyPr>
          <a:lstStyle/>
          <a:p>
            <a:pPr algn="ctr"/>
            <a:r>
              <a:rPr sz="2000" b="1" i="0">
                <a:solidFill>
                  <a:srgbClr val="64748B"/>
                </a:solidFill>
                <a:latin typeface="Calibri"/>
              </a:rPr>
              <a:t>→</a:t>
            </a:r>
          </a:p>
        </p:txBody>
      </p:sp>
      <p:sp>
        <p:nvSpPr>
          <p:cNvPr id="17" name="Rectangle 16"/>
          <p:cNvSpPr/>
          <p:nvPr/>
        </p:nvSpPr>
        <p:spPr>
          <a:xfrm>
            <a:off x="6345936" y="1371600"/>
            <a:ext cx="1691640" cy="1188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1463040"/>
            <a:ext cx="1691640" cy="822960"/>
          </a:xfrm>
          <a:prstGeom prst="rect">
            <a:avLst/>
          </a:prstGeom>
          <a:noFill/>
        </p:spPr>
        <p:txBody>
          <a:bodyPr wrap="square">
            <a:spAutoFit/>
          </a:bodyPr>
          <a:lstStyle/>
          <a:p>
            <a:pPr algn="ctr"/>
            <a:r>
              <a:rPr sz="1250" b="1">
                <a:solidFill>
                  <a:srgbClr val="FFFFFF"/>
                </a:solidFill>
                <a:latin typeface="Calibri"/>
              </a:rPr>
              <a:t>Modélisation et</a:t>
            </a:r>
          </a:p>
          <a:p>
            <a:pPr algn="ctr"/>
            <a:r>
              <a:rPr sz="1250" b="1">
                <a:solidFill>
                  <a:srgbClr val="FFFFFF"/>
                </a:solidFill>
                <a:latin typeface="Calibri"/>
              </a:rPr>
              <a:t>optimisation</a:t>
            </a:r>
          </a:p>
        </p:txBody>
      </p:sp>
      <p:sp>
        <p:nvSpPr>
          <p:cNvPr id="19" name="TextBox 18"/>
          <p:cNvSpPr txBox="1"/>
          <p:nvPr/>
        </p:nvSpPr>
        <p:spPr>
          <a:xfrm>
            <a:off x="6254496" y="2651760"/>
            <a:ext cx="1874520" cy="640080"/>
          </a:xfrm>
          <a:prstGeom prst="rect">
            <a:avLst/>
          </a:prstGeom>
          <a:noFill/>
        </p:spPr>
        <p:txBody>
          <a:bodyPr wrap="square">
            <a:spAutoFit/>
          </a:bodyPr>
          <a:lstStyle/>
          <a:p>
            <a:pPr algn="ctr"/>
            <a:r>
              <a:rPr sz="950" b="0" i="0">
                <a:solidFill>
                  <a:srgbClr val="64748B"/>
                </a:solidFill>
                <a:latin typeface="Calibri"/>
              </a:rPr>
              <a:t>notebooks/03
GridSearchCV</a:t>
            </a:r>
          </a:p>
        </p:txBody>
      </p:sp>
      <p:sp>
        <p:nvSpPr>
          <p:cNvPr id="20" name="TextBox 19"/>
          <p:cNvSpPr txBox="1"/>
          <p:nvPr/>
        </p:nvSpPr>
        <p:spPr>
          <a:xfrm>
            <a:off x="8037575" y="1691640"/>
            <a:ext cx="256032" cy="457200"/>
          </a:xfrm>
          <a:prstGeom prst="rect">
            <a:avLst/>
          </a:prstGeom>
          <a:noFill/>
        </p:spPr>
        <p:txBody>
          <a:bodyPr wrap="square">
            <a:spAutoFit/>
          </a:bodyPr>
          <a:lstStyle/>
          <a:p>
            <a:pPr algn="ctr"/>
            <a:r>
              <a:rPr sz="2000" b="1" i="0">
                <a:solidFill>
                  <a:srgbClr val="64748B"/>
                </a:solidFill>
                <a:latin typeface="Calibri"/>
              </a:rPr>
              <a:t>→</a:t>
            </a:r>
          </a:p>
        </p:txBody>
      </p:sp>
      <p:sp>
        <p:nvSpPr>
          <p:cNvPr id="21" name="Rectangle 20"/>
          <p:cNvSpPr/>
          <p:nvPr/>
        </p:nvSpPr>
        <p:spPr>
          <a:xfrm>
            <a:off x="8293608" y="1371600"/>
            <a:ext cx="1691640" cy="1188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1463040"/>
            <a:ext cx="1691640" cy="822960"/>
          </a:xfrm>
          <a:prstGeom prst="rect">
            <a:avLst/>
          </a:prstGeom>
          <a:noFill/>
        </p:spPr>
        <p:txBody>
          <a:bodyPr wrap="square">
            <a:spAutoFit/>
          </a:bodyPr>
          <a:lstStyle/>
          <a:p>
            <a:pPr algn="ctr"/>
            <a:r>
              <a:rPr sz="1250" b="1">
                <a:solidFill>
                  <a:srgbClr val="FFFFFF"/>
                </a:solidFill>
                <a:latin typeface="Calibri"/>
              </a:rPr>
              <a:t>Validation</a:t>
            </a:r>
          </a:p>
        </p:txBody>
      </p:sp>
      <p:sp>
        <p:nvSpPr>
          <p:cNvPr id="23" name="TextBox 22"/>
          <p:cNvSpPr txBox="1"/>
          <p:nvPr/>
        </p:nvSpPr>
        <p:spPr>
          <a:xfrm>
            <a:off x="8202168" y="2651760"/>
            <a:ext cx="1874520" cy="640080"/>
          </a:xfrm>
          <a:prstGeom prst="rect">
            <a:avLst/>
          </a:prstGeom>
          <a:noFill/>
        </p:spPr>
        <p:txBody>
          <a:bodyPr wrap="square">
            <a:spAutoFit/>
          </a:bodyPr>
          <a:lstStyle/>
          <a:p>
            <a:pPr algn="ctr"/>
            <a:r>
              <a:rPr sz="950" b="0" i="0">
                <a:solidFill>
                  <a:srgbClr val="64748B"/>
                </a:solidFill>
                <a:latin typeface="Calibri"/>
              </a:rPr>
              <a:t>notebooks/04
surapprentissage</a:t>
            </a:r>
          </a:p>
        </p:txBody>
      </p:sp>
      <p:sp>
        <p:nvSpPr>
          <p:cNvPr id="24" name="TextBox 23"/>
          <p:cNvSpPr txBox="1"/>
          <p:nvPr/>
        </p:nvSpPr>
        <p:spPr>
          <a:xfrm>
            <a:off x="9985248" y="1691640"/>
            <a:ext cx="256032" cy="457200"/>
          </a:xfrm>
          <a:prstGeom prst="rect">
            <a:avLst/>
          </a:prstGeom>
          <a:noFill/>
        </p:spPr>
        <p:txBody>
          <a:bodyPr wrap="square">
            <a:spAutoFit/>
          </a:bodyPr>
          <a:lstStyle/>
          <a:p>
            <a:pPr algn="ctr"/>
            <a:r>
              <a:rPr sz="2000" b="1" i="0">
                <a:solidFill>
                  <a:srgbClr val="64748B"/>
                </a:solidFill>
                <a:latin typeface="Calibri"/>
              </a:rPr>
              <a:t>→</a:t>
            </a:r>
          </a:p>
        </p:txBody>
      </p:sp>
      <p:sp>
        <p:nvSpPr>
          <p:cNvPr id="25" name="Rectangle 24"/>
          <p:cNvSpPr/>
          <p:nvPr/>
        </p:nvSpPr>
        <p:spPr>
          <a:xfrm>
            <a:off x="10241280" y="1371600"/>
            <a:ext cx="1691640" cy="1188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0" y="1463040"/>
            <a:ext cx="1691640" cy="822960"/>
          </a:xfrm>
          <a:prstGeom prst="rect">
            <a:avLst/>
          </a:prstGeom>
          <a:noFill/>
        </p:spPr>
        <p:txBody>
          <a:bodyPr wrap="square">
            <a:spAutoFit/>
          </a:bodyPr>
          <a:lstStyle/>
          <a:p>
            <a:pPr algn="ctr"/>
            <a:r>
              <a:rPr sz="1250" b="1">
                <a:solidFill>
                  <a:srgbClr val="FFFFFF"/>
                </a:solidFill>
                <a:latin typeface="Calibri"/>
              </a:rPr>
              <a:t>Déploiement</a:t>
            </a:r>
          </a:p>
        </p:txBody>
      </p:sp>
      <p:sp>
        <p:nvSpPr>
          <p:cNvPr id="27" name="TextBox 26"/>
          <p:cNvSpPr txBox="1"/>
          <p:nvPr/>
        </p:nvSpPr>
        <p:spPr>
          <a:xfrm>
            <a:off x="10149840" y="2651760"/>
            <a:ext cx="1874520" cy="640080"/>
          </a:xfrm>
          <a:prstGeom prst="rect">
            <a:avLst/>
          </a:prstGeom>
          <a:noFill/>
        </p:spPr>
        <p:txBody>
          <a:bodyPr wrap="square">
            <a:spAutoFit/>
          </a:bodyPr>
          <a:lstStyle/>
          <a:p>
            <a:pPr algn="ctr"/>
            <a:r>
              <a:rPr sz="950" b="0" i="0">
                <a:solidFill>
                  <a:srgbClr val="64748B"/>
                </a:solidFill>
                <a:latin typeface="Calibri"/>
              </a:rPr>
              <a:t>API + dashboard
tests + CI</a:t>
            </a:r>
          </a:p>
        </p:txBody>
      </p:sp>
      <p:sp>
        <p:nvSpPr>
          <p:cNvPr id="28" name="Rectangle 27"/>
          <p:cNvSpPr/>
          <p:nvPr/>
        </p:nvSpPr>
        <p:spPr>
          <a:xfrm>
            <a:off x="457200" y="3429000"/>
            <a:ext cx="11247120" cy="28346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520440"/>
            <a:ext cx="10881360" cy="347472"/>
          </a:xfrm>
          <a:prstGeom prst="rect">
            <a:avLst/>
          </a:prstGeom>
          <a:noFill/>
        </p:spPr>
        <p:txBody>
          <a:bodyPr wrap="square">
            <a:spAutoFit/>
          </a:bodyPr>
          <a:lstStyle/>
          <a:p>
            <a:pPr algn="l"/>
            <a:r>
              <a:rPr sz="1300" b="1" i="0">
                <a:solidFill>
                  <a:srgbClr val="0F172A"/>
                </a:solidFill>
                <a:latin typeface="Calibri"/>
              </a:rPr>
              <a:t>Comment j'ai organisé le projet</a:t>
            </a:r>
          </a:p>
        </p:txBody>
      </p:sp>
      <p:sp>
        <p:nvSpPr>
          <p:cNvPr id="30" name="TextBox 29"/>
          <p:cNvSpPr txBox="1"/>
          <p:nvPr/>
        </p:nvSpPr>
        <p:spPr>
          <a:xfrm>
            <a:off x="640080" y="3886200"/>
            <a:ext cx="10881360" cy="2286000"/>
          </a:xfrm>
          <a:prstGeom prst="rect">
            <a:avLst/>
          </a:prstGeom>
          <a:noFill/>
        </p:spPr>
        <p:txBody>
          <a:bodyPr wrap="square">
            <a:spAutoFit/>
          </a:bodyPr>
          <a:lstStyle/>
          <a:p>
            <a:pPr algn="l"/>
            <a:r>
              <a:rPr sz="1100" b="0" i="0">
                <a:solidFill>
                  <a:srgbClr val="1E293B"/>
                </a:solidFill>
                <a:latin typeface="Calibri"/>
              </a:rPr>
              <a:t>J'ai séparé le projet en trois couches. Les notebooks (documents interactifs qui mélangent code, résultats et explications) servent à explorer et à documenter chaque étape pas à pas. Le dossier src/ contient les fonctions réutilisables (nettoyage, évaluation, sauvegarde du modèle) : elles sont testées automatiquement, donc je peux les modifier sans risque de casser le reste. Le dossier app/ contient l'API et le dashboard, qui utilisent le même modèle et le même scaler (outil de normalisation) entraînés une seule fois. L'intérêt : ce qui est appris en exploration est transformé en code propre, testé et déployable — c'est le passage du prototype au produit.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Le jeu de données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04 — Ce que j'ai compris des données</a:t>
            </a:r>
          </a:p>
        </p:txBody>
      </p:sp>
      <p:sp>
        <p:nvSpPr>
          <p:cNvPr id="5" name="Rectangle 4"/>
          <p:cNvSpPr/>
          <p:nvPr/>
        </p:nvSpPr>
        <p:spPr>
          <a:xfrm>
            <a:off x="457200" y="1143000"/>
            <a:ext cx="23774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54864" cy="10058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16152"/>
            <a:ext cx="2194560" cy="320040"/>
          </a:xfrm>
          <a:prstGeom prst="rect">
            <a:avLst/>
          </a:prstGeom>
          <a:noFill/>
        </p:spPr>
        <p:txBody>
          <a:bodyPr wrap="square">
            <a:spAutoFit/>
          </a:bodyPr>
          <a:lstStyle/>
          <a:p>
            <a:pPr algn="l"/>
            <a:r>
              <a:rPr sz="1000" b="0" i="0">
                <a:solidFill>
                  <a:srgbClr val="64748B"/>
                </a:solidFill>
                <a:latin typeface="Calibri"/>
              </a:rPr>
              <a:t>Clients</a:t>
            </a:r>
          </a:p>
        </p:txBody>
      </p:sp>
      <p:sp>
        <p:nvSpPr>
          <p:cNvPr id="8" name="TextBox 7"/>
          <p:cNvSpPr txBox="1"/>
          <p:nvPr/>
        </p:nvSpPr>
        <p:spPr>
          <a:xfrm>
            <a:off x="594360" y="1527048"/>
            <a:ext cx="2194560" cy="548640"/>
          </a:xfrm>
          <a:prstGeom prst="rect">
            <a:avLst/>
          </a:prstGeom>
          <a:noFill/>
        </p:spPr>
        <p:txBody>
          <a:bodyPr wrap="square">
            <a:spAutoFit/>
          </a:bodyPr>
          <a:lstStyle/>
          <a:p>
            <a:pPr algn="l"/>
            <a:r>
              <a:rPr sz="2200" b="1" i="0">
                <a:solidFill>
                  <a:srgbClr val="1E293B"/>
                </a:solidFill>
                <a:latin typeface="Calibri"/>
              </a:rPr>
              <a:t>7 043</a:t>
            </a:r>
          </a:p>
        </p:txBody>
      </p:sp>
      <p:sp>
        <p:nvSpPr>
          <p:cNvPr id="9" name="Rectangle 8"/>
          <p:cNvSpPr/>
          <p:nvPr/>
        </p:nvSpPr>
        <p:spPr>
          <a:xfrm>
            <a:off x="3017520" y="1143000"/>
            <a:ext cx="23774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17520" y="1143000"/>
            <a:ext cx="54864"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79" y="1216152"/>
            <a:ext cx="2194560" cy="320040"/>
          </a:xfrm>
          <a:prstGeom prst="rect">
            <a:avLst/>
          </a:prstGeom>
          <a:noFill/>
        </p:spPr>
        <p:txBody>
          <a:bodyPr wrap="square">
            <a:spAutoFit/>
          </a:bodyPr>
          <a:lstStyle/>
          <a:p>
            <a:pPr algn="l"/>
            <a:r>
              <a:rPr sz="1000" b="0" i="0">
                <a:solidFill>
                  <a:srgbClr val="64748B"/>
                </a:solidFill>
                <a:latin typeface="Calibri"/>
              </a:rPr>
              <a:t>Colonnes (variables)</a:t>
            </a:r>
          </a:p>
        </p:txBody>
      </p:sp>
      <p:sp>
        <p:nvSpPr>
          <p:cNvPr id="12" name="TextBox 11"/>
          <p:cNvSpPr txBox="1"/>
          <p:nvPr/>
        </p:nvSpPr>
        <p:spPr>
          <a:xfrm>
            <a:off x="3154679" y="1527048"/>
            <a:ext cx="2194560" cy="548640"/>
          </a:xfrm>
          <a:prstGeom prst="rect">
            <a:avLst/>
          </a:prstGeom>
          <a:noFill/>
        </p:spPr>
        <p:txBody>
          <a:bodyPr wrap="square">
            <a:spAutoFit/>
          </a:bodyPr>
          <a:lstStyle/>
          <a:p>
            <a:pPr algn="l"/>
            <a:r>
              <a:rPr sz="2200" b="1" i="0">
                <a:solidFill>
                  <a:srgbClr val="1E293B"/>
                </a:solidFill>
                <a:latin typeface="Calibri"/>
              </a:rPr>
              <a:t>21</a:t>
            </a:r>
          </a:p>
        </p:txBody>
      </p:sp>
      <p:sp>
        <p:nvSpPr>
          <p:cNvPr id="13" name="Rectangle 12"/>
          <p:cNvSpPr/>
          <p:nvPr/>
        </p:nvSpPr>
        <p:spPr>
          <a:xfrm>
            <a:off x="5577840" y="1143000"/>
            <a:ext cx="23774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1143000"/>
            <a:ext cx="54864" cy="10058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0" y="1216152"/>
            <a:ext cx="2194560" cy="320040"/>
          </a:xfrm>
          <a:prstGeom prst="rect">
            <a:avLst/>
          </a:prstGeom>
          <a:noFill/>
        </p:spPr>
        <p:txBody>
          <a:bodyPr wrap="square">
            <a:spAutoFit/>
          </a:bodyPr>
          <a:lstStyle/>
          <a:p>
            <a:pPr algn="l"/>
            <a:r>
              <a:rPr sz="1000" b="0" i="0">
                <a:solidFill>
                  <a:srgbClr val="64748B"/>
                </a:solidFill>
                <a:latin typeface="Calibri"/>
              </a:rPr>
              <a:t>Taux de churn</a:t>
            </a:r>
          </a:p>
        </p:txBody>
      </p:sp>
      <p:sp>
        <p:nvSpPr>
          <p:cNvPr id="16" name="TextBox 15"/>
          <p:cNvSpPr txBox="1"/>
          <p:nvPr/>
        </p:nvSpPr>
        <p:spPr>
          <a:xfrm>
            <a:off x="5715000" y="1527048"/>
            <a:ext cx="2194560" cy="548640"/>
          </a:xfrm>
          <a:prstGeom prst="rect">
            <a:avLst/>
          </a:prstGeom>
          <a:noFill/>
        </p:spPr>
        <p:txBody>
          <a:bodyPr wrap="square">
            <a:spAutoFit/>
          </a:bodyPr>
          <a:lstStyle/>
          <a:p>
            <a:pPr algn="l"/>
            <a:r>
              <a:rPr sz="2200" b="1" i="0">
                <a:solidFill>
                  <a:srgbClr val="1E293B"/>
                </a:solidFill>
                <a:latin typeface="Calibri"/>
              </a:rPr>
              <a:t>26,5 %</a:t>
            </a:r>
          </a:p>
        </p:txBody>
      </p:sp>
      <p:sp>
        <p:nvSpPr>
          <p:cNvPr id="17" name="Rectangle 16"/>
          <p:cNvSpPr/>
          <p:nvPr/>
        </p:nvSpPr>
        <p:spPr>
          <a:xfrm>
            <a:off x="8138160" y="1143000"/>
            <a:ext cx="35661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143000"/>
            <a:ext cx="54864" cy="1005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216152"/>
            <a:ext cx="3383279" cy="320040"/>
          </a:xfrm>
          <a:prstGeom prst="rect">
            <a:avLst/>
          </a:prstGeom>
          <a:noFill/>
        </p:spPr>
        <p:txBody>
          <a:bodyPr wrap="square">
            <a:spAutoFit/>
          </a:bodyPr>
          <a:lstStyle/>
          <a:p>
            <a:pPr algn="l"/>
            <a:r>
              <a:rPr sz="1000" b="0" i="0">
                <a:solidFill>
                  <a:srgbClr val="64748B"/>
                </a:solidFill>
                <a:latin typeface="Calibri"/>
              </a:rPr>
              <a:t>Source</a:t>
            </a:r>
          </a:p>
        </p:txBody>
      </p:sp>
      <p:sp>
        <p:nvSpPr>
          <p:cNvPr id="20" name="TextBox 19"/>
          <p:cNvSpPr txBox="1"/>
          <p:nvPr/>
        </p:nvSpPr>
        <p:spPr>
          <a:xfrm>
            <a:off x="8275320" y="1527048"/>
            <a:ext cx="3383279" cy="548640"/>
          </a:xfrm>
          <a:prstGeom prst="rect">
            <a:avLst/>
          </a:prstGeom>
          <a:noFill/>
        </p:spPr>
        <p:txBody>
          <a:bodyPr wrap="square">
            <a:spAutoFit/>
          </a:bodyPr>
          <a:lstStyle/>
          <a:p>
            <a:pPr algn="l"/>
            <a:r>
              <a:rPr sz="2200" b="1" i="0">
                <a:solidFill>
                  <a:srgbClr val="1E293B"/>
                </a:solidFill>
                <a:latin typeface="Calibri"/>
              </a:rPr>
              <a:t>Kaggle / IBM</a:t>
            </a:r>
          </a:p>
        </p:txBody>
      </p:sp>
      <p:sp>
        <p:nvSpPr>
          <p:cNvPr id="21" name="Rectangle 20"/>
          <p:cNvSpPr/>
          <p:nvPr/>
        </p:nvSpPr>
        <p:spPr>
          <a:xfrm>
            <a:off x="457200" y="2331720"/>
            <a:ext cx="5577840" cy="1965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423160"/>
            <a:ext cx="5257800" cy="347472"/>
          </a:xfrm>
          <a:prstGeom prst="rect">
            <a:avLst/>
          </a:prstGeom>
          <a:noFill/>
        </p:spPr>
        <p:txBody>
          <a:bodyPr wrap="square">
            <a:spAutoFit/>
          </a:bodyPr>
          <a:lstStyle/>
          <a:p>
            <a:pPr algn="l"/>
            <a:r>
              <a:rPr sz="1250" b="1" i="0">
                <a:solidFill>
                  <a:srgbClr val="0F172A"/>
                </a:solidFill>
                <a:latin typeface="Calibri"/>
              </a:rPr>
              <a:t>Ce qu'il contient</a:t>
            </a:r>
          </a:p>
        </p:txBody>
      </p:sp>
      <p:sp>
        <p:nvSpPr>
          <p:cNvPr id="23" name="TextBox 22"/>
          <p:cNvSpPr txBox="1"/>
          <p:nvPr/>
        </p:nvSpPr>
        <p:spPr>
          <a:xfrm>
            <a:off x="640080" y="2788920"/>
            <a:ext cx="5257800" cy="1417319"/>
          </a:xfrm>
          <a:prstGeom prst="rect">
            <a:avLst/>
          </a:prstGeom>
          <a:noFill/>
        </p:spPr>
        <p:txBody>
          <a:bodyPr wrap="square">
            <a:spAutoFit/>
          </a:bodyPr>
          <a:lstStyle/>
          <a:p>
            <a:pPr algn="l"/>
            <a:r>
              <a:rPr sz="1050" b="0" i="0">
                <a:solidFill>
                  <a:srgbClr val="1E293B"/>
                </a:solidFill>
                <a:latin typeface="Calibri"/>
              </a:rPr>
              <a:t>J'ai utilisé le dataset public « Telco Customer Churn » (IBM, disponible sur Kaggle), celui recommandé par le brief. Chaque ligne est un client et chaque colonne une caractéristique : des informations démographiques (genre, senior, partenaire, personnes à charge), les services souscrits (téléphone, internet, sécurité en ligne, streaming…), les informations de compte (ancienneté, type de contrat, mode de paiement, frais mensuels et totaux) et la cible Churn (Yes/No).</a:t>
            </a:r>
          </a:p>
        </p:txBody>
      </p:sp>
      <p:sp>
        <p:nvSpPr>
          <p:cNvPr id="24" name="Rectangle 23"/>
          <p:cNvSpPr/>
          <p:nvPr/>
        </p:nvSpPr>
        <p:spPr>
          <a:xfrm>
            <a:off x="6309360" y="2331720"/>
            <a:ext cx="5394960" cy="1965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423160"/>
            <a:ext cx="5074920" cy="347472"/>
          </a:xfrm>
          <a:prstGeom prst="rect">
            <a:avLst/>
          </a:prstGeom>
          <a:noFill/>
        </p:spPr>
        <p:txBody>
          <a:bodyPr wrap="square">
            <a:spAutoFit/>
          </a:bodyPr>
          <a:lstStyle/>
          <a:p>
            <a:pPr algn="l"/>
            <a:r>
              <a:rPr sz="1250" b="1" i="0">
                <a:solidFill>
                  <a:srgbClr val="FFFFFF"/>
                </a:solidFill>
                <a:latin typeface="Calibri"/>
              </a:rPr>
              <a:t>Le déséquilibre de classes</a:t>
            </a:r>
          </a:p>
        </p:txBody>
      </p:sp>
      <p:sp>
        <p:nvSpPr>
          <p:cNvPr id="26" name="TextBox 25"/>
          <p:cNvSpPr txBox="1"/>
          <p:nvPr/>
        </p:nvSpPr>
        <p:spPr>
          <a:xfrm>
            <a:off x="6492240" y="2788920"/>
            <a:ext cx="5074920" cy="1417319"/>
          </a:xfrm>
          <a:prstGeom prst="rect">
            <a:avLst/>
          </a:prstGeom>
          <a:noFill/>
        </p:spPr>
        <p:txBody>
          <a:bodyPr wrap="square">
            <a:spAutoFit/>
          </a:bodyPr>
          <a:lstStyle/>
          <a:p>
            <a:pPr algn="l"/>
            <a:r>
              <a:rPr sz="1050" b="0" i="0">
                <a:solidFill>
                  <a:srgbClr val="FFFFFF"/>
                </a:solidFill>
                <a:latin typeface="Calibri"/>
              </a:rPr>
              <a:t>On remarque que seulement 26,5 % des clients ont résilié. On parle de déséquilibre de classes (= une catégorie est beaucoup plus fréquente que l'autre). C'est important : un modèle « paresseux » qui répondrait toujours « reste » aurait déjà 73,5 % de bonnes réponses sans rien avoir appris. J'ai donc utilisé class_weight='balanced' (= donner plus de poids aux erreurs sur la classe rare) et des métriques adaptées.</a:t>
            </a:r>
          </a:p>
        </p:txBody>
      </p:sp>
      <p:sp>
        <p:nvSpPr>
          <p:cNvPr id="27" name="Rectangle 26"/>
          <p:cNvSpPr/>
          <p:nvPr/>
        </p:nvSpPr>
        <p:spPr>
          <a:xfrm>
            <a:off x="457200" y="4434840"/>
            <a:ext cx="11247120" cy="1828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434840"/>
            <a:ext cx="64008" cy="18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526279"/>
            <a:ext cx="10927080" cy="347472"/>
          </a:xfrm>
          <a:prstGeom prst="rect">
            <a:avLst/>
          </a:prstGeom>
          <a:noFill/>
        </p:spPr>
        <p:txBody>
          <a:bodyPr wrap="square">
            <a:spAutoFit/>
          </a:bodyPr>
          <a:lstStyle/>
          <a:p>
            <a:pPr algn="l"/>
            <a:r>
              <a:rPr sz="1250" b="1" i="0">
                <a:solidFill>
                  <a:srgbClr val="0F172A"/>
                </a:solidFill>
                <a:latin typeface="Calibri"/>
              </a:rPr>
              <a:t>Le jeu de données est-il correct et suffisant ?</a:t>
            </a:r>
          </a:p>
        </p:txBody>
      </p:sp>
      <p:sp>
        <p:nvSpPr>
          <p:cNvPr id="30" name="TextBox 29"/>
          <p:cNvSpPr txBox="1"/>
          <p:nvPr/>
        </p:nvSpPr>
        <p:spPr>
          <a:xfrm>
            <a:off x="640080" y="4892040"/>
            <a:ext cx="10927080" cy="1280160"/>
          </a:xfrm>
          <a:prstGeom prst="rect">
            <a:avLst/>
          </a:prstGeom>
          <a:noFill/>
        </p:spPr>
        <p:txBody>
          <a:bodyPr wrap="square">
            <a:spAutoFit/>
          </a:bodyPr>
          <a:lstStyle/>
          <a:p>
            <a:pPr algn="l"/>
            <a:r>
              <a:rPr sz="1050" b="0" i="0">
                <a:solidFill>
                  <a:srgbClr val="1E293B"/>
                </a:solidFill>
                <a:latin typeface="Calibri"/>
              </a:rPr>
              <a:t>Oui pour ce projet : 7 043 clients, des données propres (seulement 11 valeurs manquantes dans TotalCharges, aucun doublon) et des variables directement liées au problème (contrat, ancienneté, prix). Sa principale limite : il n'y a aucun historique de comportement (appels au support, retards de paiement, réclamations), qui serait sûrement très prédictif. Un volume plus grand aurait aussi aidé le modèle à mieux généraliser sur les profils rares.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Analyse exploratoire des données (EDA)</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04 — Ce que j'ai remarqué avant de modéliser</a:t>
            </a:r>
          </a:p>
        </p:txBody>
      </p:sp>
      <p:sp>
        <p:nvSpPr>
          <p:cNvPr id="5" name="TextBox 4"/>
          <p:cNvSpPr txBox="1"/>
          <p:nvPr/>
        </p:nvSpPr>
        <p:spPr>
          <a:xfrm>
            <a:off x="457200" y="1051560"/>
            <a:ext cx="11247120" cy="566928"/>
          </a:xfrm>
          <a:prstGeom prst="rect">
            <a:avLst/>
          </a:prstGeom>
          <a:noFill/>
        </p:spPr>
        <p:txBody>
          <a:bodyPr wrap="square">
            <a:spAutoFit/>
          </a:bodyPr>
          <a:lstStyle/>
          <a:p>
            <a:pPr algn="l"/>
            <a:r>
              <a:rPr sz="1050" b="0" i="0">
                <a:solidFill>
                  <a:srgbClr val="64748B"/>
                </a:solidFill>
                <a:latin typeface="Calibri"/>
              </a:rPr>
              <a:t>L'EDA (Exploratory Data Analysis = analyse exploratoire des données) consiste à regarder les données sous toutes les coutures avant de construire un modèle : distributions, comparaisons entre clients partis et restés, corrélations. Voici mes observations principales (notebook 02, et visibles dans le dashboard) :</a:t>
            </a:r>
          </a:p>
        </p:txBody>
      </p:sp>
      <p:sp>
        <p:nvSpPr>
          <p:cNvPr id="6" name="Rectangle 5"/>
          <p:cNvSpPr/>
          <p:nvPr/>
        </p:nvSpPr>
        <p:spPr>
          <a:xfrm>
            <a:off x="457200" y="1691640"/>
            <a:ext cx="73152" cy="71323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11064240" cy="7132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64792"/>
            <a:ext cx="2194560" cy="548640"/>
          </a:xfrm>
          <a:prstGeom prst="rect">
            <a:avLst/>
          </a:prstGeom>
          <a:noFill/>
        </p:spPr>
        <p:txBody>
          <a:bodyPr wrap="square">
            <a:spAutoFit/>
          </a:bodyPr>
          <a:lstStyle/>
          <a:p>
            <a:pPr algn="l"/>
            <a:r>
              <a:rPr sz="1200" b="1" i="0">
                <a:solidFill>
                  <a:srgbClr val="0F172A"/>
                </a:solidFill>
                <a:latin typeface="Calibri"/>
              </a:rPr>
              <a:t>Type de contrat</a:t>
            </a:r>
          </a:p>
        </p:txBody>
      </p:sp>
      <p:sp>
        <p:nvSpPr>
          <p:cNvPr id="9" name="TextBox 8"/>
          <p:cNvSpPr txBox="1"/>
          <p:nvPr/>
        </p:nvSpPr>
        <p:spPr>
          <a:xfrm>
            <a:off x="3063240" y="1737360"/>
            <a:ext cx="8549640" cy="640080"/>
          </a:xfrm>
          <a:prstGeom prst="rect">
            <a:avLst/>
          </a:prstGeom>
          <a:noFill/>
        </p:spPr>
        <p:txBody>
          <a:bodyPr wrap="square">
            <a:spAutoFit/>
          </a:bodyPr>
          <a:lstStyle/>
          <a:p>
            <a:pPr algn="l"/>
            <a:r>
              <a:rPr sz="1050" b="0" i="0">
                <a:solidFill>
                  <a:srgbClr val="1E293B"/>
                </a:solidFill>
                <a:latin typeface="Calibri"/>
              </a:rPr>
              <a:t>On remarque qu'un client en contrat mensuel résilie beaucoup plus souvent (42 % de churn) qu'un client engagé sur 1 an (11 %) ou 2 ans (3 %). L'engagement contractuel protège fortement contre le départ.</a:t>
            </a:r>
          </a:p>
        </p:txBody>
      </p:sp>
      <p:sp>
        <p:nvSpPr>
          <p:cNvPr id="10" name="Rectangle 9"/>
          <p:cNvSpPr/>
          <p:nvPr/>
        </p:nvSpPr>
        <p:spPr>
          <a:xfrm>
            <a:off x="457200" y="2478024"/>
            <a:ext cx="73152" cy="71323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78024"/>
            <a:ext cx="11064240" cy="7132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551176"/>
            <a:ext cx="2194560" cy="548640"/>
          </a:xfrm>
          <a:prstGeom prst="rect">
            <a:avLst/>
          </a:prstGeom>
          <a:noFill/>
        </p:spPr>
        <p:txBody>
          <a:bodyPr wrap="square">
            <a:spAutoFit/>
          </a:bodyPr>
          <a:lstStyle/>
          <a:p>
            <a:pPr algn="l"/>
            <a:r>
              <a:rPr sz="1200" b="1" i="0">
                <a:solidFill>
                  <a:srgbClr val="0F172A"/>
                </a:solidFill>
                <a:latin typeface="Calibri"/>
              </a:rPr>
              <a:t>Ancienneté</a:t>
            </a:r>
          </a:p>
        </p:txBody>
      </p:sp>
      <p:sp>
        <p:nvSpPr>
          <p:cNvPr id="13" name="TextBox 12"/>
          <p:cNvSpPr txBox="1"/>
          <p:nvPr/>
        </p:nvSpPr>
        <p:spPr>
          <a:xfrm>
            <a:off x="3063240" y="2523744"/>
            <a:ext cx="8549640" cy="640080"/>
          </a:xfrm>
          <a:prstGeom prst="rect">
            <a:avLst/>
          </a:prstGeom>
          <a:noFill/>
        </p:spPr>
        <p:txBody>
          <a:bodyPr wrap="square">
            <a:spAutoFit/>
          </a:bodyPr>
          <a:lstStyle/>
          <a:p>
            <a:pPr algn="l"/>
            <a:r>
              <a:rPr sz="1050" b="0" i="0">
                <a:solidFill>
                  <a:srgbClr val="1E293B"/>
                </a:solidFill>
                <a:latin typeface="Calibri"/>
              </a:rPr>
              <a:t>Les clients qui résilient partent surtout durant les 12 premiers mois : la période d'arrivée est le moment le plus critique, c'est là qu'il faut soigner la relation.</a:t>
            </a:r>
          </a:p>
        </p:txBody>
      </p:sp>
      <p:sp>
        <p:nvSpPr>
          <p:cNvPr id="14" name="Rectangle 13"/>
          <p:cNvSpPr/>
          <p:nvPr/>
        </p:nvSpPr>
        <p:spPr>
          <a:xfrm>
            <a:off x="457200" y="3264408"/>
            <a:ext cx="73152" cy="7132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264408"/>
            <a:ext cx="11064240" cy="7132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337560"/>
            <a:ext cx="2194560" cy="548640"/>
          </a:xfrm>
          <a:prstGeom prst="rect">
            <a:avLst/>
          </a:prstGeom>
          <a:noFill/>
        </p:spPr>
        <p:txBody>
          <a:bodyPr wrap="square">
            <a:spAutoFit/>
          </a:bodyPr>
          <a:lstStyle/>
          <a:p>
            <a:pPr algn="l"/>
            <a:r>
              <a:rPr sz="1200" b="1" i="0">
                <a:solidFill>
                  <a:srgbClr val="0F172A"/>
                </a:solidFill>
                <a:latin typeface="Calibri"/>
              </a:rPr>
              <a:t>Service internet</a:t>
            </a:r>
          </a:p>
        </p:txBody>
      </p:sp>
      <p:sp>
        <p:nvSpPr>
          <p:cNvPr id="17" name="TextBox 16"/>
          <p:cNvSpPr txBox="1"/>
          <p:nvPr/>
        </p:nvSpPr>
        <p:spPr>
          <a:xfrm>
            <a:off x="3063240" y="3310128"/>
            <a:ext cx="8549640" cy="640080"/>
          </a:xfrm>
          <a:prstGeom prst="rect">
            <a:avLst/>
          </a:prstGeom>
          <a:noFill/>
        </p:spPr>
        <p:txBody>
          <a:bodyPr wrap="square">
            <a:spAutoFit/>
          </a:bodyPr>
          <a:lstStyle/>
          <a:p>
            <a:pPr algn="l"/>
            <a:r>
              <a:rPr sz="1050" b="0" i="0">
                <a:solidFill>
                  <a:srgbClr val="1E293B"/>
                </a:solidFill>
                <a:latin typeface="Calibri"/>
              </a:rPr>
              <a:t>Les clients en fibre optique résilient bien plus (42 %) que ceux en DSL (19 %) ou sans internet (7 %), probablement à cause d'un prix plus élevé et d'une concurrence plus forte sur ce segment.</a:t>
            </a:r>
          </a:p>
        </p:txBody>
      </p:sp>
      <p:sp>
        <p:nvSpPr>
          <p:cNvPr id="18" name="Rectangle 17"/>
          <p:cNvSpPr/>
          <p:nvPr/>
        </p:nvSpPr>
        <p:spPr>
          <a:xfrm>
            <a:off x="457200" y="4050791"/>
            <a:ext cx="73152" cy="7132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050791"/>
            <a:ext cx="11064240" cy="7132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23944"/>
            <a:ext cx="2194560" cy="548640"/>
          </a:xfrm>
          <a:prstGeom prst="rect">
            <a:avLst/>
          </a:prstGeom>
          <a:noFill/>
        </p:spPr>
        <p:txBody>
          <a:bodyPr wrap="square">
            <a:spAutoFit/>
          </a:bodyPr>
          <a:lstStyle/>
          <a:p>
            <a:pPr algn="l"/>
            <a:r>
              <a:rPr sz="1200" b="1" i="0">
                <a:solidFill>
                  <a:srgbClr val="0F172A"/>
                </a:solidFill>
                <a:latin typeface="Calibri"/>
              </a:rPr>
              <a:t>Frais mensuels</a:t>
            </a:r>
          </a:p>
        </p:txBody>
      </p:sp>
      <p:sp>
        <p:nvSpPr>
          <p:cNvPr id="21" name="TextBox 20"/>
          <p:cNvSpPr txBox="1"/>
          <p:nvPr/>
        </p:nvSpPr>
        <p:spPr>
          <a:xfrm>
            <a:off x="3063240" y="4096511"/>
            <a:ext cx="8549640" cy="640080"/>
          </a:xfrm>
          <a:prstGeom prst="rect">
            <a:avLst/>
          </a:prstGeom>
          <a:noFill/>
        </p:spPr>
        <p:txBody>
          <a:bodyPr wrap="square">
            <a:spAutoFit/>
          </a:bodyPr>
          <a:lstStyle/>
          <a:p>
            <a:pPr algn="l"/>
            <a:r>
              <a:rPr sz="1050" b="0" i="0">
                <a:solidFill>
                  <a:srgbClr val="1E293B"/>
                </a:solidFill>
                <a:latin typeface="Calibri"/>
              </a:rPr>
              <a:t>Les clients résiliés paient en moyenne plus cher par mois que les clients fidèles : le prix perçu comme trop élevé est un facteur de départ.</a:t>
            </a:r>
          </a:p>
        </p:txBody>
      </p:sp>
      <p:sp>
        <p:nvSpPr>
          <p:cNvPr id="22" name="Rectangle 21"/>
          <p:cNvSpPr/>
          <p:nvPr/>
        </p:nvSpPr>
        <p:spPr>
          <a:xfrm>
            <a:off x="457200" y="4837176"/>
            <a:ext cx="73152" cy="71323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837176"/>
            <a:ext cx="11064240" cy="7132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10328"/>
            <a:ext cx="2194560" cy="548640"/>
          </a:xfrm>
          <a:prstGeom prst="rect">
            <a:avLst/>
          </a:prstGeom>
          <a:noFill/>
        </p:spPr>
        <p:txBody>
          <a:bodyPr wrap="square">
            <a:spAutoFit/>
          </a:bodyPr>
          <a:lstStyle/>
          <a:p>
            <a:pPr algn="l"/>
            <a:r>
              <a:rPr sz="1200" b="1" i="0">
                <a:solidFill>
                  <a:srgbClr val="0F172A"/>
                </a:solidFill>
                <a:latin typeface="Calibri"/>
              </a:rPr>
              <a:t>Clients seniors</a:t>
            </a:r>
          </a:p>
        </p:txBody>
      </p:sp>
      <p:sp>
        <p:nvSpPr>
          <p:cNvPr id="25" name="TextBox 24"/>
          <p:cNvSpPr txBox="1"/>
          <p:nvPr/>
        </p:nvSpPr>
        <p:spPr>
          <a:xfrm>
            <a:off x="3063240" y="4882896"/>
            <a:ext cx="8549640" cy="640080"/>
          </a:xfrm>
          <a:prstGeom prst="rect">
            <a:avLst/>
          </a:prstGeom>
          <a:noFill/>
        </p:spPr>
        <p:txBody>
          <a:bodyPr wrap="square">
            <a:spAutoFit/>
          </a:bodyPr>
          <a:lstStyle/>
          <a:p>
            <a:pPr algn="l"/>
            <a:r>
              <a:rPr sz="1050" b="0" i="0">
                <a:solidFill>
                  <a:srgbClr val="1E293B"/>
                </a:solidFill>
                <a:latin typeface="Calibri"/>
              </a:rPr>
              <a:t>Les seniors résilient presque deux fois plus (42 %) que les non-seniors (24 %) : un segment à cibler en priorité.</a:t>
            </a:r>
          </a:p>
        </p:txBody>
      </p:sp>
      <p:sp>
        <p:nvSpPr>
          <p:cNvPr id="26" name="Rectangle 25"/>
          <p:cNvSpPr/>
          <p:nvPr/>
        </p:nvSpPr>
        <p:spPr>
          <a:xfrm>
            <a:off x="457200" y="5623560"/>
            <a:ext cx="73152" cy="7132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5623560"/>
            <a:ext cx="11064240" cy="7132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696712"/>
            <a:ext cx="2194560" cy="548640"/>
          </a:xfrm>
          <a:prstGeom prst="rect">
            <a:avLst/>
          </a:prstGeom>
          <a:noFill/>
        </p:spPr>
        <p:txBody>
          <a:bodyPr wrap="square">
            <a:spAutoFit/>
          </a:bodyPr>
          <a:lstStyle/>
          <a:p>
            <a:pPr algn="l"/>
            <a:r>
              <a:rPr sz="1200" b="1" i="0">
                <a:solidFill>
                  <a:srgbClr val="0F172A"/>
                </a:solidFill>
                <a:latin typeface="Calibri"/>
              </a:rPr>
              <a:t>Genre</a:t>
            </a:r>
          </a:p>
        </p:txBody>
      </p:sp>
      <p:sp>
        <p:nvSpPr>
          <p:cNvPr id="29" name="TextBox 28"/>
          <p:cNvSpPr txBox="1"/>
          <p:nvPr/>
        </p:nvSpPr>
        <p:spPr>
          <a:xfrm>
            <a:off x="3063240" y="5669280"/>
            <a:ext cx="8549640" cy="640080"/>
          </a:xfrm>
          <a:prstGeom prst="rect">
            <a:avLst/>
          </a:prstGeom>
          <a:noFill/>
        </p:spPr>
        <p:txBody>
          <a:bodyPr wrap="square">
            <a:spAutoFit/>
          </a:bodyPr>
          <a:lstStyle/>
          <a:p>
            <a:pPr algn="l"/>
            <a:r>
              <a:rPr sz="1050" b="0" i="0">
                <a:solidFill>
                  <a:srgbClr val="1E293B"/>
                </a:solidFill>
                <a:latin typeface="Calibri"/>
              </a:rPr>
              <a:t>Aucune différence significative entre hommes et femmes : le genre n'est pas un facteur prédictif utile ici.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Préparation des données (preprocessing)</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05 — Chaque étape et pourquoi je l'ai faite</a:t>
            </a:r>
          </a:p>
        </p:txBody>
      </p:sp>
      <p:sp>
        <p:nvSpPr>
          <p:cNvPr id="5" name="Rectangle 4"/>
          <p:cNvSpPr/>
          <p:nvPr/>
        </p:nvSpPr>
        <p:spPr>
          <a:xfrm>
            <a:off x="457200" y="1115568"/>
            <a:ext cx="347472"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15568"/>
            <a:ext cx="347472" cy="347472"/>
          </a:xfrm>
          <a:prstGeom prst="rect">
            <a:avLst/>
          </a:prstGeom>
          <a:noFill/>
        </p:spPr>
        <p:txBody>
          <a:bodyPr wrap="square">
            <a:spAutoFit/>
          </a:bodyPr>
          <a:lstStyle/>
          <a:p>
            <a:pPr algn="ctr"/>
            <a:r>
              <a:rPr sz="1300" b="1" i="0">
                <a:solidFill>
                  <a:srgbClr val="FFFFFF"/>
                </a:solidFill>
                <a:latin typeface="Calibri"/>
              </a:rPr>
              <a:t>1</a:t>
            </a:r>
          </a:p>
        </p:txBody>
      </p:sp>
      <p:sp>
        <p:nvSpPr>
          <p:cNvPr id="7" name="TextBox 6"/>
          <p:cNvSpPr txBox="1"/>
          <p:nvPr/>
        </p:nvSpPr>
        <p:spPr>
          <a:xfrm>
            <a:off x="960120" y="1097280"/>
            <a:ext cx="10698480" cy="320040"/>
          </a:xfrm>
          <a:prstGeom prst="rect">
            <a:avLst/>
          </a:prstGeom>
          <a:noFill/>
        </p:spPr>
        <p:txBody>
          <a:bodyPr wrap="square">
            <a:spAutoFit/>
          </a:bodyPr>
          <a:lstStyle/>
          <a:p>
            <a:pPr algn="l"/>
            <a:r>
              <a:rPr sz="1200" b="1" i="0">
                <a:solidFill>
                  <a:srgbClr val="0F172A"/>
                </a:solidFill>
                <a:latin typeface="Calibri"/>
              </a:rPr>
              <a:t>TotalCharges converti en nombre</a:t>
            </a:r>
          </a:p>
        </p:txBody>
      </p:sp>
      <p:sp>
        <p:nvSpPr>
          <p:cNvPr id="8" name="TextBox 7"/>
          <p:cNvSpPr txBox="1"/>
          <p:nvPr/>
        </p:nvSpPr>
        <p:spPr>
          <a:xfrm>
            <a:off x="960120" y="1389888"/>
            <a:ext cx="10698480" cy="548640"/>
          </a:xfrm>
          <a:prstGeom prst="rect">
            <a:avLst/>
          </a:prstGeom>
          <a:noFill/>
        </p:spPr>
        <p:txBody>
          <a:bodyPr wrap="square">
            <a:spAutoFit/>
          </a:bodyPr>
          <a:lstStyle/>
          <a:p>
            <a:pPr algn="l"/>
            <a:r>
              <a:rPr sz="1000" b="0" i="0">
                <a:solidFill>
                  <a:srgbClr val="64748B"/>
                </a:solidFill>
                <a:latin typeface="Calibri"/>
              </a:rPr>
              <a:t>Cette colonne était stockée en texte, et 11 clients tout juste arrivés avaient un espace vide à la place d'un montant. Je l'ai convertie en nombre et remplacé les vides par 0 : ils n'ont encore rien payé.</a:t>
            </a:r>
          </a:p>
        </p:txBody>
      </p:sp>
      <p:sp>
        <p:nvSpPr>
          <p:cNvPr id="9" name="Rectangle 8"/>
          <p:cNvSpPr/>
          <p:nvPr/>
        </p:nvSpPr>
        <p:spPr>
          <a:xfrm>
            <a:off x="457200" y="1901952"/>
            <a:ext cx="347472"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01952"/>
            <a:ext cx="347472" cy="347472"/>
          </a:xfrm>
          <a:prstGeom prst="rect">
            <a:avLst/>
          </a:prstGeom>
          <a:noFill/>
        </p:spPr>
        <p:txBody>
          <a:bodyPr wrap="square">
            <a:spAutoFit/>
          </a:bodyPr>
          <a:lstStyle/>
          <a:p>
            <a:pPr algn="ctr"/>
            <a:r>
              <a:rPr sz="1300" b="1" i="0">
                <a:solidFill>
                  <a:srgbClr val="FFFFFF"/>
                </a:solidFill>
                <a:latin typeface="Calibri"/>
              </a:rPr>
              <a:t>2</a:t>
            </a:r>
          </a:p>
        </p:txBody>
      </p:sp>
      <p:sp>
        <p:nvSpPr>
          <p:cNvPr id="11" name="TextBox 10"/>
          <p:cNvSpPr txBox="1"/>
          <p:nvPr/>
        </p:nvSpPr>
        <p:spPr>
          <a:xfrm>
            <a:off x="960120" y="1883664"/>
            <a:ext cx="10698480" cy="320040"/>
          </a:xfrm>
          <a:prstGeom prst="rect">
            <a:avLst/>
          </a:prstGeom>
          <a:noFill/>
        </p:spPr>
        <p:txBody>
          <a:bodyPr wrap="square">
            <a:spAutoFit/>
          </a:bodyPr>
          <a:lstStyle/>
          <a:p>
            <a:pPr algn="l"/>
            <a:r>
              <a:rPr sz="1200" b="1" i="0">
                <a:solidFill>
                  <a:srgbClr val="0F172A"/>
                </a:solidFill>
                <a:latin typeface="Calibri"/>
              </a:rPr>
              <a:t>Suppression de customerID</a:t>
            </a:r>
          </a:p>
        </p:txBody>
      </p:sp>
      <p:sp>
        <p:nvSpPr>
          <p:cNvPr id="12" name="TextBox 11"/>
          <p:cNvSpPr txBox="1"/>
          <p:nvPr/>
        </p:nvSpPr>
        <p:spPr>
          <a:xfrm>
            <a:off x="960120" y="2176272"/>
            <a:ext cx="10698480" cy="548640"/>
          </a:xfrm>
          <a:prstGeom prst="rect">
            <a:avLst/>
          </a:prstGeom>
          <a:noFill/>
        </p:spPr>
        <p:txBody>
          <a:bodyPr wrap="square">
            <a:spAutoFit/>
          </a:bodyPr>
          <a:lstStyle/>
          <a:p>
            <a:pPr algn="l"/>
            <a:r>
              <a:rPr sz="1000" b="0" i="0">
                <a:solidFill>
                  <a:srgbClr val="64748B"/>
                </a:solidFill>
                <a:latin typeface="Calibri"/>
              </a:rPr>
              <a:t>C'est un identifiant unique par client : il n'apporte aucune information pour prédire, et un modèle pourrait s'en servir pour « apprendre par cœur » chaque client.</a:t>
            </a:r>
          </a:p>
        </p:txBody>
      </p:sp>
      <p:sp>
        <p:nvSpPr>
          <p:cNvPr id="13" name="Rectangle 12"/>
          <p:cNvSpPr/>
          <p:nvPr/>
        </p:nvSpPr>
        <p:spPr>
          <a:xfrm>
            <a:off x="457200" y="2688336"/>
            <a:ext cx="347472"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688336"/>
            <a:ext cx="347472" cy="347472"/>
          </a:xfrm>
          <a:prstGeom prst="rect">
            <a:avLst/>
          </a:prstGeom>
          <a:noFill/>
        </p:spPr>
        <p:txBody>
          <a:bodyPr wrap="square">
            <a:spAutoFit/>
          </a:bodyPr>
          <a:lstStyle/>
          <a:p>
            <a:pPr algn="ctr"/>
            <a:r>
              <a:rPr sz="1300" b="1" i="0">
                <a:solidFill>
                  <a:srgbClr val="FFFFFF"/>
                </a:solidFill>
                <a:latin typeface="Calibri"/>
              </a:rPr>
              <a:t>3</a:t>
            </a:r>
          </a:p>
        </p:txBody>
      </p:sp>
      <p:sp>
        <p:nvSpPr>
          <p:cNvPr id="15" name="TextBox 14"/>
          <p:cNvSpPr txBox="1"/>
          <p:nvPr/>
        </p:nvSpPr>
        <p:spPr>
          <a:xfrm>
            <a:off x="960120" y="2670048"/>
            <a:ext cx="10698480" cy="320040"/>
          </a:xfrm>
          <a:prstGeom prst="rect">
            <a:avLst/>
          </a:prstGeom>
          <a:noFill/>
        </p:spPr>
        <p:txBody>
          <a:bodyPr wrap="square">
            <a:spAutoFit/>
          </a:bodyPr>
          <a:lstStyle/>
          <a:p>
            <a:pPr algn="l"/>
            <a:r>
              <a:rPr sz="1200" b="1" i="0">
                <a:solidFill>
                  <a:srgbClr val="0F172A"/>
                </a:solidFill>
                <a:latin typeface="Calibri"/>
              </a:rPr>
              <a:t>Encodage de la cible et des colonnes Oui/Non</a:t>
            </a:r>
          </a:p>
        </p:txBody>
      </p:sp>
      <p:sp>
        <p:nvSpPr>
          <p:cNvPr id="16" name="TextBox 15"/>
          <p:cNvSpPr txBox="1"/>
          <p:nvPr/>
        </p:nvSpPr>
        <p:spPr>
          <a:xfrm>
            <a:off x="960120" y="2962656"/>
            <a:ext cx="10698480" cy="548640"/>
          </a:xfrm>
          <a:prstGeom prst="rect">
            <a:avLst/>
          </a:prstGeom>
          <a:noFill/>
        </p:spPr>
        <p:txBody>
          <a:bodyPr wrap="square">
            <a:spAutoFit/>
          </a:bodyPr>
          <a:lstStyle/>
          <a:p>
            <a:pPr algn="l"/>
            <a:r>
              <a:rPr sz="1000" b="0" i="0">
                <a:solidFill>
                  <a:srgbClr val="64748B"/>
                </a:solidFill>
                <a:latin typeface="Calibri"/>
              </a:rPr>
              <a:t>Churn, Partner, Dependents, PhoneService… passent de Yes/No à 1/0, parce qu'un modèle ne travaille qu'avec des nombres.</a:t>
            </a:r>
          </a:p>
        </p:txBody>
      </p:sp>
      <p:sp>
        <p:nvSpPr>
          <p:cNvPr id="17" name="Rectangle 16"/>
          <p:cNvSpPr/>
          <p:nvPr/>
        </p:nvSpPr>
        <p:spPr>
          <a:xfrm>
            <a:off x="457200" y="3474720"/>
            <a:ext cx="347472" cy="3474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74720"/>
            <a:ext cx="347472" cy="347472"/>
          </a:xfrm>
          <a:prstGeom prst="rect">
            <a:avLst/>
          </a:prstGeom>
          <a:noFill/>
        </p:spPr>
        <p:txBody>
          <a:bodyPr wrap="square">
            <a:spAutoFit/>
          </a:bodyPr>
          <a:lstStyle/>
          <a:p>
            <a:pPr algn="ctr"/>
            <a:r>
              <a:rPr sz="1300" b="1" i="0">
                <a:solidFill>
                  <a:srgbClr val="FFFFFF"/>
                </a:solidFill>
                <a:latin typeface="Calibri"/>
              </a:rPr>
              <a:t>4</a:t>
            </a:r>
          </a:p>
        </p:txBody>
      </p:sp>
      <p:sp>
        <p:nvSpPr>
          <p:cNvPr id="19" name="TextBox 18"/>
          <p:cNvSpPr txBox="1"/>
          <p:nvPr/>
        </p:nvSpPr>
        <p:spPr>
          <a:xfrm>
            <a:off x="960120" y="3456432"/>
            <a:ext cx="10698480" cy="320040"/>
          </a:xfrm>
          <a:prstGeom prst="rect">
            <a:avLst/>
          </a:prstGeom>
          <a:noFill/>
        </p:spPr>
        <p:txBody>
          <a:bodyPr wrap="square">
            <a:spAutoFit/>
          </a:bodyPr>
          <a:lstStyle/>
          <a:p>
            <a:pPr algn="l"/>
            <a:r>
              <a:rPr sz="1200" b="1" i="0">
                <a:solidFill>
                  <a:srgbClr val="0F172A"/>
                </a:solidFill>
                <a:latin typeface="Calibri"/>
              </a:rPr>
              <a:t>One-Hot Encoding des colonnes à plusieurs valeurs</a:t>
            </a:r>
          </a:p>
        </p:txBody>
      </p:sp>
      <p:sp>
        <p:nvSpPr>
          <p:cNvPr id="20" name="TextBox 19"/>
          <p:cNvSpPr txBox="1"/>
          <p:nvPr/>
        </p:nvSpPr>
        <p:spPr>
          <a:xfrm>
            <a:off x="960120" y="3749039"/>
            <a:ext cx="10698480" cy="548640"/>
          </a:xfrm>
          <a:prstGeom prst="rect">
            <a:avLst/>
          </a:prstGeom>
          <a:noFill/>
        </p:spPr>
        <p:txBody>
          <a:bodyPr wrap="square">
            <a:spAutoFit/>
          </a:bodyPr>
          <a:lstStyle/>
          <a:p>
            <a:pPr algn="l"/>
            <a:r>
              <a:rPr sz="1000" b="0" i="0">
                <a:solidFill>
                  <a:srgbClr val="64748B"/>
                </a:solidFill>
                <a:latin typeface="Calibri"/>
              </a:rPr>
              <a:t>Pour Contract (mensuel / 1 an / 2 ans), InternetService, PaymentMethod…, je crée une colonne 0/1 par valeur. drop_first=True retire une colonne redondante (si je connais les autres, je devine la dernière) pour éviter la colinéarité.</a:t>
            </a:r>
          </a:p>
        </p:txBody>
      </p:sp>
      <p:sp>
        <p:nvSpPr>
          <p:cNvPr id="21" name="Rectangle 20"/>
          <p:cNvSpPr/>
          <p:nvPr/>
        </p:nvSpPr>
        <p:spPr>
          <a:xfrm>
            <a:off x="457200" y="4261104"/>
            <a:ext cx="347472"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261104"/>
            <a:ext cx="347472" cy="347472"/>
          </a:xfrm>
          <a:prstGeom prst="rect">
            <a:avLst/>
          </a:prstGeom>
          <a:noFill/>
        </p:spPr>
        <p:txBody>
          <a:bodyPr wrap="square">
            <a:spAutoFit/>
          </a:bodyPr>
          <a:lstStyle/>
          <a:p>
            <a:pPr algn="ctr"/>
            <a:r>
              <a:rPr sz="1300" b="1" i="0">
                <a:solidFill>
                  <a:srgbClr val="FFFFFF"/>
                </a:solidFill>
                <a:latin typeface="Calibri"/>
              </a:rPr>
              <a:t>5</a:t>
            </a:r>
          </a:p>
        </p:txBody>
      </p:sp>
      <p:sp>
        <p:nvSpPr>
          <p:cNvPr id="23" name="TextBox 22"/>
          <p:cNvSpPr txBox="1"/>
          <p:nvPr/>
        </p:nvSpPr>
        <p:spPr>
          <a:xfrm>
            <a:off x="960120" y="4242816"/>
            <a:ext cx="10698480" cy="320040"/>
          </a:xfrm>
          <a:prstGeom prst="rect">
            <a:avLst/>
          </a:prstGeom>
          <a:noFill/>
        </p:spPr>
        <p:txBody>
          <a:bodyPr wrap="square">
            <a:spAutoFit/>
          </a:bodyPr>
          <a:lstStyle/>
          <a:p>
            <a:pPr algn="l"/>
            <a:r>
              <a:rPr sz="1200" b="1" i="0">
                <a:solidFill>
                  <a:srgbClr val="0F172A"/>
                </a:solidFill>
                <a:latin typeface="Calibri"/>
              </a:rPr>
              <a:t>Normalisation avec StandardScaler</a:t>
            </a:r>
          </a:p>
        </p:txBody>
      </p:sp>
      <p:sp>
        <p:nvSpPr>
          <p:cNvPr id="24" name="TextBox 23"/>
          <p:cNvSpPr txBox="1"/>
          <p:nvPr/>
        </p:nvSpPr>
        <p:spPr>
          <a:xfrm>
            <a:off x="960120" y="4535424"/>
            <a:ext cx="10698480" cy="548640"/>
          </a:xfrm>
          <a:prstGeom prst="rect">
            <a:avLst/>
          </a:prstGeom>
          <a:noFill/>
        </p:spPr>
        <p:txBody>
          <a:bodyPr wrap="square">
            <a:spAutoFit/>
          </a:bodyPr>
          <a:lstStyle/>
          <a:p>
            <a:pPr algn="l"/>
            <a:r>
              <a:rPr sz="1000" b="0" i="0">
                <a:solidFill>
                  <a:srgbClr val="64748B"/>
                </a:solidFill>
                <a:latin typeface="Calibri"/>
              </a:rPr>
              <a:t>Je mets tenure, MonthlyCharges et TotalCharges à la même échelle (moyenne 0, écart-type 1). Sans ça, TotalCharges (jusqu'à 8 000) écraserait les autres variables dans les modèles linéaires. Le même scaler est réutilisé par l'API.</a:t>
            </a:r>
          </a:p>
        </p:txBody>
      </p:sp>
      <p:sp>
        <p:nvSpPr>
          <p:cNvPr id="25" name="Rectangle 24"/>
          <p:cNvSpPr/>
          <p:nvPr/>
        </p:nvSpPr>
        <p:spPr>
          <a:xfrm>
            <a:off x="457200" y="5047488"/>
            <a:ext cx="347472" cy="3474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047488"/>
            <a:ext cx="347472" cy="347472"/>
          </a:xfrm>
          <a:prstGeom prst="rect">
            <a:avLst/>
          </a:prstGeom>
          <a:noFill/>
        </p:spPr>
        <p:txBody>
          <a:bodyPr wrap="square">
            <a:spAutoFit/>
          </a:bodyPr>
          <a:lstStyle/>
          <a:p>
            <a:pPr algn="ctr"/>
            <a:r>
              <a:rPr sz="1300" b="1" i="0">
                <a:solidFill>
                  <a:srgbClr val="FFFFFF"/>
                </a:solidFill>
                <a:latin typeface="Calibri"/>
              </a:rPr>
              <a:t>6</a:t>
            </a:r>
          </a:p>
        </p:txBody>
      </p:sp>
      <p:sp>
        <p:nvSpPr>
          <p:cNvPr id="27" name="TextBox 26"/>
          <p:cNvSpPr txBox="1"/>
          <p:nvPr/>
        </p:nvSpPr>
        <p:spPr>
          <a:xfrm>
            <a:off x="960120" y="5029200"/>
            <a:ext cx="10698480" cy="320040"/>
          </a:xfrm>
          <a:prstGeom prst="rect">
            <a:avLst/>
          </a:prstGeom>
          <a:noFill/>
        </p:spPr>
        <p:txBody>
          <a:bodyPr wrap="square">
            <a:spAutoFit/>
          </a:bodyPr>
          <a:lstStyle/>
          <a:p>
            <a:pPr algn="l"/>
            <a:r>
              <a:rPr sz="1200" b="1" i="0">
                <a:solidFill>
                  <a:srgbClr val="0F172A"/>
                </a:solidFill>
                <a:latin typeface="Calibri"/>
              </a:rPr>
              <a:t>Découpage stratifié 80 % / 20 %</a:t>
            </a:r>
          </a:p>
        </p:txBody>
      </p:sp>
      <p:sp>
        <p:nvSpPr>
          <p:cNvPr id="28" name="TextBox 27"/>
          <p:cNvSpPr txBox="1"/>
          <p:nvPr/>
        </p:nvSpPr>
        <p:spPr>
          <a:xfrm>
            <a:off x="960120" y="5321807"/>
            <a:ext cx="10698480" cy="548640"/>
          </a:xfrm>
          <a:prstGeom prst="rect">
            <a:avLst/>
          </a:prstGeom>
          <a:noFill/>
        </p:spPr>
        <p:txBody>
          <a:bodyPr wrap="square">
            <a:spAutoFit/>
          </a:bodyPr>
          <a:lstStyle/>
          <a:p>
            <a:pPr algn="l"/>
            <a:r>
              <a:rPr sz="1000" b="0" i="0">
                <a:solidFill>
                  <a:srgbClr val="64748B"/>
                </a:solidFill>
                <a:latin typeface="Calibri"/>
              </a:rPr>
              <a:t>80 % des clients servent à entraîner, 20 % à tester sur des clients jamais vus. « Stratifié » = je garde la même proportion de churn (26,5 %) dans les deux parties. random_state=42 rend le découpage reproductible.</a:t>
            </a:r>
          </a:p>
        </p:txBody>
      </p:sp>
      <p:sp>
        <p:nvSpPr>
          <p:cNvPr id="29" name="Rectangle 28"/>
          <p:cNvSpPr/>
          <p:nvPr/>
        </p:nvSpPr>
        <p:spPr>
          <a:xfrm>
            <a:off x="457200" y="5870448"/>
            <a:ext cx="11247120" cy="47548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943600"/>
            <a:ext cx="11247120" cy="347472"/>
          </a:xfrm>
          <a:prstGeom prst="rect">
            <a:avLst/>
          </a:prstGeom>
          <a:noFill/>
        </p:spPr>
        <p:txBody>
          <a:bodyPr wrap="square">
            <a:spAutoFit/>
          </a:bodyPr>
          <a:lstStyle/>
          <a:p>
            <a:pPr algn="ctr"/>
            <a:r>
              <a:rPr sz="1200" b="1" i="0">
                <a:solidFill>
                  <a:srgbClr val="FFFFFF"/>
                </a:solidFill>
                <a:latin typeface="Calibri"/>
              </a:rPr>
              <a:t>Résultat : 30 features (= variables d'entrée du modèle) · 5 634 clients pour l'entraînement · 1 409 pour le test</a:t>
            </a:r>
          </a:p>
        </p:txBody>
      </p:sp>
      <p:sp>
        <p:nvSpPr>
          <p:cNvPr id="31" name="TextBox 30"/>
          <p:cNvSpPr txBox="1"/>
          <p:nvPr/>
        </p:nvSpPr>
        <p:spPr>
          <a:xfrm>
            <a:off x="457200" y="6492240"/>
            <a:ext cx="11247120" cy="292608"/>
          </a:xfrm>
          <a:prstGeom prst="rect">
            <a:avLst/>
          </a:prstGeom>
          <a:noFill/>
        </p:spPr>
        <p:txBody>
          <a:bodyPr wrap="square">
            <a:spAutoFit/>
          </a:bodyPr>
          <a:lstStyle/>
          <a:p>
            <a:pPr algn="ctr"/>
            <a:r>
              <a:rPr sz="1000" b="0" i="1">
                <a:solidFill>
                  <a:srgbClr val="64748B"/>
                </a:solidFill>
                <a:latin typeface="Calibri"/>
              </a:rPr>
              <a:t>Toutes ces étapes sont des fonctions de src/preprocessing.py, chacune couverte par un test unitaire.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Les modèles que j'ai testés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06 — Du plus simple au plus complexe</a:t>
            </a:r>
          </a:p>
        </p:txBody>
      </p:sp>
      <p:sp>
        <p:nvSpPr>
          <p:cNvPr id="5" name="TextBox 4"/>
          <p:cNvSpPr txBox="1"/>
          <p:nvPr/>
        </p:nvSpPr>
        <p:spPr>
          <a:xfrm>
            <a:off x="457200" y="1051560"/>
            <a:ext cx="11247120" cy="548640"/>
          </a:xfrm>
          <a:prstGeom prst="rect">
            <a:avLst/>
          </a:prstGeom>
          <a:noFill/>
        </p:spPr>
        <p:txBody>
          <a:bodyPr wrap="square">
            <a:spAutoFit/>
          </a:bodyPr>
          <a:lstStyle/>
          <a:p>
            <a:pPr algn="l"/>
            <a:r>
              <a:rPr sz="1050" b="0" i="0">
                <a:solidFill>
                  <a:srgbClr val="64748B"/>
                </a:solidFill>
                <a:latin typeface="Calibri"/>
              </a:rPr>
              <a:t>J'ai testé 4 modèles de classification, tous avec class_weight='balanced' pour compenser le déséquilibre des classes. L'idée : partir d'un modèle simple qui sert de référence, puis voir si des modèles plus complexes font vraiment mieux.</a:t>
            </a:r>
          </a:p>
        </p:txBody>
      </p:sp>
      <p:sp>
        <p:nvSpPr>
          <p:cNvPr id="6" name="Rectangle 5"/>
          <p:cNvSpPr/>
          <p:nvPr/>
        </p:nvSpPr>
        <p:spPr>
          <a:xfrm>
            <a:off x="457200" y="1691640"/>
            <a:ext cx="5532120" cy="2148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91640"/>
            <a:ext cx="64008" cy="21488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5212080" cy="347472"/>
          </a:xfrm>
          <a:prstGeom prst="rect">
            <a:avLst/>
          </a:prstGeom>
          <a:noFill/>
        </p:spPr>
        <p:txBody>
          <a:bodyPr wrap="square">
            <a:spAutoFit/>
          </a:bodyPr>
          <a:lstStyle/>
          <a:p>
            <a:pPr algn="l"/>
            <a:r>
              <a:rPr sz="1250" b="1" i="0">
                <a:solidFill>
                  <a:srgbClr val="0F172A"/>
                </a:solidFill>
                <a:latin typeface="Calibri"/>
              </a:rPr>
              <a:t>Régression logistique</a:t>
            </a:r>
          </a:p>
        </p:txBody>
      </p:sp>
      <p:sp>
        <p:nvSpPr>
          <p:cNvPr id="9" name="TextBox 8"/>
          <p:cNvSpPr txBox="1"/>
          <p:nvPr/>
        </p:nvSpPr>
        <p:spPr>
          <a:xfrm>
            <a:off x="640080" y="2148840"/>
            <a:ext cx="5212080" cy="1600200"/>
          </a:xfrm>
          <a:prstGeom prst="rect">
            <a:avLst/>
          </a:prstGeom>
          <a:noFill/>
        </p:spPr>
        <p:txBody>
          <a:bodyPr wrap="square">
            <a:spAutoFit/>
          </a:bodyPr>
          <a:lstStyle/>
          <a:p>
            <a:pPr algn="l"/>
            <a:r>
              <a:rPr sz="1050" b="0" i="0">
                <a:solidFill>
                  <a:srgbClr val="1E293B"/>
                </a:solidFill>
                <a:latin typeface="Calibri"/>
              </a:rPr>
              <a:t>Le modèle de référence pour la classification binaire. Il calcule une probabilité de churn à partir d'une combinaison pondérée des variables (une frontière linéaire). Simple, rapide et interprétable : on voit le poids de chaque variable. C'est ma base de comparaison.</a:t>
            </a:r>
          </a:p>
        </p:txBody>
      </p:sp>
      <p:sp>
        <p:nvSpPr>
          <p:cNvPr id="10" name="Rectangle 9"/>
          <p:cNvSpPr/>
          <p:nvPr/>
        </p:nvSpPr>
        <p:spPr>
          <a:xfrm>
            <a:off x="6172200" y="1691640"/>
            <a:ext cx="5532120" cy="2148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64008" cy="21488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83080"/>
            <a:ext cx="5212080" cy="347472"/>
          </a:xfrm>
          <a:prstGeom prst="rect">
            <a:avLst/>
          </a:prstGeom>
          <a:noFill/>
        </p:spPr>
        <p:txBody>
          <a:bodyPr wrap="square">
            <a:spAutoFit/>
          </a:bodyPr>
          <a:lstStyle/>
          <a:p>
            <a:pPr algn="l"/>
            <a:r>
              <a:rPr sz="1250" b="1" i="0">
                <a:solidFill>
                  <a:srgbClr val="0F172A"/>
                </a:solidFill>
                <a:latin typeface="Calibri"/>
              </a:rPr>
              <a:t>Ridge Classifier</a:t>
            </a:r>
          </a:p>
        </p:txBody>
      </p:sp>
      <p:sp>
        <p:nvSpPr>
          <p:cNvPr id="13" name="TextBox 12"/>
          <p:cNvSpPr txBox="1"/>
          <p:nvPr/>
        </p:nvSpPr>
        <p:spPr>
          <a:xfrm>
            <a:off x="6355080" y="2148840"/>
            <a:ext cx="5212080" cy="1600200"/>
          </a:xfrm>
          <a:prstGeom prst="rect">
            <a:avLst/>
          </a:prstGeom>
          <a:noFill/>
        </p:spPr>
        <p:txBody>
          <a:bodyPr wrap="square">
            <a:spAutoFit/>
          </a:bodyPr>
          <a:lstStyle/>
          <a:p>
            <a:pPr algn="l"/>
            <a:r>
              <a:rPr sz="1050" b="0" i="0">
                <a:solidFill>
                  <a:srgbClr val="1E293B"/>
                </a:solidFill>
                <a:latin typeface="Calibri"/>
              </a:rPr>
              <a:t>Un modèle linéaire avec une régularisation L2 (= une pénalité qui empêche les coefficients de devenir trop grands, pour limiter le surapprentissage). Je l'ai testé pour vérifier si cette pénalité améliorait la généralisation par rapport à la régression logistique.</a:t>
            </a:r>
          </a:p>
        </p:txBody>
      </p:sp>
      <p:sp>
        <p:nvSpPr>
          <p:cNvPr id="14" name="Rectangle 13"/>
          <p:cNvSpPr/>
          <p:nvPr/>
        </p:nvSpPr>
        <p:spPr>
          <a:xfrm>
            <a:off x="457200" y="3977639"/>
            <a:ext cx="5532120" cy="2148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77639"/>
            <a:ext cx="64008" cy="2148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69079"/>
            <a:ext cx="5212080" cy="347472"/>
          </a:xfrm>
          <a:prstGeom prst="rect">
            <a:avLst/>
          </a:prstGeom>
          <a:noFill/>
        </p:spPr>
        <p:txBody>
          <a:bodyPr wrap="square">
            <a:spAutoFit/>
          </a:bodyPr>
          <a:lstStyle/>
          <a:p>
            <a:pPr algn="l"/>
            <a:r>
              <a:rPr sz="1250" b="1" i="0">
                <a:solidFill>
                  <a:srgbClr val="0F172A"/>
                </a:solidFill>
                <a:latin typeface="Calibri"/>
              </a:rPr>
              <a:t>Arbre de décision</a:t>
            </a:r>
          </a:p>
        </p:txBody>
      </p:sp>
      <p:sp>
        <p:nvSpPr>
          <p:cNvPr id="17" name="TextBox 16"/>
          <p:cNvSpPr txBox="1"/>
          <p:nvPr/>
        </p:nvSpPr>
        <p:spPr>
          <a:xfrm>
            <a:off x="640080" y="4434840"/>
            <a:ext cx="5212080" cy="1600200"/>
          </a:xfrm>
          <a:prstGeom prst="rect">
            <a:avLst/>
          </a:prstGeom>
          <a:noFill/>
        </p:spPr>
        <p:txBody>
          <a:bodyPr wrap="square">
            <a:spAutoFit/>
          </a:bodyPr>
          <a:lstStyle/>
          <a:p>
            <a:pPr algn="l"/>
            <a:r>
              <a:rPr sz="1050" b="0" i="0">
                <a:solidFill>
                  <a:srgbClr val="1E293B"/>
                </a:solidFill>
                <a:latin typeface="Calibri"/>
              </a:rPr>
              <a:t>Une suite de questions oui/non (« contrat de 2 ans ? », « fibre optique ? », « ancienneté faible ? »). Très lisible : on peut afficher les règles et les expliquer à une équipe non technique. J'ai limité sa profondeur à 4 pour qu'il reste lisible et n'apprenne pas par cœur.</a:t>
            </a:r>
          </a:p>
        </p:txBody>
      </p:sp>
      <p:sp>
        <p:nvSpPr>
          <p:cNvPr id="18" name="Rectangle 17"/>
          <p:cNvSpPr/>
          <p:nvPr/>
        </p:nvSpPr>
        <p:spPr>
          <a:xfrm>
            <a:off x="6172200" y="3977639"/>
            <a:ext cx="5532120" cy="2148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977639"/>
            <a:ext cx="64008" cy="21488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069079"/>
            <a:ext cx="5212080" cy="347472"/>
          </a:xfrm>
          <a:prstGeom prst="rect">
            <a:avLst/>
          </a:prstGeom>
          <a:noFill/>
        </p:spPr>
        <p:txBody>
          <a:bodyPr wrap="square">
            <a:spAutoFit/>
          </a:bodyPr>
          <a:lstStyle/>
          <a:p>
            <a:pPr algn="l"/>
            <a:r>
              <a:rPr sz="1250" b="1" i="0">
                <a:solidFill>
                  <a:srgbClr val="0F172A"/>
                </a:solidFill>
                <a:latin typeface="Calibri"/>
              </a:rPr>
              <a:t>Random Forest</a:t>
            </a:r>
          </a:p>
        </p:txBody>
      </p:sp>
      <p:sp>
        <p:nvSpPr>
          <p:cNvPr id="21" name="TextBox 20"/>
          <p:cNvSpPr txBox="1"/>
          <p:nvPr/>
        </p:nvSpPr>
        <p:spPr>
          <a:xfrm>
            <a:off x="6355080" y="4434840"/>
            <a:ext cx="5212080" cy="1600200"/>
          </a:xfrm>
          <a:prstGeom prst="rect">
            <a:avLst/>
          </a:prstGeom>
          <a:noFill/>
        </p:spPr>
        <p:txBody>
          <a:bodyPr wrap="square">
            <a:spAutoFit/>
          </a:bodyPr>
          <a:lstStyle/>
          <a:p>
            <a:pPr algn="l"/>
            <a:r>
              <a:rPr sz="1050" b="0" i="0">
                <a:solidFill>
                  <a:srgbClr val="1E293B"/>
                </a:solidFill>
                <a:latin typeface="Calibri"/>
              </a:rPr>
              <a:t>Une « forêt » de nombreux arbres de décision (100 puis 200), chacun entraîné sur un sous-échantillon différent, qui votent ensemble. Plus robuste qu'un seul arbre et capable de capter des interactions entre variables (ex. contrat mensuel ET faible ancienneté).</a:t>
            </a:r>
          </a:p>
        </p:txBody>
      </p:sp>
      <p:sp>
        <p:nvSpPr>
          <p:cNvPr id="22" name="TextBox 21"/>
          <p:cNvSpPr txBox="1"/>
          <p:nvPr/>
        </p:nvSpPr>
        <p:spPr>
          <a:xfrm>
            <a:off x="457200" y="6492240"/>
            <a:ext cx="11247120" cy="292608"/>
          </a:xfrm>
          <a:prstGeom prst="rect">
            <a:avLst/>
          </a:prstGeom>
          <a:noFill/>
        </p:spPr>
        <p:txBody>
          <a:bodyPr wrap="square">
            <a:spAutoFit/>
          </a:bodyPr>
          <a:lstStyle/>
          <a:p>
            <a:pPr algn="ctr"/>
            <a:r>
              <a:rPr sz="1000" b="0" i="1">
                <a:solidFill>
                  <a:srgbClr val="64748B"/>
                </a:solidFill>
                <a:latin typeface="Calibri"/>
              </a:rPr>
              <a:t>Notebook 03_models.ipynb — chaque modèle est entraîné sur les mêmes 5 634 clients et évalué sur les mêmes 1 409 clients de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Les métriques que j'ai utilisées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06 — Comment je mesure si un modèle est bon</a:t>
            </a:r>
          </a:p>
        </p:txBody>
      </p:sp>
      <p:sp>
        <p:nvSpPr>
          <p:cNvPr id="5" name="Rectangle 4"/>
          <p:cNvSpPr/>
          <p:nvPr/>
        </p:nvSpPr>
        <p:spPr>
          <a:xfrm>
            <a:off x="457200" y="1143000"/>
            <a:ext cx="3657600" cy="1737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17373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3337560" cy="347472"/>
          </a:xfrm>
          <a:prstGeom prst="rect">
            <a:avLst/>
          </a:prstGeom>
          <a:noFill/>
        </p:spPr>
        <p:txBody>
          <a:bodyPr wrap="square">
            <a:spAutoFit/>
          </a:bodyPr>
          <a:lstStyle/>
          <a:p>
            <a:pPr algn="l"/>
            <a:r>
              <a:rPr sz="1200" b="1" i="0">
                <a:solidFill>
                  <a:srgbClr val="0F172A"/>
                </a:solidFill>
                <a:latin typeface="Calibri"/>
              </a:rPr>
              <a:t>Accuracy (exactitude)</a:t>
            </a:r>
          </a:p>
        </p:txBody>
      </p:sp>
      <p:sp>
        <p:nvSpPr>
          <p:cNvPr id="8" name="TextBox 7"/>
          <p:cNvSpPr txBox="1"/>
          <p:nvPr/>
        </p:nvSpPr>
        <p:spPr>
          <a:xfrm>
            <a:off x="640080" y="1600200"/>
            <a:ext cx="3337560" cy="1188719"/>
          </a:xfrm>
          <a:prstGeom prst="rect">
            <a:avLst/>
          </a:prstGeom>
          <a:noFill/>
        </p:spPr>
        <p:txBody>
          <a:bodyPr wrap="square">
            <a:spAutoFit/>
          </a:bodyPr>
          <a:lstStyle/>
          <a:p>
            <a:pPr algn="l"/>
            <a:r>
              <a:rPr sz="980" b="0" i="0">
                <a:solidFill>
                  <a:srgbClr val="1E293B"/>
                </a:solidFill>
                <a:latin typeface="Calibri"/>
              </a:rPr>
              <a:t>Le pourcentage de bonnes réponses. Je ne m'appuie pas dessus : avec 73,5 % de clients fidèles, un modèle qui dit toujours « reste » aurait 73,5 % d'accuracy sans rien prédire d'utile.</a:t>
            </a:r>
          </a:p>
        </p:txBody>
      </p:sp>
      <p:sp>
        <p:nvSpPr>
          <p:cNvPr id="9" name="Rectangle 8"/>
          <p:cNvSpPr/>
          <p:nvPr/>
        </p:nvSpPr>
        <p:spPr>
          <a:xfrm>
            <a:off x="4251960" y="1143000"/>
            <a:ext cx="3657600" cy="1737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143000"/>
            <a:ext cx="64008" cy="17373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234440"/>
            <a:ext cx="3337560" cy="347472"/>
          </a:xfrm>
          <a:prstGeom prst="rect">
            <a:avLst/>
          </a:prstGeom>
          <a:noFill/>
        </p:spPr>
        <p:txBody>
          <a:bodyPr wrap="square">
            <a:spAutoFit/>
          </a:bodyPr>
          <a:lstStyle/>
          <a:p>
            <a:pPr algn="l"/>
            <a:r>
              <a:rPr sz="1200" b="1" i="0">
                <a:solidFill>
                  <a:srgbClr val="0F172A"/>
                </a:solidFill>
                <a:latin typeface="Calibri"/>
              </a:rPr>
              <a:t>Précision</a:t>
            </a:r>
          </a:p>
        </p:txBody>
      </p:sp>
      <p:sp>
        <p:nvSpPr>
          <p:cNvPr id="12" name="TextBox 11"/>
          <p:cNvSpPr txBox="1"/>
          <p:nvPr/>
        </p:nvSpPr>
        <p:spPr>
          <a:xfrm>
            <a:off x="4434840" y="1600200"/>
            <a:ext cx="3337560" cy="1188719"/>
          </a:xfrm>
          <a:prstGeom prst="rect">
            <a:avLst/>
          </a:prstGeom>
          <a:noFill/>
        </p:spPr>
        <p:txBody>
          <a:bodyPr wrap="square">
            <a:spAutoFit/>
          </a:bodyPr>
          <a:lstStyle/>
          <a:p>
            <a:pPr algn="l"/>
            <a:r>
              <a:rPr sz="980" b="0" i="0">
                <a:solidFill>
                  <a:srgbClr val="1E293B"/>
                </a:solidFill>
                <a:latin typeface="Calibri"/>
              </a:rPr>
              <a:t>Parmi les clients que le modèle annonce « à risque », combien le sont vraiment ? Une précision élevée = peu de fausses alertes, donc l'équipe commerciale ne perd pas de temps à appeler des clients qui n'allaient pas partir.</a:t>
            </a:r>
          </a:p>
        </p:txBody>
      </p:sp>
      <p:sp>
        <p:nvSpPr>
          <p:cNvPr id="13" name="Rectangle 12"/>
          <p:cNvSpPr/>
          <p:nvPr/>
        </p:nvSpPr>
        <p:spPr>
          <a:xfrm>
            <a:off x="8046720" y="1143000"/>
            <a:ext cx="3657600" cy="1737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143000"/>
            <a:ext cx="64008" cy="17373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234440"/>
            <a:ext cx="3337560" cy="347472"/>
          </a:xfrm>
          <a:prstGeom prst="rect">
            <a:avLst/>
          </a:prstGeom>
          <a:noFill/>
        </p:spPr>
        <p:txBody>
          <a:bodyPr wrap="square">
            <a:spAutoFit/>
          </a:bodyPr>
          <a:lstStyle/>
          <a:p>
            <a:pPr algn="l"/>
            <a:r>
              <a:rPr sz="1200" b="1" i="0">
                <a:solidFill>
                  <a:srgbClr val="0F172A"/>
                </a:solidFill>
                <a:latin typeface="Calibri"/>
              </a:rPr>
              <a:t>Rappel (recall)</a:t>
            </a:r>
          </a:p>
        </p:txBody>
      </p:sp>
      <p:sp>
        <p:nvSpPr>
          <p:cNvPr id="16" name="TextBox 15"/>
          <p:cNvSpPr txBox="1"/>
          <p:nvPr/>
        </p:nvSpPr>
        <p:spPr>
          <a:xfrm>
            <a:off x="8229600" y="1600200"/>
            <a:ext cx="3337560" cy="1188719"/>
          </a:xfrm>
          <a:prstGeom prst="rect">
            <a:avLst/>
          </a:prstGeom>
          <a:noFill/>
        </p:spPr>
        <p:txBody>
          <a:bodyPr wrap="square">
            <a:spAutoFit/>
          </a:bodyPr>
          <a:lstStyle/>
          <a:p>
            <a:pPr algn="l"/>
            <a:r>
              <a:rPr sz="980" b="0" i="0">
                <a:solidFill>
                  <a:srgbClr val="1E293B"/>
                </a:solidFill>
                <a:latin typeface="Calibri"/>
              </a:rPr>
              <a:t>Parmi les clients qui partent vraiment, combien le modèle en a repérés ? Un rappel élevé = on rate peu de départs. C'est souvent la métrique la plus importante pour un problème de churn.</a:t>
            </a:r>
          </a:p>
        </p:txBody>
      </p:sp>
      <p:sp>
        <p:nvSpPr>
          <p:cNvPr id="17" name="Rectangle 16"/>
          <p:cNvSpPr/>
          <p:nvPr/>
        </p:nvSpPr>
        <p:spPr>
          <a:xfrm>
            <a:off x="457200" y="3017520"/>
            <a:ext cx="3657600" cy="1737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017520"/>
            <a:ext cx="64008"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08960"/>
            <a:ext cx="3337560" cy="347472"/>
          </a:xfrm>
          <a:prstGeom prst="rect">
            <a:avLst/>
          </a:prstGeom>
          <a:noFill/>
        </p:spPr>
        <p:txBody>
          <a:bodyPr wrap="square">
            <a:spAutoFit/>
          </a:bodyPr>
          <a:lstStyle/>
          <a:p>
            <a:pPr algn="l"/>
            <a:r>
              <a:rPr sz="1200" b="1" i="0">
                <a:solidFill>
                  <a:srgbClr val="0F172A"/>
                </a:solidFill>
                <a:latin typeface="Calibri"/>
              </a:rPr>
              <a:t>F1-Score</a:t>
            </a:r>
          </a:p>
        </p:txBody>
      </p:sp>
      <p:sp>
        <p:nvSpPr>
          <p:cNvPr id="20" name="TextBox 19"/>
          <p:cNvSpPr txBox="1"/>
          <p:nvPr/>
        </p:nvSpPr>
        <p:spPr>
          <a:xfrm>
            <a:off x="640080" y="3474720"/>
            <a:ext cx="3337560" cy="1188719"/>
          </a:xfrm>
          <a:prstGeom prst="rect">
            <a:avLst/>
          </a:prstGeom>
          <a:noFill/>
        </p:spPr>
        <p:txBody>
          <a:bodyPr wrap="square">
            <a:spAutoFit/>
          </a:bodyPr>
          <a:lstStyle/>
          <a:p>
            <a:pPr algn="l"/>
            <a:r>
              <a:rPr sz="980" b="0" i="0">
                <a:solidFill>
                  <a:srgbClr val="1E293B"/>
                </a:solidFill>
                <a:latin typeface="Calibri"/>
              </a:rPr>
              <a:t>La moyenne harmonique de la précision et du rappel : un seul chiffre qui équilibre les deux. C'est ma métrique principale car elle est adaptée aux classes déséquilibrées ; c'est aussi celle que j'ai donnée à GridSearchCV.</a:t>
            </a:r>
          </a:p>
        </p:txBody>
      </p:sp>
      <p:sp>
        <p:nvSpPr>
          <p:cNvPr id="21" name="Rectangle 20"/>
          <p:cNvSpPr/>
          <p:nvPr/>
        </p:nvSpPr>
        <p:spPr>
          <a:xfrm>
            <a:off x="4251960" y="3017520"/>
            <a:ext cx="3657600" cy="17373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51960" y="3017520"/>
            <a:ext cx="64008" cy="1737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108960"/>
            <a:ext cx="3337560" cy="347472"/>
          </a:xfrm>
          <a:prstGeom prst="rect">
            <a:avLst/>
          </a:prstGeom>
          <a:noFill/>
        </p:spPr>
        <p:txBody>
          <a:bodyPr wrap="square">
            <a:spAutoFit/>
          </a:bodyPr>
          <a:lstStyle/>
          <a:p>
            <a:pPr algn="l"/>
            <a:r>
              <a:rPr sz="1200" b="1" i="0">
                <a:solidFill>
                  <a:srgbClr val="0F172A"/>
                </a:solidFill>
                <a:latin typeface="Calibri"/>
              </a:rPr>
              <a:t>AUC-ROC</a:t>
            </a:r>
          </a:p>
        </p:txBody>
      </p:sp>
      <p:sp>
        <p:nvSpPr>
          <p:cNvPr id="24" name="TextBox 23"/>
          <p:cNvSpPr txBox="1"/>
          <p:nvPr/>
        </p:nvSpPr>
        <p:spPr>
          <a:xfrm>
            <a:off x="4434840" y="3474720"/>
            <a:ext cx="3337560" cy="1188719"/>
          </a:xfrm>
          <a:prstGeom prst="rect">
            <a:avLst/>
          </a:prstGeom>
          <a:noFill/>
        </p:spPr>
        <p:txBody>
          <a:bodyPr wrap="square">
            <a:spAutoFit/>
          </a:bodyPr>
          <a:lstStyle/>
          <a:p>
            <a:pPr algn="l"/>
            <a:r>
              <a:rPr sz="980" b="0" i="0">
                <a:solidFill>
                  <a:srgbClr val="1E293B"/>
                </a:solidFill>
                <a:latin typeface="Calibri"/>
              </a:rPr>
              <a:t>Mesure la capacité du modèle à classer un vrai churner au-dessus d'un client fidèle, quel que soit le seuil de décision (entre 0,5 = hasard et 1 = parfait). Elle permet de comparer les modèles indépendamment du seuil choisi.</a:t>
            </a:r>
          </a:p>
        </p:txBody>
      </p:sp>
      <p:sp>
        <p:nvSpPr>
          <p:cNvPr id="25" name="Rectangle 24"/>
          <p:cNvSpPr/>
          <p:nvPr/>
        </p:nvSpPr>
        <p:spPr>
          <a:xfrm>
            <a:off x="8046720" y="3017520"/>
            <a:ext cx="3657600" cy="17373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3108960"/>
            <a:ext cx="3337560" cy="347472"/>
          </a:xfrm>
          <a:prstGeom prst="rect">
            <a:avLst/>
          </a:prstGeom>
          <a:noFill/>
        </p:spPr>
        <p:txBody>
          <a:bodyPr wrap="square">
            <a:spAutoFit/>
          </a:bodyPr>
          <a:lstStyle/>
          <a:p>
            <a:pPr algn="l"/>
            <a:r>
              <a:rPr sz="1200" b="1" i="0">
                <a:solidFill>
                  <a:srgbClr val="FFFFFF"/>
                </a:solidFill>
                <a:latin typeface="Calibri"/>
              </a:rPr>
              <a:t>Comment je lis ces chiffres</a:t>
            </a:r>
          </a:p>
        </p:txBody>
      </p:sp>
      <p:sp>
        <p:nvSpPr>
          <p:cNvPr id="27" name="TextBox 26"/>
          <p:cNvSpPr txBox="1"/>
          <p:nvPr/>
        </p:nvSpPr>
        <p:spPr>
          <a:xfrm>
            <a:off x="8229600" y="3474720"/>
            <a:ext cx="3337560" cy="1188719"/>
          </a:xfrm>
          <a:prstGeom prst="rect">
            <a:avLst/>
          </a:prstGeom>
          <a:noFill/>
        </p:spPr>
        <p:txBody>
          <a:bodyPr wrap="square">
            <a:spAutoFit/>
          </a:bodyPr>
          <a:lstStyle/>
          <a:p>
            <a:pPr algn="l"/>
            <a:r>
              <a:rPr sz="980" b="0" i="0">
                <a:solidFill>
                  <a:srgbClr val="FFFFFF"/>
                </a:solidFill>
                <a:latin typeface="Calibri"/>
              </a:rPr>
              <a:t>Pour l'entreprise, rater un client qui part (faux négatif) coûte plus cher qu'appeler pour rien un client fidèle (faux positif). Je regarde donc surtout le rappel et le F1, et j'utilise l'AUC pour comparer les modèles entre eux.</a:t>
            </a:r>
          </a:p>
        </p:txBody>
      </p:sp>
      <p:sp>
        <p:nvSpPr>
          <p:cNvPr id="28" name="Rectangle 27"/>
          <p:cNvSpPr/>
          <p:nvPr/>
        </p:nvSpPr>
        <p:spPr>
          <a:xfrm>
            <a:off x="457200" y="4937760"/>
            <a:ext cx="11247120" cy="13716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029200"/>
            <a:ext cx="10881360" cy="347472"/>
          </a:xfrm>
          <a:prstGeom prst="rect">
            <a:avLst/>
          </a:prstGeom>
          <a:noFill/>
        </p:spPr>
        <p:txBody>
          <a:bodyPr wrap="square">
            <a:spAutoFit/>
          </a:bodyPr>
          <a:lstStyle/>
          <a:p>
            <a:pPr algn="l"/>
            <a:r>
              <a:rPr sz="1250" b="1" i="0">
                <a:solidFill>
                  <a:srgbClr val="0F172A"/>
                </a:solidFill>
                <a:latin typeface="Calibri"/>
              </a:rPr>
              <a:t>Pourquoi pas seulement l'accuracy ?</a:t>
            </a:r>
          </a:p>
        </p:txBody>
      </p:sp>
      <p:sp>
        <p:nvSpPr>
          <p:cNvPr id="30" name="TextBox 29"/>
          <p:cNvSpPr txBox="1"/>
          <p:nvPr/>
        </p:nvSpPr>
        <p:spPr>
          <a:xfrm>
            <a:off x="640080" y="5394960"/>
            <a:ext cx="10881360" cy="868680"/>
          </a:xfrm>
          <a:prstGeom prst="rect">
            <a:avLst/>
          </a:prstGeom>
          <a:noFill/>
        </p:spPr>
        <p:txBody>
          <a:bodyPr wrap="square">
            <a:spAutoFit/>
          </a:bodyPr>
          <a:lstStyle/>
          <a:p>
            <a:pPr algn="l"/>
            <a:r>
              <a:rPr sz="1050" b="0" i="0">
                <a:solidFill>
                  <a:srgbClr val="1E293B"/>
                </a:solidFill>
                <a:latin typeface="Calibri"/>
              </a:rPr>
              <a:t>Parce que les classes sont déséquilibrées. L'accuracy mélange les deux classes et cache les erreurs sur la classe rare, qui est justement celle qui nous intéresse (les clients qui partent). La précision, le rappel et le F1 sont calculés uniquement sur la classe « churn » : ils disent vraiment si le modèle sait repérer les départs.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Résultats comparés sur le jeu de test</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06 — Les chiffres réels (notebook 03)</a:t>
            </a:r>
          </a:p>
        </p:txBody>
      </p:sp>
      <p:sp>
        <p:nvSpPr>
          <p:cNvPr id="5" name="Rectangle 4"/>
          <p:cNvSpPr/>
          <p:nvPr/>
        </p:nvSpPr>
        <p:spPr>
          <a:xfrm>
            <a:off x="457200" y="1143000"/>
            <a:ext cx="11247120"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4754880" cy="320040"/>
          </a:xfrm>
          <a:prstGeom prst="rect">
            <a:avLst/>
          </a:prstGeom>
          <a:noFill/>
        </p:spPr>
        <p:txBody>
          <a:bodyPr wrap="square">
            <a:spAutoFit/>
          </a:bodyPr>
          <a:lstStyle/>
          <a:p>
            <a:pPr algn="l"/>
            <a:r>
              <a:rPr sz="1150" b="1" i="0">
                <a:solidFill>
                  <a:srgbClr val="FFFFFF"/>
                </a:solidFill>
                <a:latin typeface="Calibri"/>
              </a:rPr>
              <a:t>Modèle</a:t>
            </a:r>
          </a:p>
        </p:txBody>
      </p:sp>
      <p:sp>
        <p:nvSpPr>
          <p:cNvPr id="7" name="TextBox 6"/>
          <p:cNvSpPr txBox="1"/>
          <p:nvPr/>
        </p:nvSpPr>
        <p:spPr>
          <a:xfrm>
            <a:off x="5394959" y="1188720"/>
            <a:ext cx="1188719" cy="320040"/>
          </a:xfrm>
          <a:prstGeom prst="rect">
            <a:avLst/>
          </a:prstGeom>
          <a:noFill/>
        </p:spPr>
        <p:txBody>
          <a:bodyPr wrap="square">
            <a:spAutoFit/>
          </a:bodyPr>
          <a:lstStyle/>
          <a:p>
            <a:pPr algn="l"/>
            <a:r>
              <a:rPr sz="1150" b="1" i="0">
                <a:solidFill>
                  <a:srgbClr val="FFFFFF"/>
                </a:solidFill>
                <a:latin typeface="Calibri"/>
              </a:rPr>
              <a:t>Accuracy</a:t>
            </a:r>
          </a:p>
        </p:txBody>
      </p:sp>
      <p:sp>
        <p:nvSpPr>
          <p:cNvPr id="8" name="TextBox 7"/>
          <p:cNvSpPr txBox="1"/>
          <p:nvPr/>
        </p:nvSpPr>
        <p:spPr>
          <a:xfrm>
            <a:off x="6675119" y="1188720"/>
            <a:ext cx="1188719" cy="320040"/>
          </a:xfrm>
          <a:prstGeom prst="rect">
            <a:avLst/>
          </a:prstGeom>
          <a:noFill/>
        </p:spPr>
        <p:txBody>
          <a:bodyPr wrap="square">
            <a:spAutoFit/>
          </a:bodyPr>
          <a:lstStyle/>
          <a:p>
            <a:pPr algn="l"/>
            <a:r>
              <a:rPr sz="1150" b="1" i="0">
                <a:solidFill>
                  <a:srgbClr val="FFFFFF"/>
                </a:solidFill>
                <a:latin typeface="Calibri"/>
              </a:rPr>
              <a:t>Précision</a:t>
            </a:r>
          </a:p>
        </p:txBody>
      </p:sp>
      <p:sp>
        <p:nvSpPr>
          <p:cNvPr id="9" name="TextBox 8"/>
          <p:cNvSpPr txBox="1"/>
          <p:nvPr/>
        </p:nvSpPr>
        <p:spPr>
          <a:xfrm>
            <a:off x="7955279" y="1188720"/>
            <a:ext cx="1188719" cy="320040"/>
          </a:xfrm>
          <a:prstGeom prst="rect">
            <a:avLst/>
          </a:prstGeom>
          <a:noFill/>
        </p:spPr>
        <p:txBody>
          <a:bodyPr wrap="square">
            <a:spAutoFit/>
          </a:bodyPr>
          <a:lstStyle/>
          <a:p>
            <a:pPr algn="l"/>
            <a:r>
              <a:rPr sz="1150" b="1" i="0">
                <a:solidFill>
                  <a:srgbClr val="FFFFFF"/>
                </a:solidFill>
                <a:latin typeface="Calibri"/>
              </a:rPr>
              <a:t>Rappel</a:t>
            </a:r>
          </a:p>
        </p:txBody>
      </p:sp>
      <p:sp>
        <p:nvSpPr>
          <p:cNvPr id="10" name="TextBox 9"/>
          <p:cNvSpPr txBox="1"/>
          <p:nvPr/>
        </p:nvSpPr>
        <p:spPr>
          <a:xfrm>
            <a:off x="9235440" y="1188720"/>
            <a:ext cx="1188719" cy="320040"/>
          </a:xfrm>
          <a:prstGeom prst="rect">
            <a:avLst/>
          </a:prstGeom>
          <a:noFill/>
        </p:spPr>
        <p:txBody>
          <a:bodyPr wrap="square">
            <a:spAutoFit/>
          </a:bodyPr>
          <a:lstStyle/>
          <a:p>
            <a:pPr algn="l"/>
            <a:r>
              <a:rPr sz="1150" b="1" i="0">
                <a:solidFill>
                  <a:srgbClr val="FFFFFF"/>
                </a:solidFill>
                <a:latin typeface="Calibri"/>
              </a:rPr>
              <a:t>F1-Score</a:t>
            </a:r>
          </a:p>
        </p:txBody>
      </p:sp>
      <p:sp>
        <p:nvSpPr>
          <p:cNvPr id="11" name="TextBox 10"/>
          <p:cNvSpPr txBox="1"/>
          <p:nvPr/>
        </p:nvSpPr>
        <p:spPr>
          <a:xfrm>
            <a:off x="10515600" y="1188720"/>
            <a:ext cx="1188719" cy="320040"/>
          </a:xfrm>
          <a:prstGeom prst="rect">
            <a:avLst/>
          </a:prstGeom>
          <a:noFill/>
        </p:spPr>
        <p:txBody>
          <a:bodyPr wrap="square">
            <a:spAutoFit/>
          </a:bodyPr>
          <a:lstStyle/>
          <a:p>
            <a:pPr algn="l"/>
            <a:r>
              <a:rPr sz="1150" b="1" i="0">
                <a:solidFill>
                  <a:srgbClr val="FFFFFF"/>
                </a:solidFill>
                <a:latin typeface="Calibri"/>
              </a:rPr>
              <a:t>AUC-ROC</a:t>
            </a:r>
          </a:p>
        </p:txBody>
      </p:sp>
      <p:sp>
        <p:nvSpPr>
          <p:cNvPr id="12" name="Rectangle 11"/>
          <p:cNvSpPr/>
          <p:nvPr/>
        </p:nvSpPr>
        <p:spPr>
          <a:xfrm>
            <a:off x="457200" y="1527048"/>
            <a:ext cx="1124712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00200"/>
            <a:ext cx="4754880" cy="365760"/>
          </a:xfrm>
          <a:prstGeom prst="rect">
            <a:avLst/>
          </a:prstGeom>
          <a:noFill/>
        </p:spPr>
        <p:txBody>
          <a:bodyPr wrap="square">
            <a:spAutoFit/>
          </a:bodyPr>
          <a:lstStyle/>
          <a:p>
            <a:pPr algn="l"/>
            <a:r>
              <a:rPr sz="1100" b="0" i="0">
                <a:solidFill>
                  <a:srgbClr val="1E293B"/>
                </a:solidFill>
                <a:latin typeface="Calibri"/>
              </a:rPr>
              <a:t>Régression logistique</a:t>
            </a:r>
          </a:p>
        </p:txBody>
      </p:sp>
      <p:sp>
        <p:nvSpPr>
          <p:cNvPr id="14" name="TextBox 13"/>
          <p:cNvSpPr txBox="1"/>
          <p:nvPr/>
        </p:nvSpPr>
        <p:spPr>
          <a:xfrm>
            <a:off x="5394959" y="1600200"/>
            <a:ext cx="1188719" cy="365760"/>
          </a:xfrm>
          <a:prstGeom prst="rect">
            <a:avLst/>
          </a:prstGeom>
          <a:noFill/>
        </p:spPr>
        <p:txBody>
          <a:bodyPr wrap="square">
            <a:spAutoFit/>
          </a:bodyPr>
          <a:lstStyle/>
          <a:p>
            <a:pPr algn="l"/>
            <a:r>
              <a:rPr sz="1100" b="0" i="0">
                <a:solidFill>
                  <a:srgbClr val="1E293B"/>
                </a:solidFill>
                <a:latin typeface="Calibri"/>
              </a:rPr>
              <a:t>0,74</a:t>
            </a:r>
          </a:p>
        </p:txBody>
      </p:sp>
      <p:sp>
        <p:nvSpPr>
          <p:cNvPr id="15" name="TextBox 14"/>
          <p:cNvSpPr txBox="1"/>
          <p:nvPr/>
        </p:nvSpPr>
        <p:spPr>
          <a:xfrm>
            <a:off x="6675119" y="1600200"/>
            <a:ext cx="1188719" cy="365760"/>
          </a:xfrm>
          <a:prstGeom prst="rect">
            <a:avLst/>
          </a:prstGeom>
          <a:noFill/>
        </p:spPr>
        <p:txBody>
          <a:bodyPr wrap="square">
            <a:spAutoFit/>
          </a:bodyPr>
          <a:lstStyle/>
          <a:p>
            <a:pPr algn="l"/>
            <a:r>
              <a:rPr sz="1100" b="0" i="0">
                <a:solidFill>
                  <a:srgbClr val="1E293B"/>
                </a:solidFill>
                <a:latin typeface="Calibri"/>
              </a:rPr>
              <a:t>0,51</a:t>
            </a:r>
          </a:p>
        </p:txBody>
      </p:sp>
      <p:sp>
        <p:nvSpPr>
          <p:cNvPr id="16" name="TextBox 15"/>
          <p:cNvSpPr txBox="1"/>
          <p:nvPr/>
        </p:nvSpPr>
        <p:spPr>
          <a:xfrm>
            <a:off x="7955279" y="1600200"/>
            <a:ext cx="1188719" cy="365760"/>
          </a:xfrm>
          <a:prstGeom prst="rect">
            <a:avLst/>
          </a:prstGeom>
          <a:noFill/>
        </p:spPr>
        <p:txBody>
          <a:bodyPr wrap="square">
            <a:spAutoFit/>
          </a:bodyPr>
          <a:lstStyle/>
          <a:p>
            <a:pPr algn="l"/>
            <a:r>
              <a:rPr sz="1100" b="0" i="0">
                <a:solidFill>
                  <a:srgbClr val="1E293B"/>
                </a:solidFill>
                <a:latin typeface="Calibri"/>
              </a:rPr>
              <a:t>0,78</a:t>
            </a:r>
          </a:p>
        </p:txBody>
      </p:sp>
      <p:sp>
        <p:nvSpPr>
          <p:cNvPr id="17" name="TextBox 16"/>
          <p:cNvSpPr txBox="1"/>
          <p:nvPr/>
        </p:nvSpPr>
        <p:spPr>
          <a:xfrm>
            <a:off x="9235440" y="1600200"/>
            <a:ext cx="1188719" cy="365760"/>
          </a:xfrm>
          <a:prstGeom prst="rect">
            <a:avLst/>
          </a:prstGeom>
          <a:noFill/>
        </p:spPr>
        <p:txBody>
          <a:bodyPr wrap="square">
            <a:spAutoFit/>
          </a:bodyPr>
          <a:lstStyle/>
          <a:p>
            <a:pPr algn="l"/>
            <a:r>
              <a:rPr sz="1100" b="0" i="0">
                <a:solidFill>
                  <a:srgbClr val="1E293B"/>
                </a:solidFill>
                <a:latin typeface="Calibri"/>
              </a:rPr>
              <a:t>0,61</a:t>
            </a:r>
          </a:p>
        </p:txBody>
      </p:sp>
      <p:sp>
        <p:nvSpPr>
          <p:cNvPr id="18" name="TextBox 17"/>
          <p:cNvSpPr txBox="1"/>
          <p:nvPr/>
        </p:nvSpPr>
        <p:spPr>
          <a:xfrm>
            <a:off x="10515600" y="1600200"/>
            <a:ext cx="1188719" cy="365760"/>
          </a:xfrm>
          <a:prstGeom prst="rect">
            <a:avLst/>
          </a:prstGeom>
          <a:noFill/>
        </p:spPr>
        <p:txBody>
          <a:bodyPr wrap="square">
            <a:spAutoFit/>
          </a:bodyPr>
          <a:lstStyle/>
          <a:p>
            <a:pPr algn="l"/>
            <a:r>
              <a:rPr sz="1100" b="0" i="0">
                <a:solidFill>
                  <a:srgbClr val="1E293B"/>
                </a:solidFill>
                <a:latin typeface="Calibri"/>
              </a:rPr>
              <a:t>0,84</a:t>
            </a:r>
          </a:p>
        </p:txBody>
      </p:sp>
      <p:sp>
        <p:nvSpPr>
          <p:cNvPr id="19" name="Rectangle 18"/>
          <p:cNvSpPr/>
          <p:nvPr/>
        </p:nvSpPr>
        <p:spPr>
          <a:xfrm>
            <a:off x="457200" y="1984248"/>
            <a:ext cx="11247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057400"/>
            <a:ext cx="4754880" cy="365760"/>
          </a:xfrm>
          <a:prstGeom prst="rect">
            <a:avLst/>
          </a:prstGeom>
          <a:noFill/>
        </p:spPr>
        <p:txBody>
          <a:bodyPr wrap="square">
            <a:spAutoFit/>
          </a:bodyPr>
          <a:lstStyle/>
          <a:p>
            <a:pPr algn="l"/>
            <a:r>
              <a:rPr sz="1100" b="0" i="0">
                <a:solidFill>
                  <a:srgbClr val="1E293B"/>
                </a:solidFill>
                <a:latin typeface="Calibri"/>
              </a:rPr>
              <a:t>Ridge Classifier</a:t>
            </a:r>
          </a:p>
        </p:txBody>
      </p:sp>
      <p:sp>
        <p:nvSpPr>
          <p:cNvPr id="21" name="TextBox 20"/>
          <p:cNvSpPr txBox="1"/>
          <p:nvPr/>
        </p:nvSpPr>
        <p:spPr>
          <a:xfrm>
            <a:off x="5394959" y="2057400"/>
            <a:ext cx="1188719" cy="365760"/>
          </a:xfrm>
          <a:prstGeom prst="rect">
            <a:avLst/>
          </a:prstGeom>
          <a:noFill/>
        </p:spPr>
        <p:txBody>
          <a:bodyPr wrap="square">
            <a:spAutoFit/>
          </a:bodyPr>
          <a:lstStyle/>
          <a:p>
            <a:pPr algn="l"/>
            <a:r>
              <a:rPr sz="1100" b="0" i="0">
                <a:solidFill>
                  <a:srgbClr val="1E293B"/>
                </a:solidFill>
                <a:latin typeface="Calibri"/>
              </a:rPr>
              <a:t>0,74</a:t>
            </a:r>
          </a:p>
        </p:txBody>
      </p:sp>
      <p:sp>
        <p:nvSpPr>
          <p:cNvPr id="22" name="TextBox 21"/>
          <p:cNvSpPr txBox="1"/>
          <p:nvPr/>
        </p:nvSpPr>
        <p:spPr>
          <a:xfrm>
            <a:off x="6675119" y="2057400"/>
            <a:ext cx="1188719" cy="365760"/>
          </a:xfrm>
          <a:prstGeom prst="rect">
            <a:avLst/>
          </a:prstGeom>
          <a:noFill/>
        </p:spPr>
        <p:txBody>
          <a:bodyPr wrap="square">
            <a:spAutoFit/>
          </a:bodyPr>
          <a:lstStyle/>
          <a:p>
            <a:pPr algn="l"/>
            <a:r>
              <a:rPr sz="1100" b="0" i="0">
                <a:solidFill>
                  <a:srgbClr val="1E293B"/>
                </a:solidFill>
                <a:latin typeface="Calibri"/>
              </a:rPr>
              <a:t>0,50</a:t>
            </a:r>
          </a:p>
        </p:txBody>
      </p:sp>
      <p:sp>
        <p:nvSpPr>
          <p:cNvPr id="23" name="TextBox 22"/>
          <p:cNvSpPr txBox="1"/>
          <p:nvPr/>
        </p:nvSpPr>
        <p:spPr>
          <a:xfrm>
            <a:off x="7955279" y="2057400"/>
            <a:ext cx="1188719" cy="365760"/>
          </a:xfrm>
          <a:prstGeom prst="rect">
            <a:avLst/>
          </a:prstGeom>
          <a:noFill/>
        </p:spPr>
        <p:txBody>
          <a:bodyPr wrap="square">
            <a:spAutoFit/>
          </a:bodyPr>
          <a:lstStyle/>
          <a:p>
            <a:pPr algn="l"/>
            <a:r>
              <a:rPr sz="1100" b="0" i="0">
                <a:solidFill>
                  <a:srgbClr val="1E293B"/>
                </a:solidFill>
                <a:latin typeface="Calibri"/>
              </a:rPr>
              <a:t>0,79</a:t>
            </a:r>
          </a:p>
        </p:txBody>
      </p:sp>
      <p:sp>
        <p:nvSpPr>
          <p:cNvPr id="24" name="TextBox 23"/>
          <p:cNvSpPr txBox="1"/>
          <p:nvPr/>
        </p:nvSpPr>
        <p:spPr>
          <a:xfrm>
            <a:off x="9235440" y="2057400"/>
            <a:ext cx="1188719" cy="365760"/>
          </a:xfrm>
          <a:prstGeom prst="rect">
            <a:avLst/>
          </a:prstGeom>
          <a:noFill/>
        </p:spPr>
        <p:txBody>
          <a:bodyPr wrap="square">
            <a:spAutoFit/>
          </a:bodyPr>
          <a:lstStyle/>
          <a:p>
            <a:pPr algn="l"/>
            <a:r>
              <a:rPr sz="1100" b="0" i="0">
                <a:solidFill>
                  <a:srgbClr val="1E293B"/>
                </a:solidFill>
                <a:latin typeface="Calibri"/>
              </a:rPr>
              <a:t>0,61</a:t>
            </a:r>
          </a:p>
        </p:txBody>
      </p:sp>
      <p:sp>
        <p:nvSpPr>
          <p:cNvPr id="25" name="TextBox 24"/>
          <p:cNvSpPr txBox="1"/>
          <p:nvPr/>
        </p:nvSpPr>
        <p:spPr>
          <a:xfrm>
            <a:off x="10515600" y="2057400"/>
            <a:ext cx="1188719" cy="365760"/>
          </a:xfrm>
          <a:prstGeom prst="rect">
            <a:avLst/>
          </a:prstGeom>
          <a:noFill/>
        </p:spPr>
        <p:txBody>
          <a:bodyPr wrap="square">
            <a:spAutoFit/>
          </a:bodyPr>
          <a:lstStyle/>
          <a:p>
            <a:pPr algn="l"/>
            <a:r>
              <a:rPr sz="1100" b="0" i="0">
                <a:solidFill>
                  <a:srgbClr val="1E293B"/>
                </a:solidFill>
                <a:latin typeface="Calibri"/>
              </a:rPr>
              <a:t>0,84</a:t>
            </a:r>
          </a:p>
        </p:txBody>
      </p:sp>
      <p:sp>
        <p:nvSpPr>
          <p:cNvPr id="26" name="Rectangle 25"/>
          <p:cNvSpPr/>
          <p:nvPr/>
        </p:nvSpPr>
        <p:spPr>
          <a:xfrm>
            <a:off x="457200" y="2441448"/>
            <a:ext cx="1124712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514600"/>
            <a:ext cx="4754880" cy="365760"/>
          </a:xfrm>
          <a:prstGeom prst="rect">
            <a:avLst/>
          </a:prstGeom>
          <a:noFill/>
        </p:spPr>
        <p:txBody>
          <a:bodyPr wrap="square">
            <a:spAutoFit/>
          </a:bodyPr>
          <a:lstStyle/>
          <a:p>
            <a:pPr algn="l"/>
            <a:r>
              <a:rPr sz="1100" b="0" i="0">
                <a:solidFill>
                  <a:srgbClr val="1E293B"/>
                </a:solidFill>
                <a:latin typeface="Calibri"/>
              </a:rPr>
              <a:t>Arbre de décision (profondeur 4)</a:t>
            </a:r>
          </a:p>
        </p:txBody>
      </p:sp>
      <p:sp>
        <p:nvSpPr>
          <p:cNvPr id="28" name="TextBox 27"/>
          <p:cNvSpPr txBox="1"/>
          <p:nvPr/>
        </p:nvSpPr>
        <p:spPr>
          <a:xfrm>
            <a:off x="5394959" y="2514600"/>
            <a:ext cx="1188719" cy="365760"/>
          </a:xfrm>
          <a:prstGeom prst="rect">
            <a:avLst/>
          </a:prstGeom>
          <a:noFill/>
        </p:spPr>
        <p:txBody>
          <a:bodyPr wrap="square">
            <a:spAutoFit/>
          </a:bodyPr>
          <a:lstStyle/>
          <a:p>
            <a:pPr algn="l"/>
            <a:r>
              <a:rPr sz="1100" b="0" i="0">
                <a:solidFill>
                  <a:srgbClr val="1E293B"/>
                </a:solidFill>
                <a:latin typeface="Calibri"/>
              </a:rPr>
              <a:t>0,74</a:t>
            </a:r>
          </a:p>
        </p:txBody>
      </p:sp>
      <p:sp>
        <p:nvSpPr>
          <p:cNvPr id="29" name="TextBox 28"/>
          <p:cNvSpPr txBox="1"/>
          <p:nvPr/>
        </p:nvSpPr>
        <p:spPr>
          <a:xfrm>
            <a:off x="6675119" y="2514600"/>
            <a:ext cx="1188719" cy="365760"/>
          </a:xfrm>
          <a:prstGeom prst="rect">
            <a:avLst/>
          </a:prstGeom>
          <a:noFill/>
        </p:spPr>
        <p:txBody>
          <a:bodyPr wrap="square">
            <a:spAutoFit/>
          </a:bodyPr>
          <a:lstStyle/>
          <a:p>
            <a:pPr algn="l"/>
            <a:r>
              <a:rPr sz="1100" b="0" i="0">
                <a:solidFill>
                  <a:srgbClr val="1E293B"/>
                </a:solidFill>
                <a:latin typeface="Calibri"/>
              </a:rPr>
              <a:t>0,51</a:t>
            </a:r>
          </a:p>
        </p:txBody>
      </p:sp>
      <p:sp>
        <p:nvSpPr>
          <p:cNvPr id="30" name="TextBox 29"/>
          <p:cNvSpPr txBox="1"/>
          <p:nvPr/>
        </p:nvSpPr>
        <p:spPr>
          <a:xfrm>
            <a:off x="7955279" y="2514600"/>
            <a:ext cx="1188719" cy="365760"/>
          </a:xfrm>
          <a:prstGeom prst="rect">
            <a:avLst/>
          </a:prstGeom>
          <a:noFill/>
        </p:spPr>
        <p:txBody>
          <a:bodyPr wrap="square">
            <a:spAutoFit/>
          </a:bodyPr>
          <a:lstStyle/>
          <a:p>
            <a:pPr algn="l"/>
            <a:r>
              <a:rPr sz="1100" b="0" i="0">
                <a:solidFill>
                  <a:srgbClr val="1E293B"/>
                </a:solidFill>
                <a:latin typeface="Calibri"/>
              </a:rPr>
              <a:t>0,78</a:t>
            </a:r>
          </a:p>
        </p:txBody>
      </p:sp>
      <p:sp>
        <p:nvSpPr>
          <p:cNvPr id="31" name="TextBox 30"/>
          <p:cNvSpPr txBox="1"/>
          <p:nvPr/>
        </p:nvSpPr>
        <p:spPr>
          <a:xfrm>
            <a:off x="9235440" y="2514600"/>
            <a:ext cx="1188719" cy="365760"/>
          </a:xfrm>
          <a:prstGeom prst="rect">
            <a:avLst/>
          </a:prstGeom>
          <a:noFill/>
        </p:spPr>
        <p:txBody>
          <a:bodyPr wrap="square">
            <a:spAutoFit/>
          </a:bodyPr>
          <a:lstStyle/>
          <a:p>
            <a:pPr algn="l"/>
            <a:r>
              <a:rPr sz="1100" b="0" i="0">
                <a:solidFill>
                  <a:srgbClr val="1E293B"/>
                </a:solidFill>
                <a:latin typeface="Calibri"/>
              </a:rPr>
              <a:t>0,62</a:t>
            </a:r>
          </a:p>
        </p:txBody>
      </p:sp>
      <p:sp>
        <p:nvSpPr>
          <p:cNvPr id="32" name="TextBox 31"/>
          <p:cNvSpPr txBox="1"/>
          <p:nvPr/>
        </p:nvSpPr>
        <p:spPr>
          <a:xfrm>
            <a:off x="10515600" y="2514600"/>
            <a:ext cx="1188719" cy="365760"/>
          </a:xfrm>
          <a:prstGeom prst="rect">
            <a:avLst/>
          </a:prstGeom>
          <a:noFill/>
        </p:spPr>
        <p:txBody>
          <a:bodyPr wrap="square">
            <a:spAutoFit/>
          </a:bodyPr>
          <a:lstStyle/>
          <a:p>
            <a:pPr algn="l"/>
            <a:r>
              <a:rPr sz="1100" b="0" i="0">
                <a:solidFill>
                  <a:srgbClr val="1E293B"/>
                </a:solidFill>
                <a:latin typeface="Calibri"/>
              </a:rPr>
              <a:t>0,82</a:t>
            </a:r>
          </a:p>
        </p:txBody>
      </p:sp>
      <p:sp>
        <p:nvSpPr>
          <p:cNvPr id="33" name="Rectangle 32"/>
          <p:cNvSpPr/>
          <p:nvPr/>
        </p:nvSpPr>
        <p:spPr>
          <a:xfrm>
            <a:off x="457200" y="2898648"/>
            <a:ext cx="11247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2971800"/>
            <a:ext cx="4754880" cy="365760"/>
          </a:xfrm>
          <a:prstGeom prst="rect">
            <a:avLst/>
          </a:prstGeom>
          <a:noFill/>
        </p:spPr>
        <p:txBody>
          <a:bodyPr wrap="square">
            <a:spAutoFit/>
          </a:bodyPr>
          <a:lstStyle/>
          <a:p>
            <a:pPr algn="l"/>
            <a:r>
              <a:rPr sz="1100" b="0" i="0">
                <a:solidFill>
                  <a:srgbClr val="1E293B"/>
                </a:solidFill>
                <a:latin typeface="Calibri"/>
              </a:rPr>
              <a:t>Random Forest de base (100 arbres)</a:t>
            </a:r>
          </a:p>
        </p:txBody>
      </p:sp>
      <p:sp>
        <p:nvSpPr>
          <p:cNvPr id="35" name="TextBox 34"/>
          <p:cNvSpPr txBox="1"/>
          <p:nvPr/>
        </p:nvSpPr>
        <p:spPr>
          <a:xfrm>
            <a:off x="5394959" y="2971800"/>
            <a:ext cx="1188719" cy="365760"/>
          </a:xfrm>
          <a:prstGeom prst="rect">
            <a:avLst/>
          </a:prstGeom>
          <a:noFill/>
        </p:spPr>
        <p:txBody>
          <a:bodyPr wrap="square">
            <a:spAutoFit/>
          </a:bodyPr>
          <a:lstStyle/>
          <a:p>
            <a:pPr algn="l"/>
            <a:r>
              <a:rPr sz="1100" b="0" i="0">
                <a:solidFill>
                  <a:srgbClr val="1E293B"/>
                </a:solidFill>
                <a:latin typeface="Calibri"/>
              </a:rPr>
              <a:t>0,79</a:t>
            </a:r>
          </a:p>
        </p:txBody>
      </p:sp>
      <p:sp>
        <p:nvSpPr>
          <p:cNvPr id="36" name="TextBox 35"/>
          <p:cNvSpPr txBox="1"/>
          <p:nvPr/>
        </p:nvSpPr>
        <p:spPr>
          <a:xfrm>
            <a:off x="6675119" y="2971800"/>
            <a:ext cx="1188719" cy="365760"/>
          </a:xfrm>
          <a:prstGeom prst="rect">
            <a:avLst/>
          </a:prstGeom>
          <a:noFill/>
        </p:spPr>
        <p:txBody>
          <a:bodyPr wrap="square">
            <a:spAutoFit/>
          </a:bodyPr>
          <a:lstStyle/>
          <a:p>
            <a:pPr algn="l"/>
            <a:r>
              <a:rPr sz="1100" b="0" i="0">
                <a:solidFill>
                  <a:srgbClr val="1E293B"/>
                </a:solidFill>
                <a:latin typeface="Calibri"/>
              </a:rPr>
              <a:t>0,64</a:t>
            </a:r>
          </a:p>
        </p:txBody>
      </p:sp>
      <p:sp>
        <p:nvSpPr>
          <p:cNvPr id="37" name="TextBox 36"/>
          <p:cNvSpPr txBox="1"/>
          <p:nvPr/>
        </p:nvSpPr>
        <p:spPr>
          <a:xfrm>
            <a:off x="7955279" y="2971800"/>
            <a:ext cx="1188719" cy="365760"/>
          </a:xfrm>
          <a:prstGeom prst="rect">
            <a:avLst/>
          </a:prstGeom>
          <a:noFill/>
        </p:spPr>
        <p:txBody>
          <a:bodyPr wrap="square">
            <a:spAutoFit/>
          </a:bodyPr>
          <a:lstStyle/>
          <a:p>
            <a:pPr algn="l"/>
            <a:r>
              <a:rPr sz="1100" b="0" i="0">
                <a:solidFill>
                  <a:srgbClr val="1E293B"/>
                </a:solidFill>
                <a:latin typeface="Calibri"/>
              </a:rPr>
              <a:t>0,49</a:t>
            </a:r>
          </a:p>
        </p:txBody>
      </p:sp>
      <p:sp>
        <p:nvSpPr>
          <p:cNvPr id="38" name="TextBox 37"/>
          <p:cNvSpPr txBox="1"/>
          <p:nvPr/>
        </p:nvSpPr>
        <p:spPr>
          <a:xfrm>
            <a:off x="9235440" y="2971800"/>
            <a:ext cx="1188719" cy="365760"/>
          </a:xfrm>
          <a:prstGeom prst="rect">
            <a:avLst/>
          </a:prstGeom>
          <a:noFill/>
        </p:spPr>
        <p:txBody>
          <a:bodyPr wrap="square">
            <a:spAutoFit/>
          </a:bodyPr>
          <a:lstStyle/>
          <a:p>
            <a:pPr algn="l"/>
            <a:r>
              <a:rPr sz="1100" b="0" i="0">
                <a:solidFill>
                  <a:srgbClr val="1E293B"/>
                </a:solidFill>
                <a:latin typeface="Calibri"/>
              </a:rPr>
              <a:t>0,55</a:t>
            </a:r>
          </a:p>
        </p:txBody>
      </p:sp>
      <p:sp>
        <p:nvSpPr>
          <p:cNvPr id="39" name="TextBox 38"/>
          <p:cNvSpPr txBox="1"/>
          <p:nvPr/>
        </p:nvSpPr>
        <p:spPr>
          <a:xfrm>
            <a:off x="10515600" y="2971800"/>
            <a:ext cx="1188719" cy="365760"/>
          </a:xfrm>
          <a:prstGeom prst="rect">
            <a:avLst/>
          </a:prstGeom>
          <a:noFill/>
        </p:spPr>
        <p:txBody>
          <a:bodyPr wrap="square">
            <a:spAutoFit/>
          </a:bodyPr>
          <a:lstStyle/>
          <a:p>
            <a:pPr algn="l"/>
            <a:r>
              <a:rPr sz="1100" b="0" i="0">
                <a:solidFill>
                  <a:srgbClr val="1E293B"/>
                </a:solidFill>
                <a:latin typeface="Calibri"/>
              </a:rPr>
              <a:t>0,82</a:t>
            </a:r>
          </a:p>
        </p:txBody>
      </p:sp>
      <p:sp>
        <p:nvSpPr>
          <p:cNvPr id="40" name="Rectangle 39"/>
          <p:cNvSpPr/>
          <p:nvPr/>
        </p:nvSpPr>
        <p:spPr>
          <a:xfrm>
            <a:off x="457200" y="3355848"/>
            <a:ext cx="11247120" cy="457200"/>
          </a:xfrm>
          <a:prstGeom prst="rect">
            <a:avLst/>
          </a:prstGeom>
          <a:solidFill>
            <a:srgbClr val="E8F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3429000"/>
            <a:ext cx="4754880" cy="365760"/>
          </a:xfrm>
          <a:prstGeom prst="rect">
            <a:avLst/>
          </a:prstGeom>
          <a:noFill/>
        </p:spPr>
        <p:txBody>
          <a:bodyPr wrap="square">
            <a:spAutoFit/>
          </a:bodyPr>
          <a:lstStyle/>
          <a:p>
            <a:pPr algn="l"/>
            <a:r>
              <a:rPr sz="1100" b="1" i="0">
                <a:solidFill>
                  <a:srgbClr val="1E293B"/>
                </a:solidFill>
                <a:latin typeface="Calibri"/>
              </a:rPr>
              <a:t>Random Forest optimisé (max_depth=10) — modèle déployé</a:t>
            </a:r>
          </a:p>
        </p:txBody>
      </p:sp>
      <p:sp>
        <p:nvSpPr>
          <p:cNvPr id="42" name="TextBox 41"/>
          <p:cNvSpPr txBox="1"/>
          <p:nvPr/>
        </p:nvSpPr>
        <p:spPr>
          <a:xfrm>
            <a:off x="5394959" y="3429000"/>
            <a:ext cx="1188719" cy="365760"/>
          </a:xfrm>
          <a:prstGeom prst="rect">
            <a:avLst/>
          </a:prstGeom>
          <a:noFill/>
        </p:spPr>
        <p:txBody>
          <a:bodyPr wrap="square">
            <a:spAutoFit/>
          </a:bodyPr>
          <a:lstStyle/>
          <a:p>
            <a:pPr algn="l"/>
            <a:r>
              <a:rPr sz="1100" b="0" i="0">
                <a:solidFill>
                  <a:srgbClr val="1E293B"/>
                </a:solidFill>
                <a:latin typeface="Calibri"/>
              </a:rPr>
              <a:t>0,77</a:t>
            </a:r>
          </a:p>
        </p:txBody>
      </p:sp>
      <p:sp>
        <p:nvSpPr>
          <p:cNvPr id="43" name="TextBox 42"/>
          <p:cNvSpPr txBox="1"/>
          <p:nvPr/>
        </p:nvSpPr>
        <p:spPr>
          <a:xfrm>
            <a:off x="6675119" y="3429000"/>
            <a:ext cx="1188719" cy="365760"/>
          </a:xfrm>
          <a:prstGeom prst="rect">
            <a:avLst/>
          </a:prstGeom>
          <a:noFill/>
        </p:spPr>
        <p:txBody>
          <a:bodyPr wrap="square">
            <a:spAutoFit/>
          </a:bodyPr>
          <a:lstStyle/>
          <a:p>
            <a:pPr algn="l"/>
            <a:r>
              <a:rPr sz="1100" b="0" i="0">
                <a:solidFill>
                  <a:srgbClr val="1E293B"/>
                </a:solidFill>
                <a:latin typeface="Calibri"/>
              </a:rPr>
              <a:t>0,54</a:t>
            </a:r>
          </a:p>
        </p:txBody>
      </p:sp>
      <p:sp>
        <p:nvSpPr>
          <p:cNvPr id="44" name="TextBox 43"/>
          <p:cNvSpPr txBox="1"/>
          <p:nvPr/>
        </p:nvSpPr>
        <p:spPr>
          <a:xfrm>
            <a:off x="7955279" y="3429000"/>
            <a:ext cx="1188719" cy="365760"/>
          </a:xfrm>
          <a:prstGeom prst="rect">
            <a:avLst/>
          </a:prstGeom>
          <a:noFill/>
        </p:spPr>
        <p:txBody>
          <a:bodyPr wrap="square">
            <a:spAutoFit/>
          </a:bodyPr>
          <a:lstStyle/>
          <a:p>
            <a:pPr algn="l"/>
            <a:r>
              <a:rPr sz="1100" b="0" i="0">
                <a:solidFill>
                  <a:srgbClr val="1E293B"/>
                </a:solidFill>
                <a:latin typeface="Calibri"/>
              </a:rPr>
              <a:t>0,72</a:t>
            </a:r>
          </a:p>
        </p:txBody>
      </p:sp>
      <p:sp>
        <p:nvSpPr>
          <p:cNvPr id="45" name="TextBox 44"/>
          <p:cNvSpPr txBox="1"/>
          <p:nvPr/>
        </p:nvSpPr>
        <p:spPr>
          <a:xfrm>
            <a:off x="9235440" y="3429000"/>
            <a:ext cx="1188719" cy="365760"/>
          </a:xfrm>
          <a:prstGeom prst="rect">
            <a:avLst/>
          </a:prstGeom>
          <a:noFill/>
        </p:spPr>
        <p:txBody>
          <a:bodyPr wrap="square">
            <a:spAutoFit/>
          </a:bodyPr>
          <a:lstStyle/>
          <a:p>
            <a:pPr algn="l"/>
            <a:r>
              <a:rPr sz="1100" b="0" i="0">
                <a:solidFill>
                  <a:srgbClr val="1E293B"/>
                </a:solidFill>
                <a:latin typeface="Calibri"/>
              </a:rPr>
              <a:t>0,62</a:t>
            </a:r>
          </a:p>
        </p:txBody>
      </p:sp>
      <p:sp>
        <p:nvSpPr>
          <p:cNvPr id="46" name="TextBox 45"/>
          <p:cNvSpPr txBox="1"/>
          <p:nvPr/>
        </p:nvSpPr>
        <p:spPr>
          <a:xfrm>
            <a:off x="10515600" y="3429000"/>
            <a:ext cx="1188719" cy="365760"/>
          </a:xfrm>
          <a:prstGeom prst="rect">
            <a:avLst/>
          </a:prstGeom>
          <a:noFill/>
        </p:spPr>
        <p:txBody>
          <a:bodyPr wrap="square">
            <a:spAutoFit/>
          </a:bodyPr>
          <a:lstStyle/>
          <a:p>
            <a:pPr algn="l"/>
            <a:r>
              <a:rPr sz="1100" b="0" i="0">
                <a:solidFill>
                  <a:srgbClr val="1E293B"/>
                </a:solidFill>
                <a:latin typeface="Calibri"/>
              </a:rPr>
              <a:t>0,84</a:t>
            </a:r>
          </a:p>
        </p:txBody>
      </p:sp>
      <p:sp>
        <p:nvSpPr>
          <p:cNvPr id="47" name="Rectangle 46"/>
          <p:cNvSpPr/>
          <p:nvPr/>
        </p:nvSpPr>
        <p:spPr>
          <a:xfrm>
            <a:off x="457200" y="3931920"/>
            <a:ext cx="11247120" cy="2377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4023360"/>
            <a:ext cx="10881360" cy="347472"/>
          </a:xfrm>
          <a:prstGeom prst="rect">
            <a:avLst/>
          </a:prstGeom>
          <a:noFill/>
        </p:spPr>
        <p:txBody>
          <a:bodyPr wrap="square">
            <a:spAutoFit/>
          </a:bodyPr>
          <a:lstStyle/>
          <a:p>
            <a:pPr algn="l"/>
            <a:r>
              <a:rPr sz="1300" b="1" i="0">
                <a:solidFill>
                  <a:srgbClr val="0F172A"/>
                </a:solidFill>
                <a:latin typeface="Calibri"/>
              </a:rPr>
              <a:t>Ce qu'on remarque</a:t>
            </a:r>
          </a:p>
        </p:txBody>
      </p:sp>
      <p:sp>
        <p:nvSpPr>
          <p:cNvPr id="49" name="TextBox 48"/>
          <p:cNvSpPr txBox="1"/>
          <p:nvPr/>
        </p:nvSpPr>
        <p:spPr>
          <a:xfrm>
            <a:off x="640080" y="4389120"/>
            <a:ext cx="10881360" cy="1874519"/>
          </a:xfrm>
          <a:prstGeom prst="rect">
            <a:avLst/>
          </a:prstGeom>
          <a:noFill/>
        </p:spPr>
        <p:txBody>
          <a:bodyPr wrap="square">
            <a:spAutoFit/>
          </a:bodyPr>
          <a:lstStyle/>
          <a:p>
            <a:pPr algn="l"/>
            <a:r>
              <a:rPr sz="1050" b="0" i="0">
                <a:solidFill>
                  <a:srgbClr val="1E293B"/>
                </a:solidFill>
                <a:latin typeface="Calibri"/>
              </a:rPr>
              <a:t>Le Random Forest de base (arbres sans limite de profondeur) est très précis (0,64) mais rate un churner sur deux (rappel 0,49) : il apprend par cœur. Une fois optimisé par la grille (max_depth=10), il change de profil : il repère près de trois churners sur quatre (rappel 0,72) et obtient le meilleur F1 des modèles testés (0,62), avec un AUC égal à celui de la régression logistique (0,84). Les modèles linéaires restent très proches (F1 0,61, rappel 0,78) : aucun modèle n'écrase les autres, ce qui est normal avec ce type de données. Le choix final dépend donc de ce qu'on veut privilégier pour le métier : rater peu de départs (rappel) ou faire peu de fausses alertes (précision).</a:t>
            </a:r>
          </a:p>
        </p:txBody>
      </p:sp>
      <p:sp>
        <p:nvSpPr>
          <p:cNvPr id="50" name="TextBox 49"/>
          <p:cNvSpPr txBox="1"/>
          <p:nvPr/>
        </p:nvSpPr>
        <p:spPr>
          <a:xfrm>
            <a:off x="457200" y="6492240"/>
            <a:ext cx="11247120" cy="292608"/>
          </a:xfrm>
          <a:prstGeom prst="rect">
            <a:avLst/>
          </a:prstGeom>
          <a:noFill/>
        </p:spPr>
        <p:txBody>
          <a:bodyPr wrap="square">
            <a:spAutoFit/>
          </a:bodyPr>
          <a:lstStyle/>
          <a:p>
            <a:pPr algn="ctr"/>
            <a:r>
              <a:rPr sz="1000" b="0" i="1">
                <a:solidFill>
                  <a:srgbClr val="64748B"/>
                </a:solidFill>
                <a:latin typeface="Calibri"/>
              </a:rPr>
              <a:t>Même découpage pour tous : 5 634 clients d'entraînement, 1 409 clients de test, stratifié, random_state=42.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Optimisation des hyperparamètres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06 — GridSearchCV et validation croisée</a:t>
            </a:r>
          </a:p>
        </p:txBody>
      </p:sp>
      <p:sp>
        <p:nvSpPr>
          <p:cNvPr id="5" name="Rectangle 4"/>
          <p:cNvSpPr/>
          <p:nvPr/>
        </p:nvSpPr>
        <p:spPr>
          <a:xfrm>
            <a:off x="457200" y="1143000"/>
            <a:ext cx="5577840" cy="2788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5257800" cy="347472"/>
          </a:xfrm>
          <a:prstGeom prst="rect">
            <a:avLst/>
          </a:prstGeom>
          <a:noFill/>
        </p:spPr>
        <p:txBody>
          <a:bodyPr wrap="square">
            <a:spAutoFit/>
          </a:bodyPr>
          <a:lstStyle/>
          <a:p>
            <a:pPr algn="l"/>
            <a:r>
              <a:rPr sz="1250" b="1" i="0">
                <a:solidFill>
                  <a:srgbClr val="FFFFFF"/>
                </a:solidFill>
                <a:latin typeface="Calibri"/>
              </a:rPr>
              <a:t>Ce que j'ai fait, et pourquoi</a:t>
            </a:r>
          </a:p>
        </p:txBody>
      </p:sp>
      <p:sp>
        <p:nvSpPr>
          <p:cNvPr id="7" name="TextBox 6"/>
          <p:cNvSpPr txBox="1"/>
          <p:nvPr/>
        </p:nvSpPr>
        <p:spPr>
          <a:xfrm>
            <a:off x="640080" y="1600200"/>
            <a:ext cx="5257800" cy="2240279"/>
          </a:xfrm>
          <a:prstGeom prst="rect">
            <a:avLst/>
          </a:prstGeom>
          <a:noFill/>
        </p:spPr>
        <p:txBody>
          <a:bodyPr wrap="square">
            <a:spAutoFit/>
          </a:bodyPr>
          <a:lstStyle/>
          <a:p>
            <a:pPr algn="l"/>
            <a:r>
              <a:rPr sz="1050" b="0" i="0">
                <a:solidFill>
                  <a:srgbClr val="FFFFFF"/>
                </a:solidFill>
                <a:latin typeface="Calibri"/>
              </a:rPr>
              <a:t>Un hyperparamètre est un réglage du modèle choisi avant l'entraînement (ex. le nombre d'arbres). GridSearchCV (= recherche en grille) teste automatiquement toutes les combinaisons d'une grille que je définis et garde la meilleure. Pour évaluer chaque combinaison de façon fiable, il utilise la validation croisée stratifiée à 5 plis : les données d'entraînement sont découpées en 5 morceaux, le modèle est entraîné 5 fois en changeant à chaque fois le morceau qui sert à valider, puis on fait la moyenne. Cela évite de se faire avoir par un découpage chanceux.</a:t>
            </a:r>
          </a:p>
        </p:txBody>
      </p:sp>
      <p:sp>
        <p:nvSpPr>
          <p:cNvPr id="8" name="Rectangle 7"/>
          <p:cNvSpPr/>
          <p:nvPr/>
        </p:nvSpPr>
        <p:spPr>
          <a:xfrm>
            <a:off x="6309360" y="1143000"/>
            <a:ext cx="5394960" cy="2788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34440"/>
            <a:ext cx="5029200" cy="347472"/>
          </a:xfrm>
          <a:prstGeom prst="rect">
            <a:avLst/>
          </a:prstGeom>
          <a:noFill/>
        </p:spPr>
        <p:txBody>
          <a:bodyPr wrap="square">
            <a:spAutoFit/>
          </a:bodyPr>
          <a:lstStyle/>
          <a:p>
            <a:pPr algn="l"/>
            <a:r>
              <a:rPr sz="1250" b="1" i="0">
                <a:solidFill>
                  <a:srgbClr val="0F172A"/>
                </a:solidFill>
                <a:latin typeface="Calibri"/>
              </a:rPr>
              <a:t>La grille testée sur le Random Forest</a:t>
            </a:r>
          </a:p>
        </p:txBody>
      </p:sp>
      <p:sp>
        <p:nvSpPr>
          <p:cNvPr id="10" name="TextBox 9"/>
          <p:cNvSpPr txBox="1"/>
          <p:nvPr/>
        </p:nvSpPr>
        <p:spPr>
          <a:xfrm>
            <a:off x="6492240" y="1645920"/>
            <a:ext cx="5029200" cy="548640"/>
          </a:xfrm>
          <a:prstGeom prst="rect">
            <a:avLst/>
          </a:prstGeom>
          <a:noFill/>
        </p:spPr>
        <p:txBody>
          <a:bodyPr wrap="square">
            <a:spAutoFit/>
          </a:bodyPr>
          <a:lstStyle/>
          <a:p>
            <a:pPr algn="l"/>
            <a:r>
              <a:rPr sz="1050" b="0" i="0">
                <a:solidFill>
                  <a:srgbClr val="1E293B"/>
                </a:solidFill>
                <a:latin typeface="Calibri"/>
              </a:rPr>
              <a:t>•  n_estimators (nombre d'arbres) : 100 ou 200</a:t>
            </a:r>
          </a:p>
        </p:txBody>
      </p:sp>
      <p:sp>
        <p:nvSpPr>
          <p:cNvPr id="11" name="TextBox 10"/>
          <p:cNvSpPr txBox="1"/>
          <p:nvPr/>
        </p:nvSpPr>
        <p:spPr>
          <a:xfrm>
            <a:off x="6492240" y="2103120"/>
            <a:ext cx="5029200" cy="548640"/>
          </a:xfrm>
          <a:prstGeom prst="rect">
            <a:avLst/>
          </a:prstGeom>
          <a:noFill/>
        </p:spPr>
        <p:txBody>
          <a:bodyPr wrap="square">
            <a:spAutoFit/>
          </a:bodyPr>
          <a:lstStyle/>
          <a:p>
            <a:pPr algn="l"/>
            <a:r>
              <a:rPr sz="1050" b="0" i="0">
                <a:solidFill>
                  <a:srgbClr val="1E293B"/>
                </a:solidFill>
                <a:latin typeface="Calibri"/>
              </a:rPr>
              <a:t>•  max_depth (profondeur maximale d'un arbre) : illimitée, 10 ou 20</a:t>
            </a:r>
          </a:p>
        </p:txBody>
      </p:sp>
      <p:sp>
        <p:nvSpPr>
          <p:cNvPr id="12" name="TextBox 11"/>
          <p:cNvSpPr txBox="1"/>
          <p:nvPr/>
        </p:nvSpPr>
        <p:spPr>
          <a:xfrm>
            <a:off x="6492240" y="2560320"/>
            <a:ext cx="5029200" cy="548640"/>
          </a:xfrm>
          <a:prstGeom prst="rect">
            <a:avLst/>
          </a:prstGeom>
          <a:noFill/>
        </p:spPr>
        <p:txBody>
          <a:bodyPr wrap="square">
            <a:spAutoFit/>
          </a:bodyPr>
          <a:lstStyle/>
          <a:p>
            <a:pPr algn="l"/>
            <a:r>
              <a:rPr sz="1050" b="0" i="0">
                <a:solidFill>
                  <a:srgbClr val="1E293B"/>
                </a:solidFill>
                <a:latin typeface="Calibri"/>
              </a:rPr>
              <a:t>•  min_samples_split (taille minimale d'un nœud pour le couper) : 2 ou 5</a:t>
            </a:r>
          </a:p>
        </p:txBody>
      </p:sp>
      <p:sp>
        <p:nvSpPr>
          <p:cNvPr id="13" name="TextBox 12"/>
          <p:cNvSpPr txBox="1"/>
          <p:nvPr/>
        </p:nvSpPr>
        <p:spPr>
          <a:xfrm>
            <a:off x="6492240" y="3017520"/>
            <a:ext cx="5029200" cy="548640"/>
          </a:xfrm>
          <a:prstGeom prst="rect">
            <a:avLst/>
          </a:prstGeom>
          <a:noFill/>
        </p:spPr>
        <p:txBody>
          <a:bodyPr wrap="square">
            <a:spAutoFit/>
          </a:bodyPr>
          <a:lstStyle/>
          <a:p>
            <a:pPr algn="l"/>
            <a:r>
              <a:rPr sz="1050" b="0" i="0">
                <a:solidFill>
                  <a:srgbClr val="1E293B"/>
                </a:solidFill>
                <a:latin typeface="Calibri"/>
              </a:rPr>
              <a:t>•  min_samples_leaf (taille minimale d'une feuille) : 1 ou 2</a:t>
            </a:r>
          </a:p>
        </p:txBody>
      </p:sp>
      <p:sp>
        <p:nvSpPr>
          <p:cNvPr id="14" name="TextBox 13"/>
          <p:cNvSpPr txBox="1"/>
          <p:nvPr/>
        </p:nvSpPr>
        <p:spPr>
          <a:xfrm>
            <a:off x="6492240" y="3520440"/>
            <a:ext cx="5029200" cy="347472"/>
          </a:xfrm>
          <a:prstGeom prst="rect">
            <a:avLst/>
          </a:prstGeom>
          <a:noFill/>
        </p:spPr>
        <p:txBody>
          <a:bodyPr wrap="square">
            <a:spAutoFit/>
          </a:bodyPr>
          <a:lstStyle/>
          <a:p>
            <a:pPr algn="l"/>
            <a:r>
              <a:rPr sz="1100" b="1" i="0">
                <a:solidFill>
                  <a:srgbClr val="6366F1"/>
                </a:solidFill>
                <a:latin typeface="Calibri"/>
              </a:rPr>
              <a:t>24 combinaisons × 5 plis = 120 entraînements · métrique : F1-Score</a:t>
            </a:r>
          </a:p>
        </p:txBody>
      </p:sp>
      <p:sp>
        <p:nvSpPr>
          <p:cNvPr id="15" name="Rectangle 14"/>
          <p:cNvSpPr/>
          <p:nvPr/>
        </p:nvSpPr>
        <p:spPr>
          <a:xfrm>
            <a:off x="457200" y="4069080"/>
            <a:ext cx="5577840" cy="2194560"/>
          </a:xfrm>
          <a:prstGeom prst="rect">
            <a:avLst/>
          </a:prstGeom>
          <a:solidFill>
            <a:srgbClr val="E8F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069080"/>
            <a:ext cx="64008" cy="2194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160520"/>
            <a:ext cx="5257800" cy="347472"/>
          </a:xfrm>
          <a:prstGeom prst="rect">
            <a:avLst/>
          </a:prstGeom>
          <a:noFill/>
        </p:spPr>
        <p:txBody>
          <a:bodyPr wrap="square">
            <a:spAutoFit/>
          </a:bodyPr>
          <a:lstStyle/>
          <a:p>
            <a:pPr algn="l"/>
            <a:r>
              <a:rPr sz="1250" b="1" i="0">
                <a:solidFill>
                  <a:srgbClr val="0F172A"/>
                </a:solidFill>
                <a:latin typeface="Calibri"/>
              </a:rPr>
              <a:t>Résultat de la recherche en grille (notebook 03)</a:t>
            </a:r>
          </a:p>
        </p:txBody>
      </p:sp>
      <p:sp>
        <p:nvSpPr>
          <p:cNvPr id="18" name="TextBox 17"/>
          <p:cNvSpPr txBox="1"/>
          <p:nvPr/>
        </p:nvSpPr>
        <p:spPr>
          <a:xfrm>
            <a:off x="640080" y="4526280"/>
            <a:ext cx="5257800" cy="1645919"/>
          </a:xfrm>
          <a:prstGeom prst="rect">
            <a:avLst/>
          </a:prstGeom>
          <a:noFill/>
        </p:spPr>
        <p:txBody>
          <a:bodyPr wrap="square">
            <a:spAutoFit/>
          </a:bodyPr>
          <a:lstStyle/>
          <a:p>
            <a:pPr algn="l"/>
            <a:r>
              <a:rPr sz="1050" b="0" i="0">
                <a:solidFill>
                  <a:srgbClr val="1E293B"/>
                </a:solidFill>
                <a:latin typeface="Calibri"/>
              </a:rPr>
              <a:t>Meilleure combinaison : n_estimators=200, max_depth=10, min_samples_split=2, min_samples_leaf=1, avec un F1 de 0,63 en validation croisée. Sur le jeu de test, ce modèle obtient un F1 de 0,62 et un rappel de 0,72 — le meilleur compromis de tous les modèles testés.</a:t>
            </a:r>
          </a:p>
        </p:txBody>
      </p:sp>
      <p:sp>
        <p:nvSpPr>
          <p:cNvPr id="19" name="Rectangle 18"/>
          <p:cNvSpPr/>
          <p:nvPr/>
        </p:nvSpPr>
        <p:spPr>
          <a:xfrm>
            <a:off x="6309360" y="4069080"/>
            <a:ext cx="5394960" cy="2194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69080"/>
            <a:ext cx="64008" cy="2194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160520"/>
            <a:ext cx="5074920" cy="347472"/>
          </a:xfrm>
          <a:prstGeom prst="rect">
            <a:avLst/>
          </a:prstGeom>
          <a:noFill/>
        </p:spPr>
        <p:txBody>
          <a:bodyPr wrap="square">
            <a:spAutoFit/>
          </a:bodyPr>
          <a:lstStyle/>
          <a:p>
            <a:pPr algn="l"/>
            <a:r>
              <a:rPr sz="1250" b="1" i="0">
                <a:solidFill>
                  <a:srgbClr val="0F172A"/>
                </a:solidFill>
                <a:latin typeface="Calibri"/>
              </a:rPr>
              <a:t>Ce que ma relecture finale a corrigé</a:t>
            </a:r>
          </a:p>
        </p:txBody>
      </p:sp>
      <p:sp>
        <p:nvSpPr>
          <p:cNvPr id="22" name="TextBox 21"/>
          <p:cNvSpPr txBox="1"/>
          <p:nvPr/>
        </p:nvSpPr>
        <p:spPr>
          <a:xfrm>
            <a:off x="6492240" y="4526280"/>
            <a:ext cx="5074920" cy="1645919"/>
          </a:xfrm>
          <a:prstGeom prst="rect">
            <a:avLst/>
          </a:prstGeom>
          <a:noFill/>
        </p:spPr>
        <p:txBody>
          <a:bodyPr wrap="square">
            <a:spAutoFit/>
          </a:bodyPr>
          <a:lstStyle/>
          <a:p>
            <a:pPr algn="l"/>
            <a:r>
              <a:rPr sz="1050" b="0" i="0">
                <a:solidFill>
                  <a:srgbClr val="1E293B"/>
                </a:solidFill>
                <a:latin typeface="Calibri"/>
              </a:rPr>
              <a:t>En relisant le projet, j'ai constaté que le modèle final avait d'abord été entraîné avec max_depth=20 au lieu du max_depth=10 choisi par la grille. Résultat : un modèle qui apprenait par cœur (F1 train 0,996) et ne repérait qu'un churner sur deux. Je l'ai réaligné sur le résultat de la grille : F1 test 0,56 → 0,62, rappel 0,50 → 0,72, et un écart train/test divisé par trois.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Le modèle retenu et pourquoi</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06 — Random Forest</a:t>
            </a:r>
          </a:p>
        </p:txBody>
      </p:sp>
      <p:sp>
        <p:nvSpPr>
          <p:cNvPr id="5" name="Rectangle 4"/>
          <p:cNvSpPr/>
          <p:nvPr/>
        </p:nvSpPr>
        <p:spPr>
          <a:xfrm>
            <a:off x="457200" y="1143000"/>
            <a:ext cx="5577840" cy="28346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28346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5257800" cy="347472"/>
          </a:xfrm>
          <a:prstGeom prst="rect">
            <a:avLst/>
          </a:prstGeom>
          <a:noFill/>
        </p:spPr>
        <p:txBody>
          <a:bodyPr wrap="square">
            <a:spAutoFit/>
          </a:bodyPr>
          <a:lstStyle/>
          <a:p>
            <a:pPr algn="l"/>
            <a:r>
              <a:rPr sz="1250" b="1" i="0">
                <a:solidFill>
                  <a:srgbClr val="0F172A"/>
                </a:solidFill>
                <a:latin typeface="Calibri"/>
              </a:rPr>
              <a:t>Pourquoi j'ai choisi le Random Forest</a:t>
            </a:r>
          </a:p>
        </p:txBody>
      </p:sp>
      <p:sp>
        <p:nvSpPr>
          <p:cNvPr id="8" name="TextBox 7"/>
          <p:cNvSpPr txBox="1"/>
          <p:nvPr/>
        </p:nvSpPr>
        <p:spPr>
          <a:xfrm>
            <a:off x="640080" y="1600200"/>
            <a:ext cx="5257800" cy="2286000"/>
          </a:xfrm>
          <a:prstGeom prst="rect">
            <a:avLst/>
          </a:prstGeom>
          <a:noFill/>
        </p:spPr>
        <p:txBody>
          <a:bodyPr wrap="square">
            <a:spAutoFit/>
          </a:bodyPr>
          <a:lstStyle/>
          <a:p>
            <a:pPr algn="l"/>
            <a:r>
              <a:rPr sz="1050" b="0" i="0">
                <a:solidFill>
                  <a:srgbClr val="1E293B"/>
                </a:solidFill>
                <a:latin typeface="Calibri"/>
              </a:rPr>
              <a:t>J'ai retenu le Random Forest optimisé pour trois raisons. D'abord, c'est le meilleur F1 des modèles testés (0,62) avec un AUC de 0,84, et il repère près de trois churners sur quatre (rappel 0,72). Ensuite, il capture naturellement les interactions entre variables (l'effet combiné d'un contrat mensuel, d'une faible ancienneté et de la fibre), sans que j'aie à les construire à la main comme il le faudrait pour une régression logistique. Enfin, il fournit une importance des variables (tenure, TotalCharges, MonthlyCharges, type de contrat) directement exploitable pour expliquer les résultats à l'équipe commerciale.</a:t>
            </a:r>
          </a:p>
        </p:txBody>
      </p:sp>
      <p:sp>
        <p:nvSpPr>
          <p:cNvPr id="9" name="Rectangle 8"/>
          <p:cNvSpPr/>
          <p:nvPr/>
        </p:nvSpPr>
        <p:spPr>
          <a:xfrm>
            <a:off x="6309360" y="1143000"/>
            <a:ext cx="5394960" cy="28346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34440"/>
            <a:ext cx="5074920" cy="347472"/>
          </a:xfrm>
          <a:prstGeom prst="rect">
            <a:avLst/>
          </a:prstGeom>
          <a:noFill/>
        </p:spPr>
        <p:txBody>
          <a:bodyPr wrap="square">
            <a:spAutoFit/>
          </a:bodyPr>
          <a:lstStyle/>
          <a:p>
            <a:pPr algn="l"/>
            <a:r>
              <a:rPr sz="1250" b="1" i="0">
                <a:solidFill>
                  <a:srgbClr val="FFFFFF"/>
                </a:solidFill>
                <a:latin typeface="Calibri"/>
              </a:rPr>
              <a:t>Les limites de ce choix</a:t>
            </a:r>
          </a:p>
        </p:txBody>
      </p:sp>
      <p:sp>
        <p:nvSpPr>
          <p:cNvPr id="11" name="TextBox 10"/>
          <p:cNvSpPr txBox="1"/>
          <p:nvPr/>
        </p:nvSpPr>
        <p:spPr>
          <a:xfrm>
            <a:off x="6492240" y="1600200"/>
            <a:ext cx="5074920" cy="2286000"/>
          </a:xfrm>
          <a:prstGeom prst="rect">
            <a:avLst/>
          </a:prstGeom>
          <a:noFill/>
        </p:spPr>
        <p:txBody>
          <a:bodyPr wrap="square">
            <a:spAutoFit/>
          </a:bodyPr>
          <a:lstStyle/>
          <a:p>
            <a:pPr algn="l"/>
            <a:r>
              <a:rPr sz="1050" b="0" i="0">
                <a:solidFill>
                  <a:srgbClr val="FFFFFF"/>
                </a:solidFill>
                <a:latin typeface="Calibri"/>
              </a:rPr>
              <a:t>La régression logistique reste une alternative crédible : même AUC (0,84), un rappel un peu plus élevé (0,78 contre 0,72) et aucun surapprentissage. En contrepartie, le Random Forest a une précision légèrement meilleure (0,54 contre 0,51) et conserve un surapprentissage modéré (écart de 0,15). Les deux modèles sont donc très proches : ce choix n'est pas « le seul possible », c'est un compromis que je sais expliquer, et le seuil de décision peut encore être ajusté selon le coût métier.</a:t>
            </a:r>
          </a:p>
        </p:txBody>
      </p:sp>
      <p:sp>
        <p:nvSpPr>
          <p:cNvPr id="12" name="Rectangle 11"/>
          <p:cNvSpPr/>
          <p:nvPr/>
        </p:nvSpPr>
        <p:spPr>
          <a:xfrm>
            <a:off x="457200" y="4114800"/>
            <a:ext cx="11247120" cy="2148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06240"/>
            <a:ext cx="10881360" cy="347472"/>
          </a:xfrm>
          <a:prstGeom prst="rect">
            <a:avLst/>
          </a:prstGeom>
          <a:noFill/>
        </p:spPr>
        <p:txBody>
          <a:bodyPr wrap="square">
            <a:spAutoFit/>
          </a:bodyPr>
          <a:lstStyle/>
          <a:p>
            <a:pPr algn="l"/>
            <a:r>
              <a:rPr sz="1250" b="1" i="0">
                <a:solidFill>
                  <a:srgbClr val="0F172A"/>
                </a:solidFill>
                <a:latin typeface="Calibri"/>
              </a:rPr>
              <a:t>Concrètement, sur les 1 409 clients de test</a:t>
            </a:r>
          </a:p>
        </p:txBody>
      </p:sp>
      <p:sp>
        <p:nvSpPr>
          <p:cNvPr id="14" name="TextBox 13"/>
          <p:cNvSpPr txBox="1"/>
          <p:nvPr/>
        </p:nvSpPr>
        <p:spPr>
          <a:xfrm>
            <a:off x="640080" y="4572000"/>
            <a:ext cx="10881360" cy="1645920"/>
          </a:xfrm>
          <a:prstGeom prst="rect">
            <a:avLst/>
          </a:prstGeom>
          <a:noFill/>
        </p:spPr>
        <p:txBody>
          <a:bodyPr wrap="square">
            <a:spAutoFit/>
          </a:bodyPr>
          <a:lstStyle/>
          <a:p>
            <a:pPr algn="l"/>
            <a:r>
              <a:rPr sz="1050" b="0" i="0">
                <a:solidFill>
                  <a:srgbClr val="1E293B"/>
                </a:solidFill>
                <a:latin typeface="Calibri"/>
              </a:rPr>
              <a:t>Sur les 374 clients qui ont vraiment résilié, le modèle en a repéré 269 (près de trois sur quatre). Sur les 495 clients qu'il a signalés comme à risque, 269 partaient vraiment (précision 0,54) et 226 étaient de fausses alertes. Les 809 autres clients fidèles ont été correctement reconnus. C'est un modèle orienté détection : il préfère signaler un peu trop de clients plutôt que d'en laisser partir — ce qui correspond au besoin métier, où un départ raté coûte plus cher qu'un appel pour rien.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Validation finale et surapprentissage</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06 — Est-ce que le modèle généralise ?</a:t>
            </a:r>
          </a:p>
        </p:txBody>
      </p:sp>
      <p:sp>
        <p:nvSpPr>
          <p:cNvPr id="5" name="Rectangle 4"/>
          <p:cNvSpPr/>
          <p:nvPr/>
        </p:nvSpPr>
        <p:spPr>
          <a:xfrm>
            <a:off x="457200" y="1143000"/>
            <a:ext cx="5577840" cy="23317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2331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5257800" cy="347472"/>
          </a:xfrm>
          <a:prstGeom prst="rect">
            <a:avLst/>
          </a:prstGeom>
          <a:noFill/>
        </p:spPr>
        <p:txBody>
          <a:bodyPr wrap="square">
            <a:spAutoFit/>
          </a:bodyPr>
          <a:lstStyle/>
          <a:p>
            <a:pPr algn="l"/>
            <a:r>
              <a:rPr sz="1250" b="1" i="0">
                <a:solidFill>
                  <a:srgbClr val="0F172A"/>
                </a:solidFill>
                <a:latin typeface="Calibri"/>
              </a:rPr>
              <a:t>Ce que j'ai vérifié</a:t>
            </a:r>
          </a:p>
        </p:txBody>
      </p:sp>
      <p:sp>
        <p:nvSpPr>
          <p:cNvPr id="8" name="TextBox 7"/>
          <p:cNvSpPr txBox="1"/>
          <p:nvPr/>
        </p:nvSpPr>
        <p:spPr>
          <a:xfrm>
            <a:off x="640080" y="1600200"/>
            <a:ext cx="5257800" cy="1783079"/>
          </a:xfrm>
          <a:prstGeom prst="rect">
            <a:avLst/>
          </a:prstGeom>
          <a:noFill/>
        </p:spPr>
        <p:txBody>
          <a:bodyPr wrap="square">
            <a:spAutoFit/>
          </a:bodyPr>
          <a:lstStyle/>
          <a:p>
            <a:pPr algn="l"/>
            <a:r>
              <a:rPr sz="1050" b="0" i="0">
                <a:solidFill>
                  <a:srgbClr val="1E293B"/>
                </a:solidFill>
                <a:latin typeface="Calibri"/>
              </a:rPr>
              <a:t>Un bon modèle doit fonctionner sur des clients qu'il n'a jamais vus. J'ai donc comparé ses scores sur les données d'entraînement et sur les données de test, et tracé des courbes d'apprentissage (= comment évoluent les scores train et validation quand on augmente la quantité de données d'entraînement).</a:t>
            </a:r>
          </a:p>
        </p:txBody>
      </p:sp>
      <p:sp>
        <p:nvSpPr>
          <p:cNvPr id="9" name="Rectangle 8"/>
          <p:cNvSpPr/>
          <p:nvPr/>
        </p:nvSpPr>
        <p:spPr>
          <a:xfrm>
            <a:off x="6309360" y="1143000"/>
            <a:ext cx="5394960" cy="23317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34440"/>
            <a:ext cx="5029200" cy="365760"/>
          </a:xfrm>
          <a:prstGeom prst="rect">
            <a:avLst/>
          </a:prstGeom>
          <a:noFill/>
        </p:spPr>
        <p:txBody>
          <a:bodyPr wrap="square">
            <a:spAutoFit/>
          </a:bodyPr>
          <a:lstStyle/>
          <a:p>
            <a:pPr algn="l"/>
            <a:r>
              <a:rPr sz="1300" b="1" i="0">
                <a:solidFill>
                  <a:srgbClr val="F59E0B"/>
                </a:solidFill>
                <a:latin typeface="Calibri"/>
              </a:rPr>
              <a:t>Résultat : surapprentissage modéré</a:t>
            </a:r>
          </a:p>
        </p:txBody>
      </p:sp>
      <p:sp>
        <p:nvSpPr>
          <p:cNvPr id="11" name="TextBox 10"/>
          <p:cNvSpPr txBox="1"/>
          <p:nvPr/>
        </p:nvSpPr>
        <p:spPr>
          <a:xfrm>
            <a:off x="6492240" y="1691640"/>
            <a:ext cx="2926080" cy="457200"/>
          </a:xfrm>
          <a:prstGeom prst="rect">
            <a:avLst/>
          </a:prstGeom>
          <a:noFill/>
        </p:spPr>
        <p:txBody>
          <a:bodyPr wrap="square">
            <a:spAutoFit/>
          </a:bodyPr>
          <a:lstStyle/>
          <a:p>
            <a:pPr algn="l"/>
            <a:r>
              <a:rPr sz="1200" b="0" i="0">
                <a:solidFill>
                  <a:srgbClr val="1E293B"/>
                </a:solidFill>
                <a:latin typeface="Calibri"/>
              </a:rPr>
              <a:t>F1 sur l'entraînement</a:t>
            </a:r>
          </a:p>
        </p:txBody>
      </p:sp>
      <p:sp>
        <p:nvSpPr>
          <p:cNvPr id="12" name="TextBox 11"/>
          <p:cNvSpPr txBox="1"/>
          <p:nvPr/>
        </p:nvSpPr>
        <p:spPr>
          <a:xfrm>
            <a:off x="9692640" y="1691640"/>
            <a:ext cx="1828800" cy="457200"/>
          </a:xfrm>
          <a:prstGeom prst="rect">
            <a:avLst/>
          </a:prstGeom>
          <a:noFill/>
        </p:spPr>
        <p:txBody>
          <a:bodyPr wrap="square">
            <a:spAutoFit/>
          </a:bodyPr>
          <a:lstStyle/>
          <a:p>
            <a:pPr algn="l"/>
            <a:r>
              <a:rPr sz="1700" b="1" i="0">
                <a:solidFill>
                  <a:srgbClr val="10B981"/>
                </a:solidFill>
                <a:latin typeface="Calibri"/>
              </a:rPr>
              <a:t>0,77</a:t>
            </a:r>
          </a:p>
        </p:txBody>
      </p:sp>
      <p:sp>
        <p:nvSpPr>
          <p:cNvPr id="13" name="TextBox 12"/>
          <p:cNvSpPr txBox="1"/>
          <p:nvPr/>
        </p:nvSpPr>
        <p:spPr>
          <a:xfrm>
            <a:off x="6492240" y="2240280"/>
            <a:ext cx="2926080" cy="457200"/>
          </a:xfrm>
          <a:prstGeom prst="rect">
            <a:avLst/>
          </a:prstGeom>
          <a:noFill/>
        </p:spPr>
        <p:txBody>
          <a:bodyPr wrap="square">
            <a:spAutoFit/>
          </a:bodyPr>
          <a:lstStyle/>
          <a:p>
            <a:pPr algn="l"/>
            <a:r>
              <a:rPr sz="1200" b="0" i="0">
                <a:solidFill>
                  <a:srgbClr val="1E293B"/>
                </a:solidFill>
                <a:latin typeface="Calibri"/>
              </a:rPr>
              <a:t>F1 sur le test</a:t>
            </a:r>
          </a:p>
        </p:txBody>
      </p:sp>
      <p:sp>
        <p:nvSpPr>
          <p:cNvPr id="14" name="TextBox 13"/>
          <p:cNvSpPr txBox="1"/>
          <p:nvPr/>
        </p:nvSpPr>
        <p:spPr>
          <a:xfrm>
            <a:off x="9692640" y="2240280"/>
            <a:ext cx="1828800" cy="457200"/>
          </a:xfrm>
          <a:prstGeom prst="rect">
            <a:avLst/>
          </a:prstGeom>
          <a:noFill/>
        </p:spPr>
        <p:txBody>
          <a:bodyPr wrap="square">
            <a:spAutoFit/>
          </a:bodyPr>
          <a:lstStyle/>
          <a:p>
            <a:pPr algn="l"/>
            <a:r>
              <a:rPr sz="1700" b="1" i="0">
                <a:solidFill>
                  <a:srgbClr val="6366F1"/>
                </a:solidFill>
                <a:latin typeface="Calibri"/>
              </a:rPr>
              <a:t>0,62</a:t>
            </a:r>
          </a:p>
        </p:txBody>
      </p:sp>
      <p:sp>
        <p:nvSpPr>
          <p:cNvPr id="15" name="TextBox 14"/>
          <p:cNvSpPr txBox="1"/>
          <p:nvPr/>
        </p:nvSpPr>
        <p:spPr>
          <a:xfrm>
            <a:off x="6492240" y="2788920"/>
            <a:ext cx="2926080" cy="457200"/>
          </a:xfrm>
          <a:prstGeom prst="rect">
            <a:avLst/>
          </a:prstGeom>
          <a:noFill/>
        </p:spPr>
        <p:txBody>
          <a:bodyPr wrap="square">
            <a:spAutoFit/>
          </a:bodyPr>
          <a:lstStyle/>
          <a:p>
            <a:pPr algn="l"/>
            <a:r>
              <a:rPr sz="1200" b="0" i="0">
                <a:solidFill>
                  <a:srgbClr val="1E293B"/>
                </a:solidFill>
                <a:latin typeface="Calibri"/>
              </a:rPr>
              <a:t>Écart</a:t>
            </a:r>
          </a:p>
        </p:txBody>
      </p:sp>
      <p:sp>
        <p:nvSpPr>
          <p:cNvPr id="16" name="TextBox 15"/>
          <p:cNvSpPr txBox="1"/>
          <p:nvPr/>
        </p:nvSpPr>
        <p:spPr>
          <a:xfrm>
            <a:off x="9692640" y="2788920"/>
            <a:ext cx="1828800" cy="457200"/>
          </a:xfrm>
          <a:prstGeom prst="rect">
            <a:avLst/>
          </a:prstGeom>
          <a:noFill/>
        </p:spPr>
        <p:txBody>
          <a:bodyPr wrap="square">
            <a:spAutoFit/>
          </a:bodyPr>
          <a:lstStyle/>
          <a:p>
            <a:pPr algn="l"/>
            <a:r>
              <a:rPr sz="1700" b="1" i="0">
                <a:solidFill>
                  <a:srgbClr val="F59E0B"/>
                </a:solidFill>
                <a:latin typeface="Calibri"/>
              </a:rPr>
              <a:t>0,15</a:t>
            </a:r>
          </a:p>
        </p:txBody>
      </p:sp>
      <p:sp>
        <p:nvSpPr>
          <p:cNvPr id="17" name="Rectangle 16"/>
          <p:cNvSpPr/>
          <p:nvPr/>
        </p:nvSpPr>
        <p:spPr>
          <a:xfrm>
            <a:off x="457200" y="3611880"/>
            <a:ext cx="5577840" cy="2651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03320"/>
            <a:ext cx="5257800" cy="347472"/>
          </a:xfrm>
          <a:prstGeom prst="rect">
            <a:avLst/>
          </a:prstGeom>
          <a:noFill/>
        </p:spPr>
        <p:txBody>
          <a:bodyPr wrap="square">
            <a:spAutoFit/>
          </a:bodyPr>
          <a:lstStyle/>
          <a:p>
            <a:pPr algn="l"/>
            <a:r>
              <a:rPr sz="1250" b="1" i="0">
                <a:solidFill>
                  <a:srgbClr val="FFFFFF"/>
                </a:solidFill>
                <a:latin typeface="Calibri"/>
              </a:rPr>
              <a:t>Ce que ça veut dire</a:t>
            </a:r>
          </a:p>
        </p:txBody>
      </p:sp>
      <p:sp>
        <p:nvSpPr>
          <p:cNvPr id="19" name="TextBox 18"/>
          <p:cNvSpPr txBox="1"/>
          <p:nvPr/>
        </p:nvSpPr>
        <p:spPr>
          <a:xfrm>
            <a:off x="640080" y="4069080"/>
            <a:ext cx="5257800" cy="2103120"/>
          </a:xfrm>
          <a:prstGeom prst="rect">
            <a:avLst/>
          </a:prstGeom>
          <a:noFill/>
        </p:spPr>
        <p:txBody>
          <a:bodyPr wrap="square">
            <a:spAutoFit/>
          </a:bodyPr>
          <a:lstStyle/>
          <a:p>
            <a:pPr algn="l"/>
            <a:r>
              <a:rPr sz="1050" b="0" i="0">
                <a:solidFill>
                  <a:srgbClr val="FFFFFF"/>
                </a:solidFill>
                <a:latin typeface="Calibri"/>
              </a:rPr>
              <a:t>Le surapprentissage (overfitting) = le modèle apprend « par cœur » les clients d'entraînement au lieu d'apprendre des règles générales. Ici il est meilleur sur ce qu'il connaît (0,77) que sur du nouveau (0,62), mais l'écart reste raisonnable. Ce n'est pas un bug, c'est un comportement du modèle. Pour comparaison, avec des arbres de profondeur 20, l'écart montait à 0,44 (F1 train 0,996) : limiter la profondeur à 10 a divisé le surapprentissage par trois.</a:t>
            </a:r>
          </a:p>
        </p:txBody>
      </p:sp>
      <p:sp>
        <p:nvSpPr>
          <p:cNvPr id="20" name="Rectangle 19"/>
          <p:cNvSpPr/>
          <p:nvPr/>
        </p:nvSpPr>
        <p:spPr>
          <a:xfrm>
            <a:off x="6309360" y="3611880"/>
            <a:ext cx="5394960" cy="2651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3611880"/>
            <a:ext cx="64008" cy="2651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703320"/>
            <a:ext cx="5074920" cy="347472"/>
          </a:xfrm>
          <a:prstGeom prst="rect">
            <a:avLst/>
          </a:prstGeom>
          <a:noFill/>
        </p:spPr>
        <p:txBody>
          <a:bodyPr wrap="square">
            <a:spAutoFit/>
          </a:bodyPr>
          <a:lstStyle/>
          <a:p>
            <a:pPr algn="l"/>
            <a:r>
              <a:rPr sz="1250" b="1" i="0">
                <a:solidFill>
                  <a:srgbClr val="0F172A"/>
                </a:solidFill>
                <a:latin typeface="Calibri"/>
              </a:rPr>
              <a:t>Ce que la validation m'apprend</a:t>
            </a:r>
          </a:p>
        </p:txBody>
      </p:sp>
      <p:sp>
        <p:nvSpPr>
          <p:cNvPr id="23" name="TextBox 22"/>
          <p:cNvSpPr txBox="1"/>
          <p:nvPr/>
        </p:nvSpPr>
        <p:spPr>
          <a:xfrm>
            <a:off x="6492240" y="4069080"/>
            <a:ext cx="5074920" cy="2103120"/>
          </a:xfrm>
          <a:prstGeom prst="rect">
            <a:avLst/>
          </a:prstGeom>
          <a:noFill/>
        </p:spPr>
        <p:txBody>
          <a:bodyPr wrap="square">
            <a:spAutoFit/>
          </a:bodyPr>
          <a:lstStyle/>
          <a:p>
            <a:pPr algn="l"/>
            <a:r>
              <a:rPr sz="1050" b="0" i="0">
                <a:solidFill>
                  <a:srgbClr val="1E293B"/>
                </a:solidFill>
                <a:latin typeface="Calibri"/>
              </a:rPr>
              <a:t>Détecter et mesurer le surapprentissage est exactement le rôle de la validation : un projet qui ne montrerait que le score d'entraînement passerait à côté d'un vrai problème. C'est cette vérification qui m'a fait réaligner le modèle sur max_depth=10. Pour réduire encore l'écart : augmenter min_samples_leaf, limiter davantage la profondeur (6 à 8), ou utiliser un modèle plus régularisé (XGBoost, LightGBM). La régression logistique, elle, ne surapprend pas du tout (F1 train 0,63 contre test 0,61).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Synthèse des expérimentations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07 — Le feature engineering que j'ai testé, et ma décision</a:t>
            </a:r>
          </a:p>
        </p:txBody>
      </p:sp>
      <p:sp>
        <p:nvSpPr>
          <p:cNvPr id="5" name="TextBox 4"/>
          <p:cNvSpPr txBox="1"/>
          <p:nvPr/>
        </p:nvSpPr>
        <p:spPr>
          <a:xfrm>
            <a:off x="457200" y="1051560"/>
            <a:ext cx="11247120" cy="566928"/>
          </a:xfrm>
          <a:prstGeom prst="rect">
            <a:avLst/>
          </a:prstGeom>
          <a:noFill/>
        </p:spPr>
        <p:txBody>
          <a:bodyPr wrap="square">
            <a:spAutoFit/>
          </a:bodyPr>
          <a:lstStyle/>
          <a:p>
            <a:pPr algn="l"/>
            <a:r>
              <a:rPr sz="1050" b="0" i="0">
                <a:solidFill>
                  <a:srgbClr val="64748B"/>
                </a:solidFill>
                <a:latin typeface="Calibri"/>
              </a:rPr>
              <a:t>Le feature engineering (= créer de nouvelles variables à partir des existantes pour aider le modèle) est une piste classique d'amélioration. J'ai implémenté deux idées dans src/features.py, avec une hypothèse métier pour chacune :</a:t>
            </a:r>
          </a:p>
        </p:txBody>
      </p:sp>
      <p:sp>
        <p:nvSpPr>
          <p:cNvPr id="6" name="Rectangle 5"/>
          <p:cNvSpPr/>
          <p:nvPr/>
        </p:nvSpPr>
        <p:spPr>
          <a:xfrm>
            <a:off x="457200" y="1645920"/>
            <a:ext cx="5577840" cy="11887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64008"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37360"/>
            <a:ext cx="5257800" cy="347472"/>
          </a:xfrm>
          <a:prstGeom prst="rect">
            <a:avLst/>
          </a:prstGeom>
          <a:noFill/>
        </p:spPr>
        <p:txBody>
          <a:bodyPr wrap="square">
            <a:spAutoFit/>
          </a:bodyPr>
          <a:lstStyle/>
          <a:p>
            <a:pPr algn="l"/>
            <a:r>
              <a:rPr sz="1250" b="1" i="0">
                <a:solidFill>
                  <a:srgbClr val="0F172A"/>
                </a:solidFill>
                <a:latin typeface="Calibri"/>
              </a:rPr>
              <a:t>service_count</a:t>
            </a:r>
          </a:p>
        </p:txBody>
      </p:sp>
      <p:sp>
        <p:nvSpPr>
          <p:cNvPr id="9" name="TextBox 8"/>
          <p:cNvSpPr txBox="1"/>
          <p:nvPr/>
        </p:nvSpPr>
        <p:spPr>
          <a:xfrm>
            <a:off x="640080" y="2103120"/>
            <a:ext cx="5257800" cy="640080"/>
          </a:xfrm>
          <a:prstGeom prst="rect">
            <a:avLst/>
          </a:prstGeom>
          <a:noFill/>
        </p:spPr>
        <p:txBody>
          <a:bodyPr wrap="square">
            <a:spAutoFit/>
          </a:bodyPr>
          <a:lstStyle/>
          <a:p>
            <a:pPr algn="l"/>
            <a:r>
              <a:rPr sz="1000" b="0" i="0">
                <a:solidFill>
                  <a:srgbClr val="1E293B"/>
                </a:solidFill>
                <a:latin typeface="Calibri"/>
              </a:rPr>
              <a:t>Le nombre de services souscrits par le client. Hypothèse : plus un client a de services chez l'opérateur, plus il lui est coûteux de partir, donc moins il résilie.</a:t>
            </a:r>
          </a:p>
        </p:txBody>
      </p:sp>
      <p:sp>
        <p:nvSpPr>
          <p:cNvPr id="10" name="Rectangle 9"/>
          <p:cNvSpPr/>
          <p:nvPr/>
        </p:nvSpPr>
        <p:spPr>
          <a:xfrm>
            <a:off x="6309360" y="1645920"/>
            <a:ext cx="5394960" cy="11887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645920"/>
            <a:ext cx="64008" cy="1188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5074920" cy="347472"/>
          </a:xfrm>
          <a:prstGeom prst="rect">
            <a:avLst/>
          </a:prstGeom>
          <a:noFill/>
        </p:spPr>
        <p:txBody>
          <a:bodyPr wrap="square">
            <a:spAutoFit/>
          </a:bodyPr>
          <a:lstStyle/>
          <a:p>
            <a:pPr algn="l"/>
            <a:r>
              <a:rPr sz="1250" b="1" i="0">
                <a:solidFill>
                  <a:srgbClr val="0F172A"/>
                </a:solidFill>
                <a:latin typeface="Calibri"/>
              </a:rPr>
              <a:t>charge_per_month</a:t>
            </a:r>
          </a:p>
        </p:txBody>
      </p:sp>
      <p:sp>
        <p:nvSpPr>
          <p:cNvPr id="13" name="TextBox 12"/>
          <p:cNvSpPr txBox="1"/>
          <p:nvPr/>
        </p:nvSpPr>
        <p:spPr>
          <a:xfrm>
            <a:off x="6492240" y="2103120"/>
            <a:ext cx="5074920" cy="640080"/>
          </a:xfrm>
          <a:prstGeom prst="rect">
            <a:avLst/>
          </a:prstGeom>
          <a:noFill/>
        </p:spPr>
        <p:txBody>
          <a:bodyPr wrap="square">
            <a:spAutoFit/>
          </a:bodyPr>
          <a:lstStyle/>
          <a:p>
            <a:pPr algn="l"/>
            <a:r>
              <a:rPr sz="1000" b="0" i="0">
                <a:solidFill>
                  <a:srgbClr val="1E293B"/>
                </a:solidFill>
                <a:latin typeface="Calibri"/>
              </a:rPr>
              <a:t>Le total payé divisé par l'ancienneté (= la dépense mensuelle moyenne réelle). Hypothèse : un écart avec le tarif actuel signale par exemple une promotion qui vient de se terminer.</a:t>
            </a:r>
          </a:p>
        </p:txBody>
      </p:sp>
      <p:sp>
        <p:nvSpPr>
          <p:cNvPr id="14" name="Rectangle 13"/>
          <p:cNvSpPr/>
          <p:nvPr/>
        </p:nvSpPr>
        <p:spPr>
          <a:xfrm>
            <a:off x="457200" y="3017520"/>
            <a:ext cx="11247119"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063239"/>
            <a:ext cx="5303520" cy="320040"/>
          </a:xfrm>
          <a:prstGeom prst="rect">
            <a:avLst/>
          </a:prstGeom>
          <a:noFill/>
        </p:spPr>
        <p:txBody>
          <a:bodyPr wrap="square">
            <a:spAutoFit/>
          </a:bodyPr>
          <a:lstStyle/>
          <a:p>
            <a:pPr algn="l"/>
            <a:r>
              <a:rPr sz="1150" b="1" i="0">
                <a:solidFill>
                  <a:srgbClr val="FFFFFF"/>
                </a:solidFill>
                <a:latin typeface="Calibri"/>
              </a:rPr>
              <a:t>Variante testée</a:t>
            </a:r>
          </a:p>
        </p:txBody>
      </p:sp>
      <p:sp>
        <p:nvSpPr>
          <p:cNvPr id="16" name="TextBox 15"/>
          <p:cNvSpPr txBox="1"/>
          <p:nvPr/>
        </p:nvSpPr>
        <p:spPr>
          <a:xfrm>
            <a:off x="5943600" y="3063239"/>
            <a:ext cx="1371600" cy="320040"/>
          </a:xfrm>
          <a:prstGeom prst="rect">
            <a:avLst/>
          </a:prstGeom>
          <a:noFill/>
        </p:spPr>
        <p:txBody>
          <a:bodyPr wrap="square">
            <a:spAutoFit/>
          </a:bodyPr>
          <a:lstStyle/>
          <a:p>
            <a:pPr algn="l"/>
            <a:r>
              <a:rPr sz="1150" b="1" i="0">
                <a:solidFill>
                  <a:srgbClr val="FFFFFF"/>
                </a:solidFill>
                <a:latin typeface="Calibri"/>
              </a:rPr>
              <a:t>Features</a:t>
            </a:r>
          </a:p>
        </p:txBody>
      </p:sp>
      <p:sp>
        <p:nvSpPr>
          <p:cNvPr id="17" name="TextBox 16"/>
          <p:cNvSpPr txBox="1"/>
          <p:nvPr/>
        </p:nvSpPr>
        <p:spPr>
          <a:xfrm>
            <a:off x="7406640" y="3063239"/>
            <a:ext cx="1371600" cy="320040"/>
          </a:xfrm>
          <a:prstGeom prst="rect">
            <a:avLst/>
          </a:prstGeom>
          <a:noFill/>
        </p:spPr>
        <p:txBody>
          <a:bodyPr wrap="square">
            <a:spAutoFit/>
          </a:bodyPr>
          <a:lstStyle/>
          <a:p>
            <a:pPr algn="l"/>
            <a:r>
              <a:rPr sz="1150" b="1" i="0">
                <a:solidFill>
                  <a:srgbClr val="FFFFFF"/>
                </a:solidFill>
                <a:latin typeface="Calibri"/>
              </a:rPr>
              <a:t>AUC-ROC</a:t>
            </a:r>
          </a:p>
        </p:txBody>
      </p:sp>
      <p:sp>
        <p:nvSpPr>
          <p:cNvPr id="18" name="TextBox 17"/>
          <p:cNvSpPr txBox="1"/>
          <p:nvPr/>
        </p:nvSpPr>
        <p:spPr>
          <a:xfrm>
            <a:off x="8869680" y="3063239"/>
            <a:ext cx="1371600" cy="320040"/>
          </a:xfrm>
          <a:prstGeom prst="rect">
            <a:avLst/>
          </a:prstGeom>
          <a:noFill/>
        </p:spPr>
        <p:txBody>
          <a:bodyPr wrap="square">
            <a:spAutoFit/>
          </a:bodyPr>
          <a:lstStyle/>
          <a:p>
            <a:pPr algn="l"/>
            <a:r>
              <a:rPr sz="1150" b="1" i="0">
                <a:solidFill>
                  <a:srgbClr val="FFFFFF"/>
                </a:solidFill>
                <a:latin typeface="Calibri"/>
              </a:rPr>
              <a:t>F1 test</a:t>
            </a:r>
          </a:p>
        </p:txBody>
      </p:sp>
      <p:sp>
        <p:nvSpPr>
          <p:cNvPr id="19" name="TextBox 18"/>
          <p:cNvSpPr txBox="1"/>
          <p:nvPr/>
        </p:nvSpPr>
        <p:spPr>
          <a:xfrm>
            <a:off x="10332719" y="3063239"/>
            <a:ext cx="1371600" cy="320040"/>
          </a:xfrm>
          <a:prstGeom prst="rect">
            <a:avLst/>
          </a:prstGeom>
          <a:noFill/>
        </p:spPr>
        <p:txBody>
          <a:bodyPr wrap="square">
            <a:spAutoFit/>
          </a:bodyPr>
          <a:lstStyle/>
          <a:p>
            <a:pPr algn="l"/>
            <a:r>
              <a:rPr sz="1150" b="1" i="0">
                <a:solidFill>
                  <a:srgbClr val="FFFFFF"/>
                </a:solidFill>
                <a:latin typeface="Calibri"/>
              </a:rPr>
              <a:t>F1 train</a:t>
            </a:r>
          </a:p>
        </p:txBody>
      </p:sp>
      <p:sp>
        <p:nvSpPr>
          <p:cNvPr id="20" name="Rectangle 19"/>
          <p:cNvSpPr/>
          <p:nvPr/>
        </p:nvSpPr>
        <p:spPr>
          <a:xfrm>
            <a:off x="457200" y="3401568"/>
            <a:ext cx="11247119" cy="420624"/>
          </a:xfrm>
          <a:prstGeom prst="rect">
            <a:avLst/>
          </a:prstGeom>
          <a:solidFill>
            <a:srgbClr val="E8F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74720"/>
            <a:ext cx="5303520" cy="329184"/>
          </a:xfrm>
          <a:prstGeom prst="rect">
            <a:avLst/>
          </a:prstGeom>
          <a:noFill/>
        </p:spPr>
        <p:txBody>
          <a:bodyPr wrap="square">
            <a:spAutoFit/>
          </a:bodyPr>
          <a:lstStyle/>
          <a:p>
            <a:pPr algn="l"/>
            <a:r>
              <a:rPr sz="1100" b="1" i="0">
                <a:solidFill>
                  <a:srgbClr val="1E293B"/>
                </a:solidFill>
                <a:latin typeface="Calibri"/>
              </a:rPr>
              <a:t>Modèle de base (retenu)</a:t>
            </a:r>
          </a:p>
        </p:txBody>
      </p:sp>
      <p:sp>
        <p:nvSpPr>
          <p:cNvPr id="22" name="TextBox 21"/>
          <p:cNvSpPr txBox="1"/>
          <p:nvPr/>
        </p:nvSpPr>
        <p:spPr>
          <a:xfrm>
            <a:off x="5943600" y="3474720"/>
            <a:ext cx="1371600" cy="329184"/>
          </a:xfrm>
          <a:prstGeom prst="rect">
            <a:avLst/>
          </a:prstGeom>
          <a:noFill/>
        </p:spPr>
        <p:txBody>
          <a:bodyPr wrap="square">
            <a:spAutoFit/>
          </a:bodyPr>
          <a:lstStyle/>
          <a:p>
            <a:pPr algn="l"/>
            <a:r>
              <a:rPr sz="1100" b="0" i="0">
                <a:solidFill>
                  <a:srgbClr val="1E293B"/>
                </a:solidFill>
                <a:latin typeface="Calibri"/>
              </a:rPr>
              <a:t>30</a:t>
            </a:r>
          </a:p>
        </p:txBody>
      </p:sp>
      <p:sp>
        <p:nvSpPr>
          <p:cNvPr id="23" name="TextBox 22"/>
          <p:cNvSpPr txBox="1"/>
          <p:nvPr/>
        </p:nvSpPr>
        <p:spPr>
          <a:xfrm>
            <a:off x="7406640" y="3474720"/>
            <a:ext cx="1371600" cy="329184"/>
          </a:xfrm>
          <a:prstGeom prst="rect">
            <a:avLst/>
          </a:prstGeom>
          <a:noFill/>
        </p:spPr>
        <p:txBody>
          <a:bodyPr wrap="square">
            <a:spAutoFit/>
          </a:bodyPr>
          <a:lstStyle/>
          <a:p>
            <a:pPr algn="l"/>
            <a:r>
              <a:rPr sz="1100" b="0" i="0">
                <a:solidFill>
                  <a:srgbClr val="1E293B"/>
                </a:solidFill>
                <a:latin typeface="Calibri"/>
              </a:rPr>
              <a:t>0,842</a:t>
            </a:r>
          </a:p>
        </p:txBody>
      </p:sp>
      <p:sp>
        <p:nvSpPr>
          <p:cNvPr id="24" name="TextBox 23"/>
          <p:cNvSpPr txBox="1"/>
          <p:nvPr/>
        </p:nvSpPr>
        <p:spPr>
          <a:xfrm>
            <a:off x="8869680" y="3474720"/>
            <a:ext cx="1371600" cy="329184"/>
          </a:xfrm>
          <a:prstGeom prst="rect">
            <a:avLst/>
          </a:prstGeom>
          <a:noFill/>
        </p:spPr>
        <p:txBody>
          <a:bodyPr wrap="square">
            <a:spAutoFit/>
          </a:bodyPr>
          <a:lstStyle/>
          <a:p>
            <a:pPr algn="l"/>
            <a:r>
              <a:rPr sz="1100" b="0" i="0">
                <a:solidFill>
                  <a:srgbClr val="1E293B"/>
                </a:solidFill>
                <a:latin typeface="Calibri"/>
              </a:rPr>
              <a:t>0,619</a:t>
            </a:r>
          </a:p>
        </p:txBody>
      </p:sp>
      <p:sp>
        <p:nvSpPr>
          <p:cNvPr id="25" name="TextBox 24"/>
          <p:cNvSpPr txBox="1"/>
          <p:nvPr/>
        </p:nvSpPr>
        <p:spPr>
          <a:xfrm>
            <a:off x="10332719" y="3474720"/>
            <a:ext cx="1371600" cy="329184"/>
          </a:xfrm>
          <a:prstGeom prst="rect">
            <a:avLst/>
          </a:prstGeom>
          <a:noFill/>
        </p:spPr>
        <p:txBody>
          <a:bodyPr wrap="square">
            <a:spAutoFit/>
          </a:bodyPr>
          <a:lstStyle/>
          <a:p>
            <a:pPr algn="l"/>
            <a:r>
              <a:rPr sz="1100" b="0" i="0">
                <a:solidFill>
                  <a:srgbClr val="1E293B"/>
                </a:solidFill>
                <a:latin typeface="Calibri"/>
              </a:rPr>
              <a:t>0,772</a:t>
            </a:r>
          </a:p>
        </p:txBody>
      </p:sp>
      <p:sp>
        <p:nvSpPr>
          <p:cNvPr id="26" name="Rectangle 25"/>
          <p:cNvSpPr/>
          <p:nvPr/>
        </p:nvSpPr>
        <p:spPr>
          <a:xfrm>
            <a:off x="457200" y="3822191"/>
            <a:ext cx="11247119"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895344"/>
            <a:ext cx="5303520" cy="329184"/>
          </a:xfrm>
          <a:prstGeom prst="rect">
            <a:avLst/>
          </a:prstGeom>
          <a:noFill/>
        </p:spPr>
        <p:txBody>
          <a:bodyPr wrap="square">
            <a:spAutoFit/>
          </a:bodyPr>
          <a:lstStyle/>
          <a:p>
            <a:pPr algn="l"/>
            <a:r>
              <a:rPr sz="1100" b="0" i="0">
                <a:solidFill>
                  <a:srgbClr val="1E293B"/>
                </a:solidFill>
                <a:latin typeface="Calibri"/>
              </a:rPr>
              <a:t>+ service_count + charge_per_month</a:t>
            </a:r>
          </a:p>
        </p:txBody>
      </p:sp>
      <p:sp>
        <p:nvSpPr>
          <p:cNvPr id="28" name="TextBox 27"/>
          <p:cNvSpPr txBox="1"/>
          <p:nvPr/>
        </p:nvSpPr>
        <p:spPr>
          <a:xfrm>
            <a:off x="5943600" y="3895344"/>
            <a:ext cx="1371600" cy="329184"/>
          </a:xfrm>
          <a:prstGeom prst="rect">
            <a:avLst/>
          </a:prstGeom>
          <a:noFill/>
        </p:spPr>
        <p:txBody>
          <a:bodyPr wrap="square">
            <a:spAutoFit/>
          </a:bodyPr>
          <a:lstStyle/>
          <a:p>
            <a:pPr algn="l"/>
            <a:r>
              <a:rPr sz="1100" b="0" i="0">
                <a:solidFill>
                  <a:srgbClr val="1E293B"/>
                </a:solidFill>
                <a:latin typeface="Calibri"/>
              </a:rPr>
              <a:t>32</a:t>
            </a:r>
          </a:p>
        </p:txBody>
      </p:sp>
      <p:sp>
        <p:nvSpPr>
          <p:cNvPr id="29" name="TextBox 28"/>
          <p:cNvSpPr txBox="1"/>
          <p:nvPr/>
        </p:nvSpPr>
        <p:spPr>
          <a:xfrm>
            <a:off x="7406640" y="3895344"/>
            <a:ext cx="1371600" cy="329184"/>
          </a:xfrm>
          <a:prstGeom prst="rect">
            <a:avLst/>
          </a:prstGeom>
          <a:noFill/>
        </p:spPr>
        <p:txBody>
          <a:bodyPr wrap="square">
            <a:spAutoFit/>
          </a:bodyPr>
          <a:lstStyle/>
          <a:p>
            <a:pPr algn="l"/>
            <a:r>
              <a:rPr sz="1100" b="0" i="0">
                <a:solidFill>
                  <a:srgbClr val="1E293B"/>
                </a:solidFill>
                <a:latin typeface="Calibri"/>
              </a:rPr>
              <a:t>0,840</a:t>
            </a:r>
          </a:p>
        </p:txBody>
      </p:sp>
      <p:sp>
        <p:nvSpPr>
          <p:cNvPr id="30" name="TextBox 29"/>
          <p:cNvSpPr txBox="1"/>
          <p:nvPr/>
        </p:nvSpPr>
        <p:spPr>
          <a:xfrm>
            <a:off x="8869680" y="3895344"/>
            <a:ext cx="1371600" cy="329184"/>
          </a:xfrm>
          <a:prstGeom prst="rect">
            <a:avLst/>
          </a:prstGeom>
          <a:noFill/>
        </p:spPr>
        <p:txBody>
          <a:bodyPr wrap="square">
            <a:spAutoFit/>
          </a:bodyPr>
          <a:lstStyle/>
          <a:p>
            <a:pPr algn="l"/>
            <a:r>
              <a:rPr sz="1100" b="0" i="0">
                <a:solidFill>
                  <a:srgbClr val="1E293B"/>
                </a:solidFill>
                <a:latin typeface="Calibri"/>
              </a:rPr>
              <a:t>0,626</a:t>
            </a:r>
          </a:p>
        </p:txBody>
      </p:sp>
      <p:sp>
        <p:nvSpPr>
          <p:cNvPr id="31" name="TextBox 30"/>
          <p:cNvSpPr txBox="1"/>
          <p:nvPr/>
        </p:nvSpPr>
        <p:spPr>
          <a:xfrm>
            <a:off x="10332719" y="3895344"/>
            <a:ext cx="1371600" cy="329184"/>
          </a:xfrm>
          <a:prstGeom prst="rect">
            <a:avLst/>
          </a:prstGeom>
          <a:noFill/>
        </p:spPr>
        <p:txBody>
          <a:bodyPr wrap="square">
            <a:spAutoFit/>
          </a:bodyPr>
          <a:lstStyle/>
          <a:p>
            <a:pPr algn="l"/>
            <a:r>
              <a:rPr sz="1100" b="0" i="0">
                <a:solidFill>
                  <a:srgbClr val="1E293B"/>
                </a:solidFill>
                <a:latin typeface="Calibri"/>
              </a:rPr>
              <a:t>0,775</a:t>
            </a:r>
          </a:p>
        </p:txBody>
      </p:sp>
      <p:sp>
        <p:nvSpPr>
          <p:cNvPr id="32" name="Rectangle 31"/>
          <p:cNvSpPr/>
          <p:nvPr/>
        </p:nvSpPr>
        <p:spPr>
          <a:xfrm>
            <a:off x="457200" y="4242816"/>
            <a:ext cx="11247119" cy="4206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315968"/>
            <a:ext cx="5303520" cy="329184"/>
          </a:xfrm>
          <a:prstGeom prst="rect">
            <a:avLst/>
          </a:prstGeom>
          <a:noFill/>
        </p:spPr>
        <p:txBody>
          <a:bodyPr wrap="square">
            <a:spAutoFit/>
          </a:bodyPr>
          <a:lstStyle/>
          <a:p>
            <a:pPr algn="l"/>
            <a:r>
              <a:rPr sz="1100" b="0" i="0">
                <a:solidFill>
                  <a:srgbClr val="1E293B"/>
                </a:solidFill>
                <a:latin typeface="Calibri"/>
              </a:rPr>
              <a:t>+ service_count seul</a:t>
            </a:r>
          </a:p>
        </p:txBody>
      </p:sp>
      <p:sp>
        <p:nvSpPr>
          <p:cNvPr id="34" name="TextBox 33"/>
          <p:cNvSpPr txBox="1"/>
          <p:nvPr/>
        </p:nvSpPr>
        <p:spPr>
          <a:xfrm>
            <a:off x="5943600" y="4315968"/>
            <a:ext cx="1371600" cy="329184"/>
          </a:xfrm>
          <a:prstGeom prst="rect">
            <a:avLst/>
          </a:prstGeom>
          <a:noFill/>
        </p:spPr>
        <p:txBody>
          <a:bodyPr wrap="square">
            <a:spAutoFit/>
          </a:bodyPr>
          <a:lstStyle/>
          <a:p>
            <a:pPr algn="l"/>
            <a:r>
              <a:rPr sz="1100" b="0" i="0">
                <a:solidFill>
                  <a:srgbClr val="1E293B"/>
                </a:solidFill>
                <a:latin typeface="Calibri"/>
              </a:rPr>
              <a:t>31</a:t>
            </a:r>
          </a:p>
        </p:txBody>
      </p:sp>
      <p:sp>
        <p:nvSpPr>
          <p:cNvPr id="35" name="TextBox 34"/>
          <p:cNvSpPr txBox="1"/>
          <p:nvPr/>
        </p:nvSpPr>
        <p:spPr>
          <a:xfrm>
            <a:off x="7406640" y="4315968"/>
            <a:ext cx="1371600" cy="329184"/>
          </a:xfrm>
          <a:prstGeom prst="rect">
            <a:avLst/>
          </a:prstGeom>
          <a:noFill/>
        </p:spPr>
        <p:txBody>
          <a:bodyPr wrap="square">
            <a:spAutoFit/>
          </a:bodyPr>
          <a:lstStyle/>
          <a:p>
            <a:pPr algn="l"/>
            <a:r>
              <a:rPr sz="1100" b="0" i="0">
                <a:solidFill>
                  <a:srgbClr val="1E293B"/>
                </a:solidFill>
                <a:latin typeface="Calibri"/>
              </a:rPr>
              <a:t>0,842</a:t>
            </a:r>
          </a:p>
        </p:txBody>
      </p:sp>
      <p:sp>
        <p:nvSpPr>
          <p:cNvPr id="36" name="TextBox 35"/>
          <p:cNvSpPr txBox="1"/>
          <p:nvPr/>
        </p:nvSpPr>
        <p:spPr>
          <a:xfrm>
            <a:off x="8869680" y="4315968"/>
            <a:ext cx="1371600" cy="329184"/>
          </a:xfrm>
          <a:prstGeom prst="rect">
            <a:avLst/>
          </a:prstGeom>
          <a:noFill/>
        </p:spPr>
        <p:txBody>
          <a:bodyPr wrap="square">
            <a:spAutoFit/>
          </a:bodyPr>
          <a:lstStyle/>
          <a:p>
            <a:pPr algn="l"/>
            <a:r>
              <a:rPr sz="1100" b="0" i="0">
                <a:solidFill>
                  <a:srgbClr val="1E293B"/>
                </a:solidFill>
                <a:latin typeface="Calibri"/>
              </a:rPr>
              <a:t>0,629</a:t>
            </a:r>
          </a:p>
        </p:txBody>
      </p:sp>
      <p:sp>
        <p:nvSpPr>
          <p:cNvPr id="37" name="TextBox 36"/>
          <p:cNvSpPr txBox="1"/>
          <p:nvPr/>
        </p:nvSpPr>
        <p:spPr>
          <a:xfrm>
            <a:off x="10332719" y="4315968"/>
            <a:ext cx="1371600" cy="329184"/>
          </a:xfrm>
          <a:prstGeom prst="rect">
            <a:avLst/>
          </a:prstGeom>
          <a:noFill/>
        </p:spPr>
        <p:txBody>
          <a:bodyPr wrap="square">
            <a:spAutoFit/>
          </a:bodyPr>
          <a:lstStyle/>
          <a:p>
            <a:pPr algn="l"/>
            <a:r>
              <a:rPr sz="1100" b="0" i="0">
                <a:solidFill>
                  <a:srgbClr val="1E293B"/>
                </a:solidFill>
                <a:latin typeface="Calibri"/>
              </a:rPr>
              <a:t>0,769</a:t>
            </a:r>
          </a:p>
        </p:txBody>
      </p:sp>
      <p:sp>
        <p:nvSpPr>
          <p:cNvPr id="38" name="Rectangle 37"/>
          <p:cNvSpPr/>
          <p:nvPr/>
        </p:nvSpPr>
        <p:spPr>
          <a:xfrm>
            <a:off x="457200" y="4800600"/>
            <a:ext cx="11247120" cy="1463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892040"/>
            <a:ext cx="10927080" cy="347472"/>
          </a:xfrm>
          <a:prstGeom prst="rect">
            <a:avLst/>
          </a:prstGeom>
          <a:noFill/>
        </p:spPr>
        <p:txBody>
          <a:bodyPr wrap="square">
            <a:spAutoFit/>
          </a:bodyPr>
          <a:lstStyle/>
          <a:p>
            <a:pPr algn="l"/>
            <a:r>
              <a:rPr sz="1250" b="1" i="0">
                <a:solidFill>
                  <a:srgbClr val="FFFFFF"/>
                </a:solidFill>
                <a:latin typeface="Calibri"/>
              </a:rPr>
              <a:t>Ma décision : ne pas intégrer ces features au modèle final</a:t>
            </a:r>
          </a:p>
        </p:txBody>
      </p:sp>
      <p:sp>
        <p:nvSpPr>
          <p:cNvPr id="40" name="TextBox 39"/>
          <p:cNvSpPr txBox="1"/>
          <p:nvPr/>
        </p:nvSpPr>
        <p:spPr>
          <a:xfrm>
            <a:off x="640080" y="5257800"/>
            <a:ext cx="10927080" cy="914400"/>
          </a:xfrm>
          <a:prstGeom prst="rect">
            <a:avLst/>
          </a:prstGeom>
          <a:noFill/>
        </p:spPr>
        <p:txBody>
          <a:bodyPr wrap="square">
            <a:spAutoFit/>
          </a:bodyPr>
          <a:lstStyle/>
          <a:p>
            <a:pPr algn="l"/>
            <a:r>
              <a:rPr sz="1050" b="0" i="0">
                <a:solidFill>
                  <a:srgbClr val="FFFFFF"/>
                </a:solidFill>
                <a:latin typeface="Calibri"/>
              </a:rPr>
              <a:t>Les deux variantes n'apportent qu'un gain marginal de F1 (+0,007 et +0,010), du même ordre que la variabilité d'un simple découpage train/test, et l'AUC ne bouge pas (0,84). charge_per_month est d'ailleurs redondante : elle se calcule à partir de tenure, MonthlyCharges et TotalCharges, déjà présentes. À performance quasi égale, je garde le modèle le plus simple (principe de parcimonie) ; il faudrait une validation croisée sur plusieurs découpages pour conclure à un vrai gain. Le code reste dans le projet comme piste documentée : hypothèse → implémentation → test → décision chiffrée.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Déploiement — l'API de prédiction</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08 — Rendre le modèle utilisable par d'autres programmes</a:t>
            </a:r>
          </a:p>
        </p:txBody>
      </p:sp>
      <p:sp>
        <p:nvSpPr>
          <p:cNvPr id="5" name="Rectangle 4"/>
          <p:cNvSpPr/>
          <p:nvPr/>
        </p:nvSpPr>
        <p:spPr>
          <a:xfrm>
            <a:off x="457200" y="1143000"/>
            <a:ext cx="5577840" cy="2377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2377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5257800" cy="347472"/>
          </a:xfrm>
          <a:prstGeom prst="rect">
            <a:avLst/>
          </a:prstGeom>
          <a:noFill/>
        </p:spPr>
        <p:txBody>
          <a:bodyPr wrap="square">
            <a:spAutoFit/>
          </a:bodyPr>
          <a:lstStyle/>
          <a:p>
            <a:pPr algn="l"/>
            <a:r>
              <a:rPr sz="1250" b="1" i="0">
                <a:solidFill>
                  <a:srgbClr val="0F172A"/>
                </a:solidFill>
                <a:latin typeface="Calibri"/>
              </a:rPr>
              <a:t>Qu'est-ce qu'une API, et pourquoi FastAPI ?</a:t>
            </a:r>
          </a:p>
        </p:txBody>
      </p:sp>
      <p:sp>
        <p:nvSpPr>
          <p:cNvPr id="8" name="TextBox 7"/>
          <p:cNvSpPr txBox="1"/>
          <p:nvPr/>
        </p:nvSpPr>
        <p:spPr>
          <a:xfrm>
            <a:off x="640080" y="1600200"/>
            <a:ext cx="5257800" cy="1828800"/>
          </a:xfrm>
          <a:prstGeom prst="rect">
            <a:avLst/>
          </a:prstGeom>
          <a:noFill/>
        </p:spPr>
        <p:txBody>
          <a:bodyPr wrap="square">
            <a:spAutoFit/>
          </a:bodyPr>
          <a:lstStyle/>
          <a:p>
            <a:pPr algn="l"/>
            <a:r>
              <a:rPr sz="1000" b="0" i="0">
                <a:solidFill>
                  <a:srgbClr val="1E293B"/>
                </a:solidFill>
                <a:latin typeface="Calibri"/>
              </a:rPr>
              <a:t>Une API (Application Programming Interface) est une porte d'entrée : un autre logiciel (par exemple le CRM de l'équipe commerciale) envoie le profil d'un client et reçoit en retour la prédiction, sans rien connaître du modèle. J'ai choisi FastAPI plutôt que Flask (l'autre option citée par le brief) parce qu'il génère automatiquement une documentation interactive (Swagger, sur /docs), valide tout seul les données reçues grâce à Pydantic (un champ manquant ou mal typé est refusé avec un message clair), et tourne sur Uvicorn, un serveur rapide.</a:t>
            </a:r>
          </a:p>
        </p:txBody>
      </p:sp>
      <p:sp>
        <p:nvSpPr>
          <p:cNvPr id="9" name="Rectangle 8"/>
          <p:cNvSpPr/>
          <p:nvPr/>
        </p:nvSpPr>
        <p:spPr>
          <a:xfrm>
            <a:off x="6309360" y="1143000"/>
            <a:ext cx="5394960" cy="2377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34440"/>
            <a:ext cx="5074920" cy="347472"/>
          </a:xfrm>
          <a:prstGeom prst="rect">
            <a:avLst/>
          </a:prstGeom>
          <a:noFill/>
        </p:spPr>
        <p:txBody>
          <a:bodyPr wrap="square">
            <a:spAutoFit/>
          </a:bodyPr>
          <a:lstStyle/>
          <a:p>
            <a:pPr algn="l"/>
            <a:r>
              <a:rPr sz="1250" b="1" i="0">
                <a:solidFill>
                  <a:srgbClr val="FFFFFF"/>
                </a:solidFill>
                <a:latin typeface="Calibri"/>
              </a:rPr>
              <a:t>Ce que fait la route POST /predict</a:t>
            </a:r>
          </a:p>
        </p:txBody>
      </p:sp>
      <p:sp>
        <p:nvSpPr>
          <p:cNvPr id="11" name="TextBox 10"/>
          <p:cNvSpPr txBox="1"/>
          <p:nvPr/>
        </p:nvSpPr>
        <p:spPr>
          <a:xfrm>
            <a:off x="6492240" y="1600200"/>
            <a:ext cx="5074920" cy="1828800"/>
          </a:xfrm>
          <a:prstGeom prst="rect">
            <a:avLst/>
          </a:prstGeom>
          <a:noFill/>
        </p:spPr>
        <p:txBody>
          <a:bodyPr wrap="square">
            <a:spAutoFit/>
          </a:bodyPr>
          <a:lstStyle/>
          <a:p>
            <a:pPr algn="l"/>
            <a:r>
              <a:rPr sz="1000" b="0" i="0">
                <a:solidFill>
                  <a:srgbClr val="FFFFFF"/>
                </a:solidFill>
                <a:latin typeface="Calibri"/>
              </a:rPr>
              <a:t>1. Elle reçoit les 19 caractéristiques du client en JSON (genre, ancienneté, contrat, services, montants…). 2. Elle applique exactement la même préparation qu'à l'entraînement : normalisation avec le scaler sauvegardé, puis reconstruction des 30 colonnes One-Hot. 3. Elle appelle le modèle et renvoie la prédiction (0/1), la probabilité de churn et un niveau de risque (faible / moyen / élevé) lisible par un humain.</a:t>
            </a:r>
          </a:p>
        </p:txBody>
      </p:sp>
      <p:sp>
        <p:nvSpPr>
          <p:cNvPr id="12" name="Rectangle 11"/>
          <p:cNvSpPr/>
          <p:nvPr/>
        </p:nvSpPr>
        <p:spPr>
          <a:xfrm>
            <a:off x="457200" y="3657600"/>
            <a:ext cx="5577840" cy="914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721608"/>
            <a:ext cx="5303520" cy="274320"/>
          </a:xfrm>
          <a:prstGeom prst="rect">
            <a:avLst/>
          </a:prstGeom>
          <a:noFill/>
        </p:spPr>
        <p:txBody>
          <a:bodyPr wrap="square">
            <a:spAutoFit/>
          </a:bodyPr>
          <a:lstStyle/>
          <a:p>
            <a:pPr algn="l"/>
            <a:r>
              <a:rPr sz="950" b="0" i="0">
                <a:solidFill>
                  <a:srgbClr val="CCDDFF"/>
                </a:solidFill>
                <a:latin typeface="Calibri"/>
              </a:rPr>
              <a:t>Exemple de réponse pour un client en contrat mensuel, nouveau, en fibre :</a:t>
            </a:r>
          </a:p>
        </p:txBody>
      </p:sp>
      <p:sp>
        <p:nvSpPr>
          <p:cNvPr id="14" name="TextBox 13"/>
          <p:cNvSpPr txBox="1"/>
          <p:nvPr/>
        </p:nvSpPr>
        <p:spPr>
          <a:xfrm>
            <a:off x="594360" y="4041648"/>
            <a:ext cx="5303520" cy="411480"/>
          </a:xfrm>
          <a:prstGeom prst="rect">
            <a:avLst/>
          </a:prstGeom>
          <a:noFill/>
        </p:spPr>
        <p:txBody>
          <a:bodyPr wrap="square">
            <a:spAutoFit/>
          </a:bodyPr>
          <a:lstStyle/>
          <a:p>
            <a:pPr algn="l"/>
            <a:r>
              <a:rPr sz="1050" b="0" i="0">
                <a:solidFill>
                  <a:srgbClr val="10B981"/>
                </a:solidFill>
                <a:latin typeface="Calibri"/>
              </a:rPr>
              <a:t>{ "prediction": 1, "churn": "Oui", "probabilite_churn": 0.94, "risque": "Élevé" }</a:t>
            </a:r>
          </a:p>
        </p:txBody>
      </p:sp>
      <p:sp>
        <p:nvSpPr>
          <p:cNvPr id="15" name="Rectangle 14"/>
          <p:cNvSpPr/>
          <p:nvPr/>
        </p:nvSpPr>
        <p:spPr>
          <a:xfrm>
            <a:off x="6309360" y="3657600"/>
            <a:ext cx="5394960" cy="914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749039"/>
            <a:ext cx="5074920" cy="347472"/>
          </a:xfrm>
          <a:prstGeom prst="rect">
            <a:avLst/>
          </a:prstGeom>
          <a:noFill/>
        </p:spPr>
        <p:txBody>
          <a:bodyPr wrap="square">
            <a:spAutoFit/>
          </a:bodyPr>
          <a:lstStyle/>
          <a:p>
            <a:pPr algn="l"/>
            <a:r>
              <a:rPr sz="1150" b="1" i="0">
                <a:solidFill>
                  <a:srgbClr val="0F172A"/>
                </a:solidFill>
                <a:latin typeface="Calibri"/>
              </a:rPr>
              <a:t>Route GET /health</a:t>
            </a:r>
          </a:p>
        </p:txBody>
      </p:sp>
      <p:sp>
        <p:nvSpPr>
          <p:cNvPr id="17" name="TextBox 16"/>
          <p:cNvSpPr txBox="1"/>
          <p:nvPr/>
        </p:nvSpPr>
        <p:spPr>
          <a:xfrm>
            <a:off x="6492240" y="4114800"/>
            <a:ext cx="5074920" cy="365760"/>
          </a:xfrm>
          <a:prstGeom prst="rect">
            <a:avLst/>
          </a:prstGeom>
          <a:noFill/>
        </p:spPr>
        <p:txBody>
          <a:bodyPr wrap="square">
            <a:spAutoFit/>
          </a:bodyPr>
          <a:lstStyle/>
          <a:p>
            <a:pPr algn="l"/>
            <a:r>
              <a:rPr sz="1000" b="0" i="0">
                <a:solidFill>
                  <a:srgbClr val="1E293B"/>
                </a:solidFill>
                <a:latin typeface="Calibri"/>
              </a:rPr>
              <a:t>Vérifie que l'API tourne et que le modèle est chargé — utile pour la supervision.</a:t>
            </a:r>
          </a:p>
        </p:txBody>
      </p:sp>
      <p:sp>
        <p:nvSpPr>
          <p:cNvPr id="18" name="Rectangle 17"/>
          <p:cNvSpPr/>
          <p:nvPr/>
        </p:nvSpPr>
        <p:spPr>
          <a:xfrm>
            <a:off x="457200" y="4709160"/>
            <a:ext cx="11247120" cy="1554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709160"/>
            <a:ext cx="64008" cy="1554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800600"/>
            <a:ext cx="10927080" cy="347472"/>
          </a:xfrm>
          <a:prstGeom prst="rect">
            <a:avLst/>
          </a:prstGeom>
          <a:noFill/>
        </p:spPr>
        <p:txBody>
          <a:bodyPr wrap="square">
            <a:spAutoFit/>
          </a:bodyPr>
          <a:lstStyle/>
          <a:p>
            <a:pPr algn="l"/>
            <a:r>
              <a:rPr sz="1250" b="1" i="0">
                <a:solidFill>
                  <a:srgbClr val="0F172A"/>
                </a:solidFill>
                <a:latin typeface="Calibri"/>
              </a:rPr>
              <a:t>Un bug important que j'ai trouvé et corrigé</a:t>
            </a:r>
          </a:p>
        </p:txBody>
      </p:sp>
      <p:sp>
        <p:nvSpPr>
          <p:cNvPr id="21" name="TextBox 20"/>
          <p:cNvSpPr txBox="1"/>
          <p:nvPr/>
        </p:nvSpPr>
        <p:spPr>
          <a:xfrm>
            <a:off x="640080" y="5166360"/>
            <a:ext cx="10927080" cy="1005840"/>
          </a:xfrm>
          <a:prstGeom prst="rect">
            <a:avLst/>
          </a:prstGeom>
          <a:noFill/>
        </p:spPr>
        <p:txBody>
          <a:bodyPr wrap="square">
            <a:spAutoFit/>
          </a:bodyPr>
          <a:lstStyle/>
          <a:p>
            <a:pPr algn="l"/>
            <a:r>
              <a:rPr sz="1000" b="0" i="0">
                <a:solidFill>
                  <a:srgbClr val="1E293B"/>
                </a:solidFill>
                <a:latin typeface="Calibri"/>
              </a:rPr>
              <a:t>Au départ, l'API envoyait au modèle les valeurs brutes du client (par exemple tenure = 12) alors que le modèle avait été entraîné sur des valeurs normalisées (tenure = -0,83). Les réponses restaient « valides » (une probabilité entre 0 et 1), donc aucun test ne le détectait, mais les prédictions étaient fausses. J'ai sauvegardé le scaler (models/scaler.pkl) et je l'applique avant chaque prédiction ; j'ai aussi ajouté le champ gender qui manquait. Vérifié avec des profils contrastés : client fidèle → 0,2 % de risque, client fragile → 94 %.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Déploiement — le dashboard interactif</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08 — Donner accès aux données à une équipe non technique</a:t>
            </a:r>
          </a:p>
        </p:txBody>
      </p:sp>
      <p:pic>
        <p:nvPicPr>
          <p:cNvPr id="5" name="Picture 4" descr="dashboard_screenshot_crop.png"/>
          <p:cNvPicPr>
            <a:picLocks noChangeAspect="1"/>
          </p:cNvPicPr>
          <p:nvPr/>
        </p:nvPicPr>
        <p:blipFill>
          <a:blip r:embed="rId2"/>
          <a:stretch>
            <a:fillRect/>
          </a:stretch>
        </p:blipFill>
        <p:spPr>
          <a:xfrm>
            <a:off x="457200" y="1143000"/>
            <a:ext cx="6400800" cy="4833672"/>
          </a:xfrm>
          <a:prstGeom prst="rect">
            <a:avLst/>
          </a:prstGeom>
        </p:spPr>
      </p:pic>
      <p:sp>
        <p:nvSpPr>
          <p:cNvPr id="6" name="Rectangle 5"/>
          <p:cNvSpPr/>
          <p:nvPr/>
        </p:nvSpPr>
        <p:spPr>
          <a:xfrm>
            <a:off x="7132320" y="1143000"/>
            <a:ext cx="4572000" cy="20116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143000"/>
            <a:ext cx="64008" cy="20116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234440"/>
            <a:ext cx="4251960" cy="347472"/>
          </a:xfrm>
          <a:prstGeom prst="rect">
            <a:avLst/>
          </a:prstGeom>
          <a:noFill/>
        </p:spPr>
        <p:txBody>
          <a:bodyPr wrap="square">
            <a:spAutoFit/>
          </a:bodyPr>
          <a:lstStyle/>
          <a:p>
            <a:pPr algn="l"/>
            <a:r>
              <a:rPr sz="1250" b="1" i="0">
                <a:solidFill>
                  <a:srgbClr val="0F172A"/>
                </a:solidFill>
                <a:latin typeface="Calibri"/>
              </a:rPr>
              <a:t>Pourquoi Dash ?</a:t>
            </a:r>
          </a:p>
        </p:txBody>
      </p:sp>
      <p:sp>
        <p:nvSpPr>
          <p:cNvPr id="9" name="TextBox 8"/>
          <p:cNvSpPr txBox="1"/>
          <p:nvPr/>
        </p:nvSpPr>
        <p:spPr>
          <a:xfrm>
            <a:off x="7315200" y="1600200"/>
            <a:ext cx="4251960" cy="1463040"/>
          </a:xfrm>
          <a:prstGeom prst="rect">
            <a:avLst/>
          </a:prstGeom>
          <a:noFill/>
        </p:spPr>
        <p:txBody>
          <a:bodyPr wrap="square">
            <a:spAutoFit/>
          </a:bodyPr>
          <a:lstStyle/>
          <a:p>
            <a:pPr algn="l"/>
            <a:r>
              <a:rPr sz="1000" b="0" i="0">
                <a:solidFill>
                  <a:srgbClr val="1E293B"/>
                </a:solidFill>
                <a:latin typeface="Calibri"/>
              </a:rPr>
              <a:t>Dash s'appuie directement sur Plotly, que j'utilisais déjà dans les notebooks : les graphiques sont les mêmes, donc cohérents entre l'exploration et le produit final. Il permet de construire une vraie application web en Python pur, sans JavaScript, ce qui était plus adapté à mon niveau et au temps disponible que Streamlit ou une interface sur mesure.</a:t>
            </a:r>
          </a:p>
        </p:txBody>
      </p:sp>
      <p:sp>
        <p:nvSpPr>
          <p:cNvPr id="10" name="Rectangle 9"/>
          <p:cNvSpPr/>
          <p:nvPr/>
        </p:nvSpPr>
        <p:spPr>
          <a:xfrm>
            <a:off x="7132320" y="3291840"/>
            <a:ext cx="457200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0" y="3291840"/>
            <a:ext cx="64008" cy="160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383280"/>
            <a:ext cx="4251960" cy="347472"/>
          </a:xfrm>
          <a:prstGeom prst="rect">
            <a:avLst/>
          </a:prstGeom>
          <a:noFill/>
        </p:spPr>
        <p:txBody>
          <a:bodyPr wrap="square">
            <a:spAutoFit/>
          </a:bodyPr>
          <a:lstStyle/>
          <a:p>
            <a:pPr algn="l"/>
            <a:r>
              <a:rPr sz="1250" b="1" i="0">
                <a:solidFill>
                  <a:srgbClr val="0F172A"/>
                </a:solidFill>
                <a:latin typeface="Calibri"/>
              </a:rPr>
              <a:t>Ce qu'il montre</a:t>
            </a:r>
          </a:p>
        </p:txBody>
      </p:sp>
      <p:sp>
        <p:nvSpPr>
          <p:cNvPr id="13" name="TextBox 12"/>
          <p:cNvSpPr txBox="1"/>
          <p:nvPr/>
        </p:nvSpPr>
        <p:spPr>
          <a:xfrm>
            <a:off x="7315200" y="3749039"/>
            <a:ext cx="4251960" cy="1051560"/>
          </a:xfrm>
          <a:prstGeom prst="rect">
            <a:avLst/>
          </a:prstGeom>
          <a:noFill/>
        </p:spPr>
        <p:txBody>
          <a:bodyPr wrap="square">
            <a:spAutoFit/>
          </a:bodyPr>
          <a:lstStyle/>
          <a:p>
            <a:pPr algn="l"/>
            <a:r>
              <a:rPr sz="1000" b="0" i="0">
                <a:solidFill>
                  <a:srgbClr val="1E293B"/>
                </a:solidFill>
                <a:latin typeface="Calibri"/>
              </a:rPr>
              <a:t>4 indicateurs clés (clients, résiliés, taux de churn, charge mensuelle) et 6 graphiques : répartition churn/fidèle, taux par type de contrat, frais mensuels, ancienneté, service internet et profil senior.</a:t>
            </a:r>
          </a:p>
        </p:txBody>
      </p:sp>
      <p:sp>
        <p:nvSpPr>
          <p:cNvPr id="14" name="Rectangle 13"/>
          <p:cNvSpPr/>
          <p:nvPr/>
        </p:nvSpPr>
        <p:spPr>
          <a:xfrm>
            <a:off x="7132320" y="5029200"/>
            <a:ext cx="4572000" cy="1280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5120640"/>
            <a:ext cx="4251960" cy="347472"/>
          </a:xfrm>
          <a:prstGeom prst="rect">
            <a:avLst/>
          </a:prstGeom>
          <a:noFill/>
        </p:spPr>
        <p:txBody>
          <a:bodyPr wrap="square">
            <a:spAutoFit/>
          </a:bodyPr>
          <a:lstStyle/>
          <a:p>
            <a:pPr algn="l"/>
            <a:r>
              <a:rPr sz="1250" b="1" i="0">
                <a:solidFill>
                  <a:srgbClr val="FFFFFF"/>
                </a:solidFill>
                <a:latin typeface="Calibri"/>
              </a:rPr>
              <a:t>Comment ça marche</a:t>
            </a:r>
          </a:p>
        </p:txBody>
      </p:sp>
      <p:sp>
        <p:nvSpPr>
          <p:cNvPr id="16" name="TextBox 15"/>
          <p:cNvSpPr txBox="1"/>
          <p:nvPr/>
        </p:nvSpPr>
        <p:spPr>
          <a:xfrm>
            <a:off x="7315200" y="5486400"/>
            <a:ext cx="4251960" cy="731519"/>
          </a:xfrm>
          <a:prstGeom prst="rect">
            <a:avLst/>
          </a:prstGeom>
          <a:noFill/>
        </p:spPr>
        <p:txBody>
          <a:bodyPr wrap="square">
            <a:spAutoFit/>
          </a:bodyPr>
          <a:lstStyle/>
          <a:p>
            <a:pPr algn="l"/>
            <a:r>
              <a:rPr sz="1000" b="0" i="0">
                <a:solidFill>
                  <a:srgbClr val="FFFFFF"/>
                </a:solidFill>
                <a:latin typeface="Calibri"/>
              </a:rPr>
              <a:t>Un filtre par type de contrat déclenche un callback (= une fonction appelée automatiquement à chaque changement) qui recalcule les 4 indicateurs et les 6 graphiques, sans recharger la page.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Revue de code et qualité</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09 — Tests, qualité du code, Git et intégration continue</a:t>
            </a:r>
          </a:p>
        </p:txBody>
      </p:sp>
      <p:sp>
        <p:nvSpPr>
          <p:cNvPr id="5" name="Rectangle 4"/>
          <p:cNvSpPr/>
          <p:nvPr/>
        </p:nvSpPr>
        <p:spPr>
          <a:xfrm>
            <a:off x="457200" y="1143000"/>
            <a:ext cx="5577840" cy="1965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1965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5257800" cy="347472"/>
          </a:xfrm>
          <a:prstGeom prst="rect">
            <a:avLst/>
          </a:prstGeom>
          <a:noFill/>
        </p:spPr>
        <p:txBody>
          <a:bodyPr wrap="square">
            <a:spAutoFit/>
          </a:bodyPr>
          <a:lstStyle/>
          <a:p>
            <a:pPr algn="l"/>
            <a:r>
              <a:rPr sz="1250" b="1" i="0">
                <a:solidFill>
                  <a:srgbClr val="0F172A"/>
                </a:solidFill>
                <a:latin typeface="Calibri"/>
              </a:rPr>
              <a:t>19 tests automatisés (pytest)</a:t>
            </a:r>
          </a:p>
        </p:txBody>
      </p:sp>
      <p:sp>
        <p:nvSpPr>
          <p:cNvPr id="8" name="TextBox 7"/>
          <p:cNvSpPr txBox="1"/>
          <p:nvPr/>
        </p:nvSpPr>
        <p:spPr>
          <a:xfrm>
            <a:off x="640080" y="1600200"/>
            <a:ext cx="5257800" cy="1417319"/>
          </a:xfrm>
          <a:prstGeom prst="rect">
            <a:avLst/>
          </a:prstGeom>
          <a:noFill/>
        </p:spPr>
        <p:txBody>
          <a:bodyPr wrap="square">
            <a:spAutoFit/>
          </a:bodyPr>
          <a:lstStyle/>
          <a:p>
            <a:pPr algn="l"/>
            <a:r>
              <a:rPr sz="1000" b="0" i="0">
                <a:solidFill>
                  <a:srgbClr val="1E293B"/>
                </a:solidFill>
                <a:latin typeface="Calibri"/>
              </a:rPr>
              <a:t>Un test automatisé est un petit programme qui vérifie tout seul qu'une partie du code fait ce qu'elle doit. J'en ai 19, répartis en 4 fichiers : le preprocessing (5 : chaque fonction de nettoyage), le modèle (6 : il se charge, prédit 0 ou 1, renvoie une probabilité, attend bien 30 features), l'API (5 : les routes répondent, la réponse a les bons champs) et la qualité du code (3). Tous passent, en local et sur GitHub.</a:t>
            </a:r>
          </a:p>
        </p:txBody>
      </p:sp>
      <p:sp>
        <p:nvSpPr>
          <p:cNvPr id="9" name="Rectangle 8"/>
          <p:cNvSpPr/>
          <p:nvPr/>
        </p:nvSpPr>
        <p:spPr>
          <a:xfrm>
            <a:off x="6309360" y="1143000"/>
            <a:ext cx="5394960" cy="1965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143000"/>
            <a:ext cx="64008" cy="19659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34440"/>
            <a:ext cx="5074920" cy="347472"/>
          </a:xfrm>
          <a:prstGeom prst="rect">
            <a:avLst/>
          </a:prstGeom>
          <a:noFill/>
        </p:spPr>
        <p:txBody>
          <a:bodyPr wrap="square">
            <a:spAutoFit/>
          </a:bodyPr>
          <a:lstStyle/>
          <a:p>
            <a:pPr algn="l"/>
            <a:r>
              <a:rPr sz="1250" b="1" i="0">
                <a:solidFill>
                  <a:srgbClr val="0F172A"/>
                </a:solidFill>
                <a:latin typeface="Calibri"/>
              </a:rPr>
              <a:t>Qualité du code : flake8, black, pylint</a:t>
            </a:r>
          </a:p>
        </p:txBody>
      </p:sp>
      <p:sp>
        <p:nvSpPr>
          <p:cNvPr id="12" name="TextBox 11"/>
          <p:cNvSpPr txBox="1"/>
          <p:nvPr/>
        </p:nvSpPr>
        <p:spPr>
          <a:xfrm>
            <a:off x="6492240" y="1600200"/>
            <a:ext cx="5074920" cy="1417319"/>
          </a:xfrm>
          <a:prstGeom prst="rect">
            <a:avLst/>
          </a:prstGeom>
          <a:noFill/>
        </p:spPr>
        <p:txBody>
          <a:bodyPr wrap="square">
            <a:spAutoFit/>
          </a:bodyPr>
          <a:lstStyle/>
          <a:p>
            <a:pPr algn="l"/>
            <a:r>
              <a:rPr sz="1000" b="0" i="0">
                <a:solidFill>
                  <a:srgbClr val="1E293B"/>
                </a:solidFill>
                <a:latin typeface="Calibri"/>
              </a:rPr>
              <a:t>flake8 vérifie le respect de PEP 8 (les conventions d'écriture Python), black impose un formatage uniforme, et pylint note la qualité globale sur 10 (je demande au moins 7). Ces trois contrôles sont eux-mêmes des tests : si le code n'est plus propre, la suite de tests échoue. Le code est commenté en français, avec des docstrings sur chaque fonction.</a:t>
            </a:r>
          </a:p>
        </p:txBody>
      </p:sp>
      <p:sp>
        <p:nvSpPr>
          <p:cNvPr id="13" name="Rectangle 12"/>
          <p:cNvSpPr/>
          <p:nvPr/>
        </p:nvSpPr>
        <p:spPr>
          <a:xfrm>
            <a:off x="457200" y="3246120"/>
            <a:ext cx="5577840" cy="1508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246120"/>
            <a:ext cx="64008" cy="1508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37560"/>
            <a:ext cx="5257800" cy="347472"/>
          </a:xfrm>
          <a:prstGeom prst="rect">
            <a:avLst/>
          </a:prstGeom>
          <a:noFill/>
        </p:spPr>
        <p:txBody>
          <a:bodyPr wrap="square">
            <a:spAutoFit/>
          </a:bodyPr>
          <a:lstStyle/>
          <a:p>
            <a:pPr algn="l"/>
            <a:r>
              <a:rPr sz="1250" b="1" i="0">
                <a:solidFill>
                  <a:srgbClr val="0F172A"/>
                </a:solidFill>
                <a:latin typeface="Calibri"/>
              </a:rPr>
              <a:t>Git et GitHub</a:t>
            </a:r>
          </a:p>
        </p:txBody>
      </p:sp>
      <p:sp>
        <p:nvSpPr>
          <p:cNvPr id="16" name="TextBox 15"/>
          <p:cNvSpPr txBox="1"/>
          <p:nvPr/>
        </p:nvSpPr>
        <p:spPr>
          <a:xfrm>
            <a:off x="640080" y="3703320"/>
            <a:ext cx="5257800" cy="960119"/>
          </a:xfrm>
          <a:prstGeom prst="rect">
            <a:avLst/>
          </a:prstGeom>
          <a:noFill/>
        </p:spPr>
        <p:txBody>
          <a:bodyPr wrap="square">
            <a:spAutoFit/>
          </a:bodyPr>
          <a:lstStyle/>
          <a:p>
            <a:pPr algn="l"/>
            <a:r>
              <a:rPr sz="1000" b="0" i="0">
                <a:solidFill>
                  <a:srgbClr val="1E293B"/>
                </a:solidFill>
                <a:latin typeface="Calibri"/>
              </a:rPr>
              <a:t>Chaque étape du projet a son commit avec un message normalisé (feat(preprocessing), feat(api), test, ci, docs…). Deux branches : dev pour le développement, main pour la version stable. Les fichiers lourds ou régénérables (données brutes, modèle de 39 Mo) sont exclus du dépôt via .gitignore.</a:t>
            </a:r>
          </a:p>
        </p:txBody>
      </p:sp>
      <p:sp>
        <p:nvSpPr>
          <p:cNvPr id="17" name="Rectangle 16"/>
          <p:cNvSpPr/>
          <p:nvPr/>
        </p:nvSpPr>
        <p:spPr>
          <a:xfrm>
            <a:off x="6309360" y="3246120"/>
            <a:ext cx="5394960" cy="1508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337560"/>
            <a:ext cx="5074920" cy="347472"/>
          </a:xfrm>
          <a:prstGeom prst="rect">
            <a:avLst/>
          </a:prstGeom>
          <a:noFill/>
        </p:spPr>
        <p:txBody>
          <a:bodyPr wrap="square">
            <a:spAutoFit/>
          </a:bodyPr>
          <a:lstStyle/>
          <a:p>
            <a:pPr algn="l"/>
            <a:r>
              <a:rPr sz="1250" b="1" i="0">
                <a:solidFill>
                  <a:srgbClr val="FFFFFF"/>
                </a:solidFill>
                <a:latin typeface="Calibri"/>
              </a:rPr>
              <a:t>Intégration continue (CI) avec GitHub Actions</a:t>
            </a:r>
          </a:p>
        </p:txBody>
      </p:sp>
      <p:sp>
        <p:nvSpPr>
          <p:cNvPr id="19" name="TextBox 18"/>
          <p:cNvSpPr txBox="1"/>
          <p:nvPr/>
        </p:nvSpPr>
        <p:spPr>
          <a:xfrm>
            <a:off x="6492240" y="3703320"/>
            <a:ext cx="5074920" cy="960119"/>
          </a:xfrm>
          <a:prstGeom prst="rect">
            <a:avLst/>
          </a:prstGeom>
          <a:noFill/>
        </p:spPr>
        <p:txBody>
          <a:bodyPr wrap="square">
            <a:spAutoFit/>
          </a:bodyPr>
          <a:lstStyle/>
          <a:p>
            <a:pPr algn="l"/>
            <a:r>
              <a:rPr sz="1000" b="0" i="0">
                <a:solidFill>
                  <a:srgbClr val="FFFFFF"/>
                </a:solidFill>
                <a:latin typeface="Calibri"/>
              </a:rPr>
              <a:t>À chaque envoi de code, GitHub installe le projet sur une machine vierge, réentraîne le modèle depuis le CSV nettoyé, puis lance les 19 tests. Si quelque chose casse, je le sais immédiatement — et ce n'est pas seulement du linting, c'est tout le fonctionnel qui est vérifié.</a:t>
            </a:r>
          </a:p>
        </p:txBody>
      </p:sp>
      <p:sp>
        <p:nvSpPr>
          <p:cNvPr id="20" name="Rectangle 19"/>
          <p:cNvSpPr/>
          <p:nvPr/>
        </p:nvSpPr>
        <p:spPr>
          <a:xfrm>
            <a:off x="457200" y="4892040"/>
            <a:ext cx="11247120" cy="1371600"/>
          </a:xfrm>
          <a:prstGeom prst="rect">
            <a:avLst/>
          </a:prstGeom>
          <a:solidFill>
            <a:srgbClr val="E8F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892040"/>
            <a:ext cx="64008"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983480"/>
            <a:ext cx="10881360" cy="347472"/>
          </a:xfrm>
          <a:prstGeom prst="rect">
            <a:avLst/>
          </a:prstGeom>
          <a:noFill/>
        </p:spPr>
        <p:txBody>
          <a:bodyPr wrap="square">
            <a:spAutoFit/>
          </a:bodyPr>
          <a:lstStyle/>
          <a:p>
            <a:pPr algn="l"/>
            <a:r>
              <a:rPr sz="1250" b="1" i="0">
                <a:solidFill>
                  <a:srgbClr val="0F172A"/>
                </a:solidFill>
                <a:latin typeface="Calibri"/>
              </a:rPr>
              <a:t>Pourquoi c'est important pour un projet de ML</a:t>
            </a:r>
          </a:p>
        </p:txBody>
      </p:sp>
      <p:sp>
        <p:nvSpPr>
          <p:cNvPr id="23" name="TextBox 22"/>
          <p:cNvSpPr txBox="1"/>
          <p:nvPr/>
        </p:nvSpPr>
        <p:spPr>
          <a:xfrm>
            <a:off x="640080" y="5349240"/>
            <a:ext cx="10881360" cy="822960"/>
          </a:xfrm>
          <a:prstGeom prst="rect">
            <a:avLst/>
          </a:prstGeom>
          <a:noFill/>
        </p:spPr>
        <p:txBody>
          <a:bodyPr wrap="square">
            <a:spAutoFit/>
          </a:bodyPr>
          <a:lstStyle/>
          <a:p>
            <a:pPr algn="l"/>
            <a:r>
              <a:rPr sz="1050" b="0" i="0">
                <a:solidFill>
                  <a:srgbClr val="1E293B"/>
                </a:solidFill>
                <a:latin typeface="Calibri"/>
              </a:rPr>
              <a:t>Un modèle n'a de valeur que s'il peut être relancé, vérifié et modifié sans tout casser. Les tests et la CI m'ont d'ailleurs permis de trouver plusieurs vrais bugs (slide suivante) que je n'aurais jamais vus en lançant le code à la main.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Les bugs que j'ai trouvés et corrigés</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09 — Ce que la revue de code et les tests m'ont appris</a:t>
            </a:r>
          </a:p>
        </p:txBody>
      </p:sp>
      <p:sp>
        <p:nvSpPr>
          <p:cNvPr id="5" name="Rectangle 4"/>
          <p:cNvSpPr/>
          <p:nvPr/>
        </p:nvSpPr>
        <p:spPr>
          <a:xfrm>
            <a:off x="457200" y="1143000"/>
            <a:ext cx="73152"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143000"/>
            <a:ext cx="11064240" cy="7772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97864"/>
            <a:ext cx="10789920" cy="292608"/>
          </a:xfrm>
          <a:prstGeom prst="rect">
            <a:avLst/>
          </a:prstGeom>
          <a:noFill/>
        </p:spPr>
        <p:txBody>
          <a:bodyPr wrap="square">
            <a:spAutoFit/>
          </a:bodyPr>
          <a:lstStyle/>
          <a:p>
            <a:pPr algn="l"/>
            <a:r>
              <a:rPr sz="1150" b="1" i="0">
                <a:solidFill>
                  <a:srgbClr val="0F172A"/>
                </a:solidFill>
                <a:latin typeface="Calibri"/>
              </a:rPr>
              <a:t>Encodage silencieusement ignoré (pandas 3.0)</a:t>
            </a:r>
          </a:p>
        </p:txBody>
      </p:sp>
      <p:sp>
        <p:nvSpPr>
          <p:cNvPr id="8" name="TextBox 7"/>
          <p:cNvSpPr txBox="1"/>
          <p:nvPr/>
        </p:nvSpPr>
        <p:spPr>
          <a:xfrm>
            <a:off x="777240" y="1490472"/>
            <a:ext cx="10789920" cy="411480"/>
          </a:xfrm>
          <a:prstGeom prst="rect">
            <a:avLst/>
          </a:prstGeom>
          <a:noFill/>
        </p:spPr>
        <p:txBody>
          <a:bodyPr wrap="square">
            <a:spAutoFit/>
          </a:bodyPr>
          <a:lstStyle/>
          <a:p>
            <a:pPr algn="l"/>
            <a:r>
              <a:rPr sz="980" b="0" i="0">
                <a:solidFill>
                  <a:srgbClr val="64748B"/>
                </a:solidFill>
                <a:latin typeface="Calibri"/>
              </a:rPr>
              <a:t>Le test dtype == object ne reconnaissait plus les colonnes texte (nouveau type « str ») : aucune colonne Oui/Non n'était encodée, sans aucune erreur. Détecté par un test unitaire qui échouait ; corrigé avec pd.api.types.is_string_dtype().</a:t>
            </a:r>
          </a:p>
        </p:txBody>
      </p:sp>
      <p:sp>
        <p:nvSpPr>
          <p:cNvPr id="9" name="Rectangle 8"/>
          <p:cNvSpPr/>
          <p:nvPr/>
        </p:nvSpPr>
        <p:spPr>
          <a:xfrm>
            <a:off x="457200" y="1993392"/>
            <a:ext cx="73152"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93392"/>
            <a:ext cx="11064240" cy="7772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48256"/>
            <a:ext cx="10789920" cy="292608"/>
          </a:xfrm>
          <a:prstGeom prst="rect">
            <a:avLst/>
          </a:prstGeom>
          <a:noFill/>
        </p:spPr>
        <p:txBody>
          <a:bodyPr wrap="square">
            <a:spAutoFit/>
          </a:bodyPr>
          <a:lstStyle/>
          <a:p>
            <a:pPr algn="l"/>
            <a:r>
              <a:rPr sz="1150" b="1" i="0">
                <a:solidFill>
                  <a:srgbClr val="0F172A"/>
                </a:solidFill>
                <a:latin typeface="Calibri"/>
              </a:rPr>
              <a:t>API : valeurs brutes envoyées à un modèle entraîné sur des valeurs normalisées</a:t>
            </a:r>
          </a:p>
        </p:txBody>
      </p:sp>
      <p:sp>
        <p:nvSpPr>
          <p:cNvPr id="12" name="TextBox 11"/>
          <p:cNvSpPr txBox="1"/>
          <p:nvPr/>
        </p:nvSpPr>
        <p:spPr>
          <a:xfrm>
            <a:off x="777240" y="2340864"/>
            <a:ext cx="10789920" cy="411480"/>
          </a:xfrm>
          <a:prstGeom prst="rect">
            <a:avLst/>
          </a:prstGeom>
          <a:noFill/>
        </p:spPr>
        <p:txBody>
          <a:bodyPr wrap="square">
            <a:spAutoFit/>
          </a:bodyPr>
          <a:lstStyle/>
          <a:p>
            <a:pPr algn="l"/>
            <a:r>
              <a:rPr sz="980" b="0" i="0">
                <a:solidFill>
                  <a:srgbClr val="64748B"/>
                </a:solidFill>
                <a:latin typeface="Calibri"/>
              </a:rPr>
              <a:t>Les prédictions étaient fausses mais « valides ». Corrigé en sauvegardant le scaler et en l'appliquant avant chaque prédiction.</a:t>
            </a:r>
          </a:p>
        </p:txBody>
      </p:sp>
      <p:sp>
        <p:nvSpPr>
          <p:cNvPr id="13" name="Rectangle 12"/>
          <p:cNvSpPr/>
          <p:nvPr/>
        </p:nvSpPr>
        <p:spPr>
          <a:xfrm>
            <a:off x="457200" y="2843784"/>
            <a:ext cx="73152"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843784"/>
            <a:ext cx="11064240" cy="7772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98648"/>
            <a:ext cx="10789920" cy="292608"/>
          </a:xfrm>
          <a:prstGeom prst="rect">
            <a:avLst/>
          </a:prstGeom>
          <a:noFill/>
        </p:spPr>
        <p:txBody>
          <a:bodyPr wrap="square">
            <a:spAutoFit/>
          </a:bodyPr>
          <a:lstStyle/>
          <a:p>
            <a:pPr algn="l"/>
            <a:r>
              <a:rPr sz="1150" b="1" i="0">
                <a:solidFill>
                  <a:srgbClr val="0F172A"/>
                </a:solidFill>
                <a:latin typeface="Calibri"/>
              </a:rPr>
              <a:t>API : champ gender manquant</a:t>
            </a:r>
          </a:p>
        </p:txBody>
      </p:sp>
      <p:sp>
        <p:nvSpPr>
          <p:cNvPr id="16" name="TextBox 15"/>
          <p:cNvSpPr txBox="1"/>
          <p:nvPr/>
        </p:nvSpPr>
        <p:spPr>
          <a:xfrm>
            <a:off x="777240" y="3191256"/>
            <a:ext cx="10789920" cy="411480"/>
          </a:xfrm>
          <a:prstGeom prst="rect">
            <a:avLst/>
          </a:prstGeom>
          <a:noFill/>
        </p:spPr>
        <p:txBody>
          <a:bodyPr wrap="square">
            <a:spAutoFit/>
          </a:bodyPr>
          <a:lstStyle/>
          <a:p>
            <a:pPr algn="l"/>
            <a:r>
              <a:rPr sz="980" b="0" i="0">
                <a:solidFill>
                  <a:srgbClr val="64748B"/>
                </a:solidFill>
                <a:latin typeface="Calibri"/>
              </a:rPr>
              <a:t>Le modèle avait appris avec le genre, mais l'API ne le demandait pas : chaque prédiction supposait « femme ». Champ ajouté.</a:t>
            </a:r>
          </a:p>
        </p:txBody>
      </p:sp>
      <p:sp>
        <p:nvSpPr>
          <p:cNvPr id="17" name="Rectangle 16"/>
          <p:cNvSpPr/>
          <p:nvPr/>
        </p:nvSpPr>
        <p:spPr>
          <a:xfrm>
            <a:off x="457200" y="3694176"/>
            <a:ext cx="73152"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694176"/>
            <a:ext cx="11064240" cy="7772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49039"/>
            <a:ext cx="10789920" cy="292608"/>
          </a:xfrm>
          <a:prstGeom prst="rect">
            <a:avLst/>
          </a:prstGeom>
          <a:noFill/>
        </p:spPr>
        <p:txBody>
          <a:bodyPr wrap="square">
            <a:spAutoFit/>
          </a:bodyPr>
          <a:lstStyle/>
          <a:p>
            <a:pPr algn="l"/>
            <a:r>
              <a:rPr sz="1150" b="1" i="0">
                <a:solidFill>
                  <a:srgbClr val="0F172A"/>
                </a:solidFill>
                <a:latin typeface="Calibri"/>
              </a:rPr>
              <a:t>CI : dépendances du projet non installées</a:t>
            </a:r>
          </a:p>
        </p:txBody>
      </p:sp>
      <p:sp>
        <p:nvSpPr>
          <p:cNvPr id="20" name="TextBox 19"/>
          <p:cNvSpPr txBox="1"/>
          <p:nvPr/>
        </p:nvSpPr>
        <p:spPr>
          <a:xfrm>
            <a:off x="777240" y="4041648"/>
            <a:ext cx="10789920" cy="411480"/>
          </a:xfrm>
          <a:prstGeom prst="rect">
            <a:avLst/>
          </a:prstGeom>
          <a:noFill/>
        </p:spPr>
        <p:txBody>
          <a:bodyPr wrap="square">
            <a:spAutoFit/>
          </a:bodyPr>
          <a:lstStyle/>
          <a:p>
            <a:pPr algn="l"/>
            <a:r>
              <a:rPr sz="980" b="0" i="0">
                <a:solidFill>
                  <a:srgbClr val="64748B"/>
                </a:solidFill>
                <a:latin typeface="Calibri"/>
              </a:rPr>
              <a:t>pylint ne pouvait résoudre aucun import (score 3,86/10). Corrigé avec pip install -r requirements.txt.</a:t>
            </a:r>
          </a:p>
        </p:txBody>
      </p:sp>
      <p:sp>
        <p:nvSpPr>
          <p:cNvPr id="21" name="Rectangle 20"/>
          <p:cNvSpPr/>
          <p:nvPr/>
        </p:nvSpPr>
        <p:spPr>
          <a:xfrm>
            <a:off x="457200" y="4544568"/>
            <a:ext cx="73152" cy="7772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544568"/>
            <a:ext cx="11064240" cy="7772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99432"/>
            <a:ext cx="10789920" cy="292608"/>
          </a:xfrm>
          <a:prstGeom prst="rect">
            <a:avLst/>
          </a:prstGeom>
          <a:noFill/>
        </p:spPr>
        <p:txBody>
          <a:bodyPr wrap="square">
            <a:spAutoFit/>
          </a:bodyPr>
          <a:lstStyle/>
          <a:p>
            <a:pPr algn="l"/>
            <a:r>
              <a:rPr sz="1150" b="1" i="0">
                <a:solidFill>
                  <a:srgbClr val="0F172A"/>
                </a:solidFill>
                <a:latin typeface="Calibri"/>
              </a:rPr>
              <a:t>models/scaler.pkl jamais envoyé sur GitHub</a:t>
            </a:r>
          </a:p>
        </p:txBody>
      </p:sp>
      <p:sp>
        <p:nvSpPr>
          <p:cNvPr id="24" name="TextBox 23"/>
          <p:cNvSpPr txBox="1"/>
          <p:nvPr/>
        </p:nvSpPr>
        <p:spPr>
          <a:xfrm>
            <a:off x="777240" y="4892040"/>
            <a:ext cx="10789920" cy="411480"/>
          </a:xfrm>
          <a:prstGeom prst="rect">
            <a:avLst/>
          </a:prstGeom>
          <a:noFill/>
        </p:spPr>
        <p:txBody>
          <a:bodyPr wrap="square">
            <a:spAutoFit/>
          </a:bodyPr>
          <a:lstStyle/>
          <a:p>
            <a:pPr algn="l"/>
            <a:r>
              <a:rPr sz="980" b="0" i="0">
                <a:solidFill>
                  <a:srgbClr val="64748B"/>
                </a:solidFill>
                <a:latin typeface="Calibri"/>
              </a:rPr>
              <a:t>Exclu par erreur par la règle models/*.pkl : l'API aurait planté chez quiconque clone le dépôt. Exception ajoutée au .gitignore.</a:t>
            </a:r>
          </a:p>
        </p:txBody>
      </p:sp>
      <p:sp>
        <p:nvSpPr>
          <p:cNvPr id="25" name="Rectangle 24"/>
          <p:cNvSpPr/>
          <p:nvPr/>
        </p:nvSpPr>
        <p:spPr>
          <a:xfrm>
            <a:off x="457200" y="5394960"/>
            <a:ext cx="73152" cy="7772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5394960"/>
            <a:ext cx="11064240" cy="7772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449824"/>
            <a:ext cx="10789920" cy="292608"/>
          </a:xfrm>
          <a:prstGeom prst="rect">
            <a:avLst/>
          </a:prstGeom>
          <a:noFill/>
        </p:spPr>
        <p:txBody>
          <a:bodyPr wrap="square">
            <a:spAutoFit/>
          </a:bodyPr>
          <a:lstStyle/>
          <a:p>
            <a:pPr algn="l"/>
            <a:r>
              <a:rPr sz="1150" b="1" i="0">
                <a:solidFill>
                  <a:srgbClr val="0F172A"/>
                </a:solidFill>
                <a:latin typeface="Calibri"/>
              </a:rPr>
              <a:t>pytest ne trouvait pas src/ et app/ sur GitHub</a:t>
            </a:r>
          </a:p>
        </p:txBody>
      </p:sp>
      <p:sp>
        <p:nvSpPr>
          <p:cNvPr id="28" name="TextBox 27"/>
          <p:cNvSpPr txBox="1"/>
          <p:nvPr/>
        </p:nvSpPr>
        <p:spPr>
          <a:xfrm>
            <a:off x="777240" y="5742432"/>
            <a:ext cx="10789920" cy="411480"/>
          </a:xfrm>
          <a:prstGeom prst="rect">
            <a:avLst/>
          </a:prstGeom>
          <a:noFill/>
        </p:spPr>
        <p:txBody>
          <a:bodyPr wrap="square">
            <a:spAutoFit/>
          </a:bodyPr>
          <a:lstStyle/>
          <a:p>
            <a:pPr algn="l"/>
            <a:r>
              <a:rPr sz="980" b="0" i="0">
                <a:solidFill>
                  <a:srgbClr val="64748B"/>
                </a:solidFill>
                <a:latin typeface="Calibri"/>
              </a:rPr>
              <a:t>L'exécutable pytest n'ajoute pas la racine du projet au chemin Python, contrairement à python -m pytest. Reproduit en local, corrigé.</a:t>
            </a:r>
          </a:p>
        </p:txBody>
      </p:sp>
      <p:sp>
        <p:nvSpPr>
          <p:cNvPr id="29" name="TextBox 28"/>
          <p:cNvSpPr txBox="1"/>
          <p:nvPr/>
        </p:nvSpPr>
        <p:spPr>
          <a:xfrm>
            <a:off x="457200" y="6492240"/>
            <a:ext cx="11247120" cy="292608"/>
          </a:xfrm>
          <a:prstGeom prst="rect">
            <a:avLst/>
          </a:prstGeom>
          <a:noFill/>
        </p:spPr>
        <p:txBody>
          <a:bodyPr wrap="square">
            <a:spAutoFit/>
          </a:bodyPr>
          <a:lstStyle/>
          <a:p>
            <a:pPr algn="ctr"/>
            <a:r>
              <a:rPr sz="1000" b="0" i="1">
                <a:solidFill>
                  <a:srgbClr val="64748B"/>
                </a:solidFill>
                <a:latin typeface="Calibri"/>
              </a:rPr>
              <a:t>Chaque bug a été reproduit, corrigé, puis vérifié par un test avant d'être poussé sur GitHub.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Monitoring</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09 — Surveiller le modèle après son déploiement</a:t>
            </a:r>
          </a:p>
        </p:txBody>
      </p:sp>
      <p:sp>
        <p:nvSpPr>
          <p:cNvPr id="5" name="Rectangle 4"/>
          <p:cNvSpPr/>
          <p:nvPr/>
        </p:nvSpPr>
        <p:spPr>
          <a:xfrm>
            <a:off x="457200" y="1143000"/>
            <a:ext cx="5577840" cy="2377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64008" cy="2377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5257800" cy="347472"/>
          </a:xfrm>
          <a:prstGeom prst="rect">
            <a:avLst/>
          </a:prstGeom>
          <a:noFill/>
        </p:spPr>
        <p:txBody>
          <a:bodyPr wrap="square">
            <a:spAutoFit/>
          </a:bodyPr>
          <a:lstStyle/>
          <a:p>
            <a:pPr algn="l"/>
            <a:r>
              <a:rPr sz="1250" b="1" i="0">
                <a:solidFill>
                  <a:srgbClr val="0F172A"/>
                </a:solidFill>
                <a:latin typeface="Calibri"/>
              </a:rPr>
              <a:t>Pourquoi surveiller un modèle ?</a:t>
            </a:r>
          </a:p>
        </p:txBody>
      </p:sp>
      <p:sp>
        <p:nvSpPr>
          <p:cNvPr id="8" name="TextBox 7"/>
          <p:cNvSpPr txBox="1"/>
          <p:nvPr/>
        </p:nvSpPr>
        <p:spPr>
          <a:xfrm>
            <a:off x="640080" y="1600200"/>
            <a:ext cx="5257800" cy="1828800"/>
          </a:xfrm>
          <a:prstGeom prst="rect">
            <a:avLst/>
          </a:prstGeom>
          <a:noFill/>
        </p:spPr>
        <p:txBody>
          <a:bodyPr wrap="square">
            <a:spAutoFit/>
          </a:bodyPr>
          <a:lstStyle/>
          <a:p>
            <a:pPr algn="l"/>
            <a:r>
              <a:rPr sz="1050" b="0" i="0">
                <a:solidFill>
                  <a:srgbClr val="1E293B"/>
                </a:solidFill>
                <a:latin typeface="Calibri"/>
              </a:rPr>
              <a:t>Un modèle est entraîné sur les données d'un moment donné. Si les clients changent (nouvelles offres, nouveaux tarifs, nouveau public), les nouvelles données ne ressemblent plus à celles de l'entraînement : c'est la dérive des données (data drift), et les prédictions se dégradent sans que personne ne s'en aperçoive. Le monitoring sert à détecter ça à temps.</a:t>
            </a:r>
          </a:p>
        </p:txBody>
      </p:sp>
      <p:sp>
        <p:nvSpPr>
          <p:cNvPr id="9" name="Rectangle 8"/>
          <p:cNvSpPr/>
          <p:nvPr/>
        </p:nvSpPr>
        <p:spPr>
          <a:xfrm>
            <a:off x="6309360" y="1143000"/>
            <a:ext cx="5394960" cy="2377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143000"/>
            <a:ext cx="64008" cy="2377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34440"/>
            <a:ext cx="5074920" cy="347472"/>
          </a:xfrm>
          <a:prstGeom prst="rect">
            <a:avLst/>
          </a:prstGeom>
          <a:noFill/>
        </p:spPr>
        <p:txBody>
          <a:bodyPr wrap="square">
            <a:spAutoFit/>
          </a:bodyPr>
          <a:lstStyle/>
          <a:p>
            <a:pPr algn="l"/>
            <a:r>
              <a:rPr sz="1250" b="1" i="0">
                <a:solidFill>
                  <a:srgbClr val="0F172A"/>
                </a:solidFill>
                <a:latin typeface="Calibri"/>
              </a:rPr>
              <a:t>Ce que j'ai mis en place avec Evidently</a:t>
            </a:r>
          </a:p>
        </p:txBody>
      </p:sp>
      <p:sp>
        <p:nvSpPr>
          <p:cNvPr id="12" name="TextBox 11"/>
          <p:cNvSpPr txBox="1"/>
          <p:nvPr/>
        </p:nvSpPr>
        <p:spPr>
          <a:xfrm>
            <a:off x="6492240" y="1600200"/>
            <a:ext cx="5074920" cy="1828800"/>
          </a:xfrm>
          <a:prstGeom prst="rect">
            <a:avLst/>
          </a:prstGeom>
          <a:noFill/>
        </p:spPr>
        <p:txBody>
          <a:bodyPr wrap="square">
            <a:spAutoFit/>
          </a:bodyPr>
          <a:lstStyle/>
          <a:p>
            <a:pPr algn="l"/>
            <a:r>
              <a:rPr sz="1050" b="0" i="0">
                <a:solidFill>
                  <a:srgbClr val="1E293B"/>
                </a:solidFill>
                <a:latin typeface="Calibri"/>
              </a:rPr>
              <a:t>Evidently est une bibliothèque spécialisée dans le monitoring de modèles. J'ai généré deux rapports HTML (dossier reports/) : un rapport de dérive qui compare la distribution des variables clés entre entraînement et test (résultat : 0 colonne sur 4 en dérive, les données sont stables), et un rapport de performance qui compare les métriques du modèle sur les deux jeux.</a:t>
            </a:r>
          </a:p>
        </p:txBody>
      </p:sp>
      <p:sp>
        <p:nvSpPr>
          <p:cNvPr id="13" name="Rectangle 12"/>
          <p:cNvSpPr/>
          <p:nvPr/>
        </p:nvSpPr>
        <p:spPr>
          <a:xfrm>
            <a:off x="457200" y="3657600"/>
            <a:ext cx="11247120" cy="2606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749039"/>
            <a:ext cx="10927080" cy="347472"/>
          </a:xfrm>
          <a:prstGeom prst="rect">
            <a:avLst/>
          </a:prstGeom>
          <a:noFill/>
        </p:spPr>
        <p:txBody>
          <a:bodyPr wrap="square">
            <a:spAutoFit/>
          </a:bodyPr>
          <a:lstStyle/>
          <a:p>
            <a:pPr algn="l"/>
            <a:r>
              <a:rPr sz="1250" b="1" i="0">
                <a:solidFill>
                  <a:srgbClr val="FFFFFF"/>
                </a:solidFill>
                <a:latin typeface="Calibri"/>
              </a:rPr>
              <a:t>La limite actuelle, et ce qu'il faudrait pour un vrai monitoring</a:t>
            </a:r>
          </a:p>
        </p:txBody>
      </p:sp>
      <p:sp>
        <p:nvSpPr>
          <p:cNvPr id="15" name="TextBox 14"/>
          <p:cNvSpPr txBox="1"/>
          <p:nvPr/>
        </p:nvSpPr>
        <p:spPr>
          <a:xfrm>
            <a:off x="640080" y="4114800"/>
            <a:ext cx="10927080" cy="2057400"/>
          </a:xfrm>
          <a:prstGeom prst="rect">
            <a:avLst/>
          </a:prstGeom>
          <a:noFill/>
        </p:spPr>
        <p:txBody>
          <a:bodyPr wrap="square">
            <a:spAutoFit/>
          </a:bodyPr>
          <a:lstStyle/>
          <a:p>
            <a:pPr algn="l"/>
            <a:r>
              <a:rPr sz="1050" b="0" i="0">
                <a:solidFill>
                  <a:srgbClr val="FFFFFF"/>
                </a:solidFill>
                <a:latin typeface="Calibri"/>
              </a:rPr>
              <a:t>Mes rapports sont générés une seule fois, dans un notebook, en comparant train et test. Ce n'est pas encore un monitoring de production : il n'y a pas de nouvelles données réelles qui arrivent au fil du temps. Pour aller plus loin, il faudrait enregistrer les requêtes reçues par l'API, puis lancer automatiquement (par exemple chaque semaine, via un job planifié ou la CI) la comparaison entre ces nouvelles données et les données d'entraînement, avec une alerte si une dérive apparaît — et prévoir de réentraîner le modèle quand c'est le cas. J'ai posé les briques (Evidently, CI), il manque l'automatisation.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515600" cy="502920"/>
          </a:xfrm>
          <a:prstGeom prst="rect">
            <a:avLst/>
          </a:prstGeom>
          <a:noFill/>
        </p:spPr>
        <p:txBody>
          <a:bodyPr wrap="square">
            <a:spAutoFit/>
          </a:bodyPr>
          <a:lstStyle/>
          <a:p>
            <a:pPr algn="l"/>
            <a:r>
              <a:rPr sz="2200" b="1" i="0">
                <a:solidFill>
                  <a:srgbClr val="FFFFFF"/>
                </a:solidFill>
                <a:latin typeface="Calibri"/>
              </a:rPr>
              <a:t>Approche critique de mon travail</a:t>
            </a:r>
          </a:p>
        </p:txBody>
      </p:sp>
      <p:sp>
        <p:nvSpPr>
          <p:cNvPr id="4" name="TextBox 3"/>
          <p:cNvSpPr txBox="1"/>
          <p:nvPr/>
        </p:nvSpPr>
        <p:spPr>
          <a:xfrm>
            <a:off x="457200" y="594360"/>
            <a:ext cx="10515600" cy="347472"/>
          </a:xfrm>
          <a:prstGeom prst="rect">
            <a:avLst/>
          </a:prstGeom>
          <a:noFill/>
        </p:spPr>
        <p:txBody>
          <a:bodyPr wrap="square">
            <a:spAutoFit/>
          </a:bodyPr>
          <a:lstStyle/>
          <a:p>
            <a:pPr algn="l"/>
            <a:r>
              <a:rPr sz="1200" b="0" i="0">
                <a:solidFill>
                  <a:srgbClr val="AABBCC"/>
                </a:solidFill>
                <a:latin typeface="Calibri"/>
              </a:rPr>
              <a:t>10 — Limites et pistes d'amélioration</a:t>
            </a:r>
          </a:p>
        </p:txBody>
      </p:sp>
      <p:sp>
        <p:nvSpPr>
          <p:cNvPr id="5" name="TextBox 4"/>
          <p:cNvSpPr txBox="1"/>
          <p:nvPr/>
        </p:nvSpPr>
        <p:spPr>
          <a:xfrm>
            <a:off x="457200" y="1097280"/>
            <a:ext cx="5577840" cy="347472"/>
          </a:xfrm>
          <a:prstGeom prst="rect">
            <a:avLst/>
          </a:prstGeom>
          <a:noFill/>
        </p:spPr>
        <p:txBody>
          <a:bodyPr wrap="square">
            <a:spAutoFit/>
          </a:bodyPr>
          <a:lstStyle/>
          <a:p>
            <a:pPr algn="l"/>
            <a:r>
              <a:rPr sz="1300" b="1" i="0">
                <a:solidFill>
                  <a:srgbClr val="EF4444"/>
                </a:solidFill>
                <a:latin typeface="Calibri"/>
              </a:rPr>
              <a:t>Les limites que j'identifie</a:t>
            </a:r>
          </a:p>
        </p:txBody>
      </p:sp>
      <p:sp>
        <p:nvSpPr>
          <p:cNvPr id="6" name="Rectangle 5"/>
          <p:cNvSpPr/>
          <p:nvPr/>
        </p:nvSpPr>
        <p:spPr>
          <a:xfrm>
            <a:off x="457200" y="1508760"/>
            <a:ext cx="64008" cy="8229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08760"/>
            <a:ext cx="539496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63624"/>
            <a:ext cx="5120640" cy="292608"/>
          </a:xfrm>
          <a:prstGeom prst="rect">
            <a:avLst/>
          </a:prstGeom>
          <a:noFill/>
        </p:spPr>
        <p:txBody>
          <a:bodyPr wrap="square">
            <a:spAutoFit/>
          </a:bodyPr>
          <a:lstStyle/>
          <a:p>
            <a:pPr algn="l"/>
            <a:r>
              <a:rPr sz="1100" b="1" i="0">
                <a:solidFill>
                  <a:srgbClr val="0F172A"/>
                </a:solidFill>
                <a:latin typeface="Calibri"/>
              </a:rPr>
              <a:t>Un surapprentissage modéré subsiste</a:t>
            </a:r>
          </a:p>
        </p:txBody>
      </p:sp>
      <p:sp>
        <p:nvSpPr>
          <p:cNvPr id="9" name="TextBox 8"/>
          <p:cNvSpPr txBox="1"/>
          <p:nvPr/>
        </p:nvSpPr>
        <p:spPr>
          <a:xfrm>
            <a:off x="777240" y="1874519"/>
            <a:ext cx="5120640" cy="457200"/>
          </a:xfrm>
          <a:prstGeom prst="rect">
            <a:avLst/>
          </a:prstGeom>
          <a:noFill/>
        </p:spPr>
        <p:txBody>
          <a:bodyPr wrap="square">
            <a:spAutoFit/>
          </a:bodyPr>
          <a:lstStyle/>
          <a:p>
            <a:pPr algn="l"/>
            <a:r>
              <a:rPr sz="980" b="0" i="0">
                <a:solidFill>
                  <a:srgbClr val="64748B"/>
                </a:solidFill>
                <a:latin typeface="Calibri"/>
              </a:rPr>
              <a:t>F1 0,77 en entraînement contre 0,62 en test : 200 arbres de profondeur 10 restent un modèle très flexible.</a:t>
            </a:r>
          </a:p>
        </p:txBody>
      </p:sp>
      <p:sp>
        <p:nvSpPr>
          <p:cNvPr id="10" name="Rectangle 9"/>
          <p:cNvSpPr/>
          <p:nvPr/>
        </p:nvSpPr>
        <p:spPr>
          <a:xfrm>
            <a:off x="457200" y="2441448"/>
            <a:ext cx="64008" cy="8229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41448"/>
            <a:ext cx="539496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96312"/>
            <a:ext cx="5120640" cy="292608"/>
          </a:xfrm>
          <a:prstGeom prst="rect">
            <a:avLst/>
          </a:prstGeom>
          <a:noFill/>
        </p:spPr>
        <p:txBody>
          <a:bodyPr wrap="square">
            <a:spAutoFit/>
          </a:bodyPr>
          <a:lstStyle/>
          <a:p>
            <a:pPr algn="l"/>
            <a:r>
              <a:rPr sz="1100" b="1" i="0">
                <a:solidFill>
                  <a:srgbClr val="0F172A"/>
                </a:solidFill>
                <a:latin typeface="Calibri"/>
              </a:rPr>
              <a:t>Une fausse alerte sur deux</a:t>
            </a:r>
          </a:p>
        </p:txBody>
      </p:sp>
      <p:sp>
        <p:nvSpPr>
          <p:cNvPr id="13" name="TextBox 12"/>
          <p:cNvSpPr txBox="1"/>
          <p:nvPr/>
        </p:nvSpPr>
        <p:spPr>
          <a:xfrm>
            <a:off x="777240" y="2807208"/>
            <a:ext cx="5120640" cy="457200"/>
          </a:xfrm>
          <a:prstGeom prst="rect">
            <a:avLst/>
          </a:prstGeom>
          <a:noFill/>
        </p:spPr>
        <p:txBody>
          <a:bodyPr wrap="square">
            <a:spAutoFit/>
          </a:bodyPr>
          <a:lstStyle/>
          <a:p>
            <a:pPr algn="l"/>
            <a:r>
              <a:rPr sz="980" b="0" i="0">
                <a:solidFill>
                  <a:srgbClr val="64748B"/>
                </a:solidFill>
                <a:latin typeface="Calibri"/>
              </a:rPr>
              <a:t>Précision de 0,54 : quand le modèle signale un client, il se trompe presque une fois sur deux.</a:t>
            </a:r>
          </a:p>
        </p:txBody>
      </p:sp>
      <p:sp>
        <p:nvSpPr>
          <p:cNvPr id="14" name="Rectangle 13"/>
          <p:cNvSpPr/>
          <p:nvPr/>
        </p:nvSpPr>
        <p:spPr>
          <a:xfrm>
            <a:off x="457200" y="3374136"/>
            <a:ext cx="64008" cy="8229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74136"/>
            <a:ext cx="539496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29000"/>
            <a:ext cx="5120640" cy="292608"/>
          </a:xfrm>
          <a:prstGeom prst="rect">
            <a:avLst/>
          </a:prstGeom>
          <a:noFill/>
        </p:spPr>
        <p:txBody>
          <a:bodyPr wrap="square">
            <a:spAutoFit/>
          </a:bodyPr>
          <a:lstStyle/>
          <a:p>
            <a:pPr algn="l"/>
            <a:r>
              <a:rPr sz="1100" b="1" i="0">
                <a:solidFill>
                  <a:srgbClr val="0F172A"/>
                </a:solidFill>
                <a:latin typeface="Calibri"/>
              </a:rPr>
              <a:t>Un seul découpage train/test pour comparer</a:t>
            </a:r>
          </a:p>
        </p:txBody>
      </p:sp>
      <p:sp>
        <p:nvSpPr>
          <p:cNvPr id="17" name="TextBox 16"/>
          <p:cNvSpPr txBox="1"/>
          <p:nvPr/>
        </p:nvSpPr>
        <p:spPr>
          <a:xfrm>
            <a:off x="777240" y="3739896"/>
            <a:ext cx="5120640" cy="457200"/>
          </a:xfrm>
          <a:prstGeom prst="rect">
            <a:avLst/>
          </a:prstGeom>
          <a:noFill/>
        </p:spPr>
        <p:txBody>
          <a:bodyPr wrap="square">
            <a:spAutoFit/>
          </a:bodyPr>
          <a:lstStyle/>
          <a:p>
            <a:pPr algn="l"/>
            <a:r>
              <a:rPr sz="980" b="0" i="0">
                <a:solidFill>
                  <a:srgbClr val="64748B"/>
                </a:solidFill>
                <a:latin typeface="Calibri"/>
              </a:rPr>
              <a:t>Les écarts entre modèles (moins de 0,01 de F1) sont trop petits pour être significatifs sur un seul split.</a:t>
            </a:r>
          </a:p>
        </p:txBody>
      </p:sp>
      <p:sp>
        <p:nvSpPr>
          <p:cNvPr id="18" name="Rectangle 17"/>
          <p:cNvSpPr/>
          <p:nvPr/>
        </p:nvSpPr>
        <p:spPr>
          <a:xfrm>
            <a:off x="457200" y="4306824"/>
            <a:ext cx="64008" cy="8229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306824"/>
            <a:ext cx="539496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1688"/>
            <a:ext cx="5120640" cy="292608"/>
          </a:xfrm>
          <a:prstGeom prst="rect">
            <a:avLst/>
          </a:prstGeom>
          <a:noFill/>
        </p:spPr>
        <p:txBody>
          <a:bodyPr wrap="square">
            <a:spAutoFit/>
          </a:bodyPr>
          <a:lstStyle/>
          <a:p>
            <a:pPr algn="l"/>
            <a:r>
              <a:rPr sz="1100" b="1" i="0">
                <a:solidFill>
                  <a:srgbClr val="0F172A"/>
                </a:solidFill>
                <a:latin typeface="Calibri"/>
              </a:rPr>
              <a:t>Seuils de risque fixés « à la main »</a:t>
            </a:r>
          </a:p>
        </p:txBody>
      </p:sp>
      <p:sp>
        <p:nvSpPr>
          <p:cNvPr id="21" name="TextBox 20"/>
          <p:cNvSpPr txBox="1"/>
          <p:nvPr/>
        </p:nvSpPr>
        <p:spPr>
          <a:xfrm>
            <a:off x="777240" y="4672584"/>
            <a:ext cx="5120640" cy="457200"/>
          </a:xfrm>
          <a:prstGeom prst="rect">
            <a:avLst/>
          </a:prstGeom>
          <a:noFill/>
        </p:spPr>
        <p:txBody>
          <a:bodyPr wrap="square">
            <a:spAutoFit/>
          </a:bodyPr>
          <a:lstStyle/>
          <a:p>
            <a:pPr algn="l"/>
            <a:r>
              <a:rPr sz="980" b="0" i="0">
                <a:solidFill>
                  <a:srgbClr val="64748B"/>
                </a:solidFill>
                <a:latin typeface="Calibri"/>
              </a:rPr>
              <a:t>0,3 et 0,6 dans l'API, sans analyse du coût réel d'une erreur.</a:t>
            </a:r>
          </a:p>
        </p:txBody>
      </p:sp>
      <p:sp>
        <p:nvSpPr>
          <p:cNvPr id="22" name="Rectangle 21"/>
          <p:cNvSpPr/>
          <p:nvPr/>
        </p:nvSpPr>
        <p:spPr>
          <a:xfrm>
            <a:off x="457200" y="5239512"/>
            <a:ext cx="64008" cy="8229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5239512"/>
            <a:ext cx="539496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94376"/>
            <a:ext cx="5120640" cy="292608"/>
          </a:xfrm>
          <a:prstGeom prst="rect">
            <a:avLst/>
          </a:prstGeom>
          <a:noFill/>
        </p:spPr>
        <p:txBody>
          <a:bodyPr wrap="square">
            <a:spAutoFit/>
          </a:bodyPr>
          <a:lstStyle/>
          <a:p>
            <a:pPr algn="l"/>
            <a:r>
              <a:rPr sz="1100" b="1" i="0">
                <a:solidFill>
                  <a:srgbClr val="0F172A"/>
                </a:solidFill>
                <a:latin typeface="Calibri"/>
              </a:rPr>
              <a:t>Données sans historique de comportement</a:t>
            </a:r>
          </a:p>
        </p:txBody>
      </p:sp>
      <p:sp>
        <p:nvSpPr>
          <p:cNvPr id="25" name="TextBox 24"/>
          <p:cNvSpPr txBox="1"/>
          <p:nvPr/>
        </p:nvSpPr>
        <p:spPr>
          <a:xfrm>
            <a:off x="777240" y="5605272"/>
            <a:ext cx="5120640" cy="457200"/>
          </a:xfrm>
          <a:prstGeom prst="rect">
            <a:avLst/>
          </a:prstGeom>
          <a:noFill/>
        </p:spPr>
        <p:txBody>
          <a:bodyPr wrap="square">
            <a:spAutoFit/>
          </a:bodyPr>
          <a:lstStyle/>
          <a:p>
            <a:pPr algn="l"/>
            <a:r>
              <a:rPr sz="980" b="0" i="0">
                <a:solidFill>
                  <a:srgbClr val="64748B"/>
                </a:solidFill>
                <a:latin typeface="Calibri"/>
              </a:rPr>
              <a:t>Pas d'appels au support ni de retards de paiement, pourtant très prédictifs.</a:t>
            </a:r>
          </a:p>
        </p:txBody>
      </p:sp>
      <p:sp>
        <p:nvSpPr>
          <p:cNvPr id="26" name="TextBox 25"/>
          <p:cNvSpPr txBox="1"/>
          <p:nvPr/>
        </p:nvSpPr>
        <p:spPr>
          <a:xfrm>
            <a:off x="6309360" y="1097280"/>
            <a:ext cx="5394960" cy="347472"/>
          </a:xfrm>
          <a:prstGeom prst="rect">
            <a:avLst/>
          </a:prstGeom>
          <a:noFill/>
        </p:spPr>
        <p:txBody>
          <a:bodyPr wrap="square">
            <a:spAutoFit/>
          </a:bodyPr>
          <a:lstStyle/>
          <a:p>
            <a:pPr algn="l"/>
            <a:r>
              <a:rPr sz="1300" b="1" i="0">
                <a:solidFill>
                  <a:srgbClr val="10B981"/>
                </a:solidFill>
                <a:latin typeface="Calibri"/>
              </a:rPr>
              <a:t>Ce que je ferais ensuite</a:t>
            </a:r>
          </a:p>
        </p:txBody>
      </p:sp>
      <p:sp>
        <p:nvSpPr>
          <p:cNvPr id="27" name="Rectangle 26"/>
          <p:cNvSpPr/>
          <p:nvPr/>
        </p:nvSpPr>
        <p:spPr>
          <a:xfrm>
            <a:off x="6309360" y="1508760"/>
            <a:ext cx="64008"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1508760"/>
            <a:ext cx="521208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1563624"/>
            <a:ext cx="4937760" cy="292608"/>
          </a:xfrm>
          <a:prstGeom prst="rect">
            <a:avLst/>
          </a:prstGeom>
          <a:noFill/>
        </p:spPr>
        <p:txBody>
          <a:bodyPr wrap="square">
            <a:spAutoFit/>
          </a:bodyPr>
          <a:lstStyle/>
          <a:p>
            <a:pPr algn="l"/>
            <a:r>
              <a:rPr sz="1100" b="1" i="0">
                <a:solidFill>
                  <a:srgbClr val="0F172A"/>
                </a:solidFill>
                <a:latin typeface="Calibri"/>
              </a:rPr>
              <a:t>Réduire encore le surapprentissage</a:t>
            </a:r>
          </a:p>
        </p:txBody>
      </p:sp>
      <p:sp>
        <p:nvSpPr>
          <p:cNvPr id="30" name="TextBox 29"/>
          <p:cNvSpPr txBox="1"/>
          <p:nvPr/>
        </p:nvSpPr>
        <p:spPr>
          <a:xfrm>
            <a:off x="6629400" y="1874519"/>
            <a:ext cx="4937760" cy="457200"/>
          </a:xfrm>
          <a:prstGeom prst="rect">
            <a:avLst/>
          </a:prstGeom>
          <a:noFill/>
        </p:spPr>
        <p:txBody>
          <a:bodyPr wrap="square">
            <a:spAutoFit/>
          </a:bodyPr>
          <a:lstStyle/>
          <a:p>
            <a:pPr algn="l"/>
            <a:r>
              <a:rPr sz="980" b="0" i="0">
                <a:solidFill>
                  <a:srgbClr val="64748B"/>
                </a:solidFill>
                <a:latin typeface="Calibri"/>
              </a:rPr>
              <a:t>Augmenter min_samples_leaf ou limiter la profondeur à 6-8, et valider par validation croisée répétée.</a:t>
            </a:r>
          </a:p>
        </p:txBody>
      </p:sp>
      <p:sp>
        <p:nvSpPr>
          <p:cNvPr id="31" name="Rectangle 30"/>
          <p:cNvSpPr/>
          <p:nvPr/>
        </p:nvSpPr>
        <p:spPr>
          <a:xfrm>
            <a:off x="6309360" y="2441448"/>
            <a:ext cx="64008"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92240" y="2441448"/>
            <a:ext cx="521208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2496312"/>
            <a:ext cx="4937760" cy="292608"/>
          </a:xfrm>
          <a:prstGeom prst="rect">
            <a:avLst/>
          </a:prstGeom>
          <a:noFill/>
        </p:spPr>
        <p:txBody>
          <a:bodyPr wrap="square">
            <a:spAutoFit/>
          </a:bodyPr>
          <a:lstStyle/>
          <a:p>
            <a:pPr algn="l"/>
            <a:r>
              <a:rPr sz="1100" b="1" i="0">
                <a:solidFill>
                  <a:srgbClr val="0F172A"/>
                </a:solidFill>
                <a:latin typeface="Calibri"/>
              </a:rPr>
              <a:t>Choisir le seuil de décision selon le coût métier</a:t>
            </a:r>
          </a:p>
        </p:txBody>
      </p:sp>
      <p:sp>
        <p:nvSpPr>
          <p:cNvPr id="34" name="TextBox 33"/>
          <p:cNvSpPr txBox="1"/>
          <p:nvPr/>
        </p:nvSpPr>
        <p:spPr>
          <a:xfrm>
            <a:off x="6629400" y="2807208"/>
            <a:ext cx="4937760" cy="457200"/>
          </a:xfrm>
          <a:prstGeom prst="rect">
            <a:avLst/>
          </a:prstGeom>
          <a:noFill/>
        </p:spPr>
        <p:txBody>
          <a:bodyPr wrap="square">
            <a:spAutoFit/>
          </a:bodyPr>
          <a:lstStyle/>
          <a:p>
            <a:pPr algn="l"/>
            <a:r>
              <a:rPr sz="980" b="0" i="0">
                <a:solidFill>
                  <a:srgbClr val="64748B"/>
                </a:solidFill>
                <a:latin typeface="Calibri"/>
              </a:rPr>
              <a:t>Abaisser le seuil pour repérer plus de churners si un départ raté coûte plus cher qu'une fausse alerte.</a:t>
            </a:r>
          </a:p>
        </p:txBody>
      </p:sp>
      <p:sp>
        <p:nvSpPr>
          <p:cNvPr id="35" name="Rectangle 34"/>
          <p:cNvSpPr/>
          <p:nvPr/>
        </p:nvSpPr>
        <p:spPr>
          <a:xfrm>
            <a:off x="6309360" y="3374136"/>
            <a:ext cx="64008"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92240" y="3374136"/>
            <a:ext cx="521208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3429000"/>
            <a:ext cx="4937760" cy="292608"/>
          </a:xfrm>
          <a:prstGeom prst="rect">
            <a:avLst/>
          </a:prstGeom>
          <a:noFill/>
        </p:spPr>
        <p:txBody>
          <a:bodyPr wrap="square">
            <a:spAutoFit/>
          </a:bodyPr>
          <a:lstStyle/>
          <a:p>
            <a:pPr algn="l"/>
            <a:r>
              <a:rPr sz="1100" b="1" i="0">
                <a:solidFill>
                  <a:srgbClr val="0F172A"/>
                </a:solidFill>
                <a:latin typeface="Calibri"/>
              </a:rPr>
              <a:t>Tester d'autres approches</a:t>
            </a:r>
          </a:p>
        </p:txBody>
      </p:sp>
      <p:sp>
        <p:nvSpPr>
          <p:cNvPr id="38" name="TextBox 37"/>
          <p:cNvSpPr txBox="1"/>
          <p:nvPr/>
        </p:nvSpPr>
        <p:spPr>
          <a:xfrm>
            <a:off x="6629400" y="3739896"/>
            <a:ext cx="4937760" cy="457200"/>
          </a:xfrm>
          <a:prstGeom prst="rect">
            <a:avLst/>
          </a:prstGeom>
          <a:noFill/>
        </p:spPr>
        <p:txBody>
          <a:bodyPr wrap="square">
            <a:spAutoFit/>
          </a:bodyPr>
          <a:lstStyle/>
          <a:p>
            <a:pPr algn="l"/>
            <a:r>
              <a:rPr sz="980" b="0" i="0">
                <a:solidFill>
                  <a:srgbClr val="64748B"/>
                </a:solidFill>
                <a:latin typeface="Calibri"/>
              </a:rPr>
              <a:t>SMOTE pour le déséquilibre, XGBoost ou LightGBM (mieux régularisés), SHAP pour expliquer chaque prédiction.</a:t>
            </a:r>
          </a:p>
        </p:txBody>
      </p:sp>
      <p:sp>
        <p:nvSpPr>
          <p:cNvPr id="39" name="Rectangle 38"/>
          <p:cNvSpPr/>
          <p:nvPr/>
        </p:nvSpPr>
        <p:spPr>
          <a:xfrm>
            <a:off x="6309360" y="4306824"/>
            <a:ext cx="64008"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92240" y="4306824"/>
            <a:ext cx="521208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4361688"/>
            <a:ext cx="4937760" cy="292608"/>
          </a:xfrm>
          <a:prstGeom prst="rect">
            <a:avLst/>
          </a:prstGeom>
          <a:noFill/>
        </p:spPr>
        <p:txBody>
          <a:bodyPr wrap="square">
            <a:spAutoFit/>
          </a:bodyPr>
          <a:lstStyle/>
          <a:p>
            <a:pPr algn="l"/>
            <a:r>
              <a:rPr sz="1100" b="1" i="0">
                <a:solidFill>
                  <a:srgbClr val="0F172A"/>
                </a:solidFill>
                <a:latin typeface="Calibri"/>
              </a:rPr>
              <a:t>Automatiser le monitoring</a:t>
            </a:r>
          </a:p>
        </p:txBody>
      </p:sp>
      <p:sp>
        <p:nvSpPr>
          <p:cNvPr id="42" name="TextBox 41"/>
          <p:cNvSpPr txBox="1"/>
          <p:nvPr/>
        </p:nvSpPr>
        <p:spPr>
          <a:xfrm>
            <a:off x="6629400" y="4672584"/>
            <a:ext cx="4937760" cy="457200"/>
          </a:xfrm>
          <a:prstGeom prst="rect">
            <a:avLst/>
          </a:prstGeom>
          <a:noFill/>
        </p:spPr>
        <p:txBody>
          <a:bodyPr wrap="square">
            <a:spAutoFit/>
          </a:bodyPr>
          <a:lstStyle/>
          <a:p>
            <a:pPr algn="l"/>
            <a:r>
              <a:rPr sz="980" b="0" i="0">
                <a:solidFill>
                  <a:srgbClr val="64748B"/>
                </a:solidFill>
                <a:latin typeface="Calibri"/>
              </a:rPr>
              <a:t>Enregistrer les requêtes de l'API et lancer Evidently régulièrement, avec alerte et réentraînement.</a:t>
            </a:r>
          </a:p>
        </p:txBody>
      </p:sp>
      <p:sp>
        <p:nvSpPr>
          <p:cNvPr id="43" name="Rectangle 42"/>
          <p:cNvSpPr/>
          <p:nvPr/>
        </p:nvSpPr>
        <p:spPr>
          <a:xfrm>
            <a:off x="6309360" y="5239512"/>
            <a:ext cx="64008"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92240" y="5239512"/>
            <a:ext cx="521208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29400" y="5294376"/>
            <a:ext cx="4937760" cy="292608"/>
          </a:xfrm>
          <a:prstGeom prst="rect">
            <a:avLst/>
          </a:prstGeom>
          <a:noFill/>
        </p:spPr>
        <p:txBody>
          <a:bodyPr wrap="square">
            <a:spAutoFit/>
          </a:bodyPr>
          <a:lstStyle/>
          <a:p>
            <a:pPr algn="l"/>
            <a:r>
              <a:rPr sz="1100" b="1" i="0">
                <a:solidFill>
                  <a:srgbClr val="0F172A"/>
                </a:solidFill>
                <a:latin typeface="Calibri"/>
              </a:rPr>
              <a:t>Finir la qualité de code</a:t>
            </a:r>
          </a:p>
        </p:txBody>
      </p:sp>
      <p:sp>
        <p:nvSpPr>
          <p:cNvPr id="46" name="TextBox 45"/>
          <p:cNvSpPr txBox="1"/>
          <p:nvPr/>
        </p:nvSpPr>
        <p:spPr>
          <a:xfrm>
            <a:off x="6629400" y="5605272"/>
            <a:ext cx="4937760" cy="457200"/>
          </a:xfrm>
          <a:prstGeom prst="rect">
            <a:avLst/>
          </a:prstGeom>
          <a:noFill/>
        </p:spPr>
        <p:txBody>
          <a:bodyPr wrap="square">
            <a:spAutoFit/>
          </a:bodyPr>
          <a:lstStyle/>
          <a:p>
            <a:pPr algn="l"/>
            <a:r>
              <a:rPr sz="980" b="0" i="0">
                <a:solidFill>
                  <a:srgbClr val="64748B"/>
                </a:solidFill>
                <a:latin typeface="Calibri"/>
              </a:rPr>
              <a:t>Étendre pylint au dossier app/ (aujourd'hui limité à src/) et ajouter des tests sur les cas d'erreur de l'API.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594360"/>
          </a:xfrm>
          <a:prstGeom prst="rect">
            <a:avLst/>
          </a:prstGeom>
          <a:noFill/>
        </p:spPr>
        <p:txBody>
          <a:bodyPr wrap="square">
            <a:spAutoFit/>
          </a:bodyPr>
          <a:lstStyle/>
          <a:p>
            <a:pPr algn="l"/>
            <a:r>
              <a:rPr sz="2800" b="1" i="0">
                <a:solidFill>
                  <a:srgbClr val="FFFFFF"/>
                </a:solidFill>
                <a:latin typeface="Calibri"/>
              </a:rPr>
              <a:t>Conclusion</a:t>
            </a:r>
          </a:p>
        </p:txBody>
      </p:sp>
      <p:sp>
        <p:nvSpPr>
          <p:cNvPr id="4" name="Rectangle 3"/>
          <p:cNvSpPr/>
          <p:nvPr/>
        </p:nvSpPr>
        <p:spPr>
          <a:xfrm>
            <a:off x="731520" y="1051560"/>
            <a:ext cx="10789920" cy="2743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234440"/>
            <a:ext cx="457200"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34440"/>
            <a:ext cx="457200" cy="457200"/>
          </a:xfrm>
          <a:prstGeom prst="rect">
            <a:avLst/>
          </a:prstGeom>
          <a:noFill/>
        </p:spPr>
        <p:txBody>
          <a:bodyPr wrap="square">
            <a:spAutoFit/>
          </a:bodyPr>
          <a:lstStyle/>
          <a:p>
            <a:pPr algn="ctr"/>
            <a:r>
              <a:rPr sz="1500" b="1" i="0">
                <a:solidFill>
                  <a:srgbClr val="FFFFFF"/>
                </a:solidFill>
                <a:latin typeface="Calibri"/>
              </a:rPr>
              <a:t>4</a:t>
            </a:r>
          </a:p>
        </p:txBody>
      </p:sp>
      <p:sp>
        <p:nvSpPr>
          <p:cNvPr id="7" name="TextBox 6"/>
          <p:cNvSpPr txBox="1"/>
          <p:nvPr/>
        </p:nvSpPr>
        <p:spPr>
          <a:xfrm>
            <a:off x="1325880" y="1216152"/>
            <a:ext cx="4846320" cy="320040"/>
          </a:xfrm>
          <a:prstGeom prst="rect">
            <a:avLst/>
          </a:prstGeom>
          <a:noFill/>
        </p:spPr>
        <p:txBody>
          <a:bodyPr wrap="square">
            <a:spAutoFit/>
          </a:bodyPr>
          <a:lstStyle/>
          <a:p>
            <a:pPr algn="l"/>
            <a:r>
              <a:rPr sz="1250" b="1" i="0">
                <a:solidFill>
                  <a:srgbClr val="FFFFFF"/>
                </a:solidFill>
                <a:latin typeface="Calibri"/>
              </a:rPr>
              <a:t>Notebooks</a:t>
            </a:r>
          </a:p>
        </p:txBody>
      </p:sp>
      <p:sp>
        <p:nvSpPr>
          <p:cNvPr id="8" name="TextBox 7"/>
          <p:cNvSpPr txBox="1"/>
          <p:nvPr/>
        </p:nvSpPr>
        <p:spPr>
          <a:xfrm>
            <a:off x="1325880" y="1508760"/>
            <a:ext cx="4846320" cy="320040"/>
          </a:xfrm>
          <a:prstGeom prst="rect">
            <a:avLst/>
          </a:prstGeom>
          <a:noFill/>
        </p:spPr>
        <p:txBody>
          <a:bodyPr wrap="square">
            <a:spAutoFit/>
          </a:bodyPr>
          <a:lstStyle/>
          <a:p>
            <a:pPr algn="l"/>
            <a:r>
              <a:rPr sz="1000" b="0" i="0">
                <a:solidFill>
                  <a:srgbClr val="64748B"/>
                </a:solidFill>
                <a:latin typeface="Calibri"/>
              </a:rPr>
              <a:t>Préparation · EDA · Modèles · Validation</a:t>
            </a:r>
          </a:p>
        </p:txBody>
      </p:sp>
      <p:sp>
        <p:nvSpPr>
          <p:cNvPr id="9" name="Rectangle 8"/>
          <p:cNvSpPr/>
          <p:nvPr/>
        </p:nvSpPr>
        <p:spPr>
          <a:xfrm>
            <a:off x="6400800" y="1234440"/>
            <a:ext cx="457200"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234440"/>
            <a:ext cx="457200" cy="457200"/>
          </a:xfrm>
          <a:prstGeom prst="rect">
            <a:avLst/>
          </a:prstGeom>
          <a:noFill/>
        </p:spPr>
        <p:txBody>
          <a:bodyPr wrap="square">
            <a:spAutoFit/>
          </a:bodyPr>
          <a:lstStyle/>
          <a:p>
            <a:pPr algn="ctr"/>
            <a:r>
              <a:rPr sz="1500" b="1" i="0">
                <a:solidFill>
                  <a:srgbClr val="FFFFFF"/>
                </a:solidFill>
                <a:latin typeface="Calibri"/>
              </a:rPr>
              <a:t>4</a:t>
            </a:r>
          </a:p>
        </p:txBody>
      </p:sp>
      <p:sp>
        <p:nvSpPr>
          <p:cNvPr id="11" name="TextBox 10"/>
          <p:cNvSpPr txBox="1"/>
          <p:nvPr/>
        </p:nvSpPr>
        <p:spPr>
          <a:xfrm>
            <a:off x="6995160" y="1216152"/>
            <a:ext cx="4846320" cy="320040"/>
          </a:xfrm>
          <a:prstGeom prst="rect">
            <a:avLst/>
          </a:prstGeom>
          <a:noFill/>
        </p:spPr>
        <p:txBody>
          <a:bodyPr wrap="square">
            <a:spAutoFit/>
          </a:bodyPr>
          <a:lstStyle/>
          <a:p>
            <a:pPr algn="l"/>
            <a:r>
              <a:rPr sz="1250" b="1" i="0">
                <a:solidFill>
                  <a:srgbClr val="FFFFFF"/>
                </a:solidFill>
                <a:latin typeface="Calibri"/>
              </a:rPr>
              <a:t>Modules src/</a:t>
            </a:r>
          </a:p>
        </p:txBody>
      </p:sp>
      <p:sp>
        <p:nvSpPr>
          <p:cNvPr id="12" name="TextBox 11"/>
          <p:cNvSpPr txBox="1"/>
          <p:nvPr/>
        </p:nvSpPr>
        <p:spPr>
          <a:xfrm>
            <a:off x="6995160" y="1508760"/>
            <a:ext cx="4846320" cy="320040"/>
          </a:xfrm>
          <a:prstGeom prst="rect">
            <a:avLst/>
          </a:prstGeom>
          <a:noFill/>
        </p:spPr>
        <p:txBody>
          <a:bodyPr wrap="square">
            <a:spAutoFit/>
          </a:bodyPr>
          <a:lstStyle/>
          <a:p>
            <a:pPr algn="l"/>
            <a:r>
              <a:rPr sz="1000" b="0" i="0">
                <a:solidFill>
                  <a:srgbClr val="64748B"/>
                </a:solidFill>
                <a:latin typeface="Calibri"/>
              </a:rPr>
              <a:t>preprocessing · features · evaluation · save_model</a:t>
            </a:r>
          </a:p>
        </p:txBody>
      </p:sp>
      <p:sp>
        <p:nvSpPr>
          <p:cNvPr id="13" name="Rectangle 12"/>
          <p:cNvSpPr/>
          <p:nvPr/>
        </p:nvSpPr>
        <p:spPr>
          <a:xfrm>
            <a:off x="731520" y="2194560"/>
            <a:ext cx="45720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94560"/>
            <a:ext cx="457200" cy="457200"/>
          </a:xfrm>
          <a:prstGeom prst="rect">
            <a:avLst/>
          </a:prstGeom>
          <a:noFill/>
        </p:spPr>
        <p:txBody>
          <a:bodyPr wrap="square">
            <a:spAutoFit/>
          </a:bodyPr>
          <a:lstStyle/>
          <a:p>
            <a:pPr algn="ctr"/>
            <a:r>
              <a:rPr sz="1500" b="1" i="0">
                <a:solidFill>
                  <a:srgbClr val="FFFFFF"/>
                </a:solidFill>
                <a:latin typeface="Calibri"/>
              </a:rPr>
              <a:t>19</a:t>
            </a:r>
          </a:p>
        </p:txBody>
      </p:sp>
      <p:sp>
        <p:nvSpPr>
          <p:cNvPr id="15" name="TextBox 14"/>
          <p:cNvSpPr txBox="1"/>
          <p:nvPr/>
        </p:nvSpPr>
        <p:spPr>
          <a:xfrm>
            <a:off x="1325880" y="2176272"/>
            <a:ext cx="4846320" cy="320040"/>
          </a:xfrm>
          <a:prstGeom prst="rect">
            <a:avLst/>
          </a:prstGeom>
          <a:noFill/>
        </p:spPr>
        <p:txBody>
          <a:bodyPr wrap="square">
            <a:spAutoFit/>
          </a:bodyPr>
          <a:lstStyle/>
          <a:p>
            <a:pPr algn="l"/>
            <a:r>
              <a:rPr sz="1250" b="1" i="0">
                <a:solidFill>
                  <a:srgbClr val="FFFFFF"/>
                </a:solidFill>
                <a:latin typeface="Calibri"/>
              </a:rPr>
              <a:t>Tests automatisés</a:t>
            </a:r>
          </a:p>
        </p:txBody>
      </p:sp>
      <p:sp>
        <p:nvSpPr>
          <p:cNvPr id="16" name="TextBox 15"/>
          <p:cNvSpPr txBox="1"/>
          <p:nvPr/>
        </p:nvSpPr>
        <p:spPr>
          <a:xfrm>
            <a:off x="1325880" y="2468880"/>
            <a:ext cx="4846320" cy="320040"/>
          </a:xfrm>
          <a:prstGeom prst="rect">
            <a:avLst/>
          </a:prstGeom>
          <a:noFill/>
        </p:spPr>
        <p:txBody>
          <a:bodyPr wrap="square">
            <a:spAutoFit/>
          </a:bodyPr>
          <a:lstStyle/>
          <a:p>
            <a:pPr algn="l"/>
            <a:r>
              <a:rPr sz="1000" b="0" i="0">
                <a:solidFill>
                  <a:srgbClr val="64748B"/>
                </a:solidFill>
                <a:latin typeface="Calibri"/>
              </a:rPr>
              <a:t>Tous verts, en local et en intégration continue</a:t>
            </a:r>
          </a:p>
        </p:txBody>
      </p:sp>
      <p:sp>
        <p:nvSpPr>
          <p:cNvPr id="17" name="Rectangle 16"/>
          <p:cNvSpPr/>
          <p:nvPr/>
        </p:nvSpPr>
        <p:spPr>
          <a:xfrm>
            <a:off x="6400800" y="2194560"/>
            <a:ext cx="45720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194560"/>
            <a:ext cx="457200" cy="457200"/>
          </a:xfrm>
          <a:prstGeom prst="rect">
            <a:avLst/>
          </a:prstGeom>
          <a:noFill/>
        </p:spPr>
        <p:txBody>
          <a:bodyPr wrap="square">
            <a:spAutoFit/>
          </a:bodyPr>
          <a:lstStyle/>
          <a:p>
            <a:pPr algn="ctr"/>
            <a:r>
              <a:rPr sz="1500" b="1" i="0">
                <a:solidFill>
                  <a:srgbClr val="FFFFFF"/>
                </a:solidFill>
                <a:latin typeface="Calibri"/>
              </a:rPr>
              <a:t>2</a:t>
            </a:r>
          </a:p>
        </p:txBody>
      </p:sp>
      <p:sp>
        <p:nvSpPr>
          <p:cNvPr id="19" name="TextBox 18"/>
          <p:cNvSpPr txBox="1"/>
          <p:nvPr/>
        </p:nvSpPr>
        <p:spPr>
          <a:xfrm>
            <a:off x="6995160" y="2176272"/>
            <a:ext cx="4846320" cy="320040"/>
          </a:xfrm>
          <a:prstGeom prst="rect">
            <a:avLst/>
          </a:prstGeom>
          <a:noFill/>
        </p:spPr>
        <p:txBody>
          <a:bodyPr wrap="square">
            <a:spAutoFit/>
          </a:bodyPr>
          <a:lstStyle/>
          <a:p>
            <a:pPr algn="l"/>
            <a:r>
              <a:rPr sz="1250" b="1" i="0">
                <a:solidFill>
                  <a:srgbClr val="FFFFFF"/>
                </a:solidFill>
                <a:latin typeface="Calibri"/>
              </a:rPr>
              <a:t>Applications</a:t>
            </a:r>
          </a:p>
        </p:txBody>
      </p:sp>
      <p:sp>
        <p:nvSpPr>
          <p:cNvPr id="20" name="TextBox 19"/>
          <p:cNvSpPr txBox="1"/>
          <p:nvPr/>
        </p:nvSpPr>
        <p:spPr>
          <a:xfrm>
            <a:off x="6995160" y="2468880"/>
            <a:ext cx="4846320" cy="320040"/>
          </a:xfrm>
          <a:prstGeom prst="rect">
            <a:avLst/>
          </a:prstGeom>
          <a:noFill/>
        </p:spPr>
        <p:txBody>
          <a:bodyPr wrap="square">
            <a:spAutoFit/>
          </a:bodyPr>
          <a:lstStyle/>
          <a:p>
            <a:pPr algn="l"/>
            <a:r>
              <a:rPr sz="1000" b="0" i="0">
                <a:solidFill>
                  <a:srgbClr val="64748B"/>
                </a:solidFill>
                <a:latin typeface="Calibri"/>
              </a:rPr>
              <a:t>API FastAPI et dashboard Dash</a:t>
            </a:r>
          </a:p>
        </p:txBody>
      </p:sp>
      <p:sp>
        <p:nvSpPr>
          <p:cNvPr id="21" name="Rectangle 20"/>
          <p:cNvSpPr/>
          <p:nvPr/>
        </p:nvSpPr>
        <p:spPr>
          <a:xfrm>
            <a:off x="731520" y="3154680"/>
            <a:ext cx="45720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154680"/>
            <a:ext cx="457200" cy="457200"/>
          </a:xfrm>
          <a:prstGeom prst="rect">
            <a:avLst/>
          </a:prstGeom>
          <a:noFill/>
        </p:spPr>
        <p:txBody>
          <a:bodyPr wrap="square">
            <a:spAutoFit/>
          </a:bodyPr>
          <a:lstStyle/>
          <a:p>
            <a:pPr algn="ctr"/>
            <a:r>
              <a:rPr sz="1500" b="1" i="0">
                <a:solidFill>
                  <a:srgbClr val="FFFFFF"/>
                </a:solidFill>
                <a:latin typeface="Calibri"/>
              </a:rPr>
              <a:t>1</a:t>
            </a:r>
          </a:p>
        </p:txBody>
      </p:sp>
      <p:sp>
        <p:nvSpPr>
          <p:cNvPr id="23" name="TextBox 22"/>
          <p:cNvSpPr txBox="1"/>
          <p:nvPr/>
        </p:nvSpPr>
        <p:spPr>
          <a:xfrm>
            <a:off x="1325880" y="3136392"/>
            <a:ext cx="4846320" cy="320040"/>
          </a:xfrm>
          <a:prstGeom prst="rect">
            <a:avLst/>
          </a:prstGeom>
          <a:noFill/>
        </p:spPr>
        <p:txBody>
          <a:bodyPr wrap="square">
            <a:spAutoFit/>
          </a:bodyPr>
          <a:lstStyle/>
          <a:p>
            <a:pPr algn="l"/>
            <a:r>
              <a:rPr sz="1250" b="1" i="0">
                <a:solidFill>
                  <a:srgbClr val="FFFFFF"/>
                </a:solidFill>
                <a:latin typeface="Calibri"/>
              </a:rPr>
              <a:t>Pipeline CI/CD</a:t>
            </a:r>
          </a:p>
        </p:txBody>
      </p:sp>
      <p:sp>
        <p:nvSpPr>
          <p:cNvPr id="24" name="TextBox 23"/>
          <p:cNvSpPr txBox="1"/>
          <p:nvPr/>
        </p:nvSpPr>
        <p:spPr>
          <a:xfrm>
            <a:off x="1325880" y="3429000"/>
            <a:ext cx="4846320" cy="320040"/>
          </a:xfrm>
          <a:prstGeom prst="rect">
            <a:avLst/>
          </a:prstGeom>
          <a:noFill/>
        </p:spPr>
        <p:txBody>
          <a:bodyPr wrap="square">
            <a:spAutoFit/>
          </a:bodyPr>
          <a:lstStyle/>
          <a:p>
            <a:pPr algn="l"/>
            <a:r>
              <a:rPr sz="1000" b="0" i="0">
                <a:solidFill>
                  <a:srgbClr val="64748B"/>
                </a:solidFill>
                <a:latin typeface="Calibri"/>
              </a:rPr>
              <a:t>Réentraîne le modèle et lance tous les tests à chaque push</a:t>
            </a:r>
          </a:p>
        </p:txBody>
      </p:sp>
      <p:sp>
        <p:nvSpPr>
          <p:cNvPr id="25" name="Rectangle 24"/>
          <p:cNvSpPr/>
          <p:nvPr/>
        </p:nvSpPr>
        <p:spPr>
          <a:xfrm>
            <a:off x="6400800" y="3154680"/>
            <a:ext cx="45720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154680"/>
            <a:ext cx="457200" cy="457200"/>
          </a:xfrm>
          <a:prstGeom prst="rect">
            <a:avLst/>
          </a:prstGeom>
          <a:noFill/>
        </p:spPr>
        <p:txBody>
          <a:bodyPr wrap="square">
            <a:spAutoFit/>
          </a:bodyPr>
          <a:lstStyle/>
          <a:p>
            <a:pPr algn="ctr"/>
            <a:r>
              <a:rPr sz="1500" b="1" i="0">
                <a:solidFill>
                  <a:srgbClr val="FFFFFF"/>
                </a:solidFill>
                <a:latin typeface="Calibri"/>
              </a:rPr>
              <a:t>3</a:t>
            </a:r>
          </a:p>
        </p:txBody>
      </p:sp>
      <p:sp>
        <p:nvSpPr>
          <p:cNvPr id="27" name="TextBox 26"/>
          <p:cNvSpPr txBox="1"/>
          <p:nvPr/>
        </p:nvSpPr>
        <p:spPr>
          <a:xfrm>
            <a:off x="6995160" y="3136392"/>
            <a:ext cx="4846320" cy="320040"/>
          </a:xfrm>
          <a:prstGeom prst="rect">
            <a:avLst/>
          </a:prstGeom>
          <a:noFill/>
        </p:spPr>
        <p:txBody>
          <a:bodyPr wrap="square">
            <a:spAutoFit/>
          </a:bodyPr>
          <a:lstStyle/>
          <a:p>
            <a:pPr algn="l"/>
            <a:r>
              <a:rPr sz="1250" b="1" i="0">
                <a:solidFill>
                  <a:srgbClr val="FFFFFF"/>
                </a:solidFill>
                <a:latin typeface="Calibri"/>
              </a:rPr>
              <a:t>Documents du rendu</a:t>
            </a:r>
          </a:p>
        </p:txBody>
      </p:sp>
      <p:sp>
        <p:nvSpPr>
          <p:cNvPr id="28" name="TextBox 27"/>
          <p:cNvSpPr txBox="1"/>
          <p:nvPr/>
        </p:nvSpPr>
        <p:spPr>
          <a:xfrm>
            <a:off x="6995160" y="3429000"/>
            <a:ext cx="4846320" cy="320040"/>
          </a:xfrm>
          <a:prstGeom prst="rect">
            <a:avLst/>
          </a:prstGeom>
          <a:noFill/>
        </p:spPr>
        <p:txBody>
          <a:bodyPr wrap="square">
            <a:spAutoFit/>
          </a:bodyPr>
          <a:lstStyle/>
          <a:p>
            <a:pPr algn="l"/>
            <a:r>
              <a:rPr sz="1000" b="0" i="0">
                <a:solidFill>
                  <a:srgbClr val="64748B"/>
                </a:solidFill>
                <a:latin typeface="Calibri"/>
              </a:rPr>
              <a:t>Analyse des données · Mise en œuvre du ML · Validation</a:t>
            </a:r>
          </a:p>
        </p:txBody>
      </p:sp>
      <p:sp>
        <p:nvSpPr>
          <p:cNvPr id="29" name="TextBox 28"/>
          <p:cNvSpPr txBox="1"/>
          <p:nvPr/>
        </p:nvSpPr>
        <p:spPr>
          <a:xfrm>
            <a:off x="731520" y="4160520"/>
            <a:ext cx="10725912" cy="1600200"/>
          </a:xfrm>
          <a:prstGeom prst="rect">
            <a:avLst/>
          </a:prstGeom>
          <a:noFill/>
        </p:spPr>
        <p:txBody>
          <a:bodyPr wrap="square">
            <a:spAutoFit/>
          </a:bodyPr>
          <a:lstStyle/>
          <a:p>
            <a:pPr algn="l"/>
            <a:r>
              <a:rPr sz="1150" b="0" i="0">
                <a:solidFill>
                  <a:srgbClr val="CCDDFF"/>
                </a:solidFill>
                <a:latin typeface="Calibri"/>
              </a:rPr>
              <a:t>Pour conclure, nous pouvons dire que ce projet m'a permis de construire une chaîne complète de Machine Learning : partir de données brutes, les comprendre et les nettoyer, comparer plusieurs modèles avec des métriques adaptées au déséquilibre des classes, optimiser et valider le modèle retenu, puis le rendre utilisable par une API et un dashboard, le tout testé automatiquement et versionné sur GitHub. Le modèle n'est pas parfait — je connais ses limites, je les ai mesurées et je sais comment les corriger — mais il est déjà utilisable comme outil d'aide à la décision pour cibler les clients à risque. Ce que je retiens surtout, c'est la méthode : tester chaque idée avec des chiffres, documenter chaque choix, et rester honnête sur ce qui marche et ce qui ne marche pas encore.</a:t>
            </a:r>
          </a:p>
        </p:txBody>
      </p:sp>
      <p:sp>
        <p:nvSpPr>
          <p:cNvPr id="30" name="Rectangle 29"/>
          <p:cNvSpPr/>
          <p:nvPr/>
        </p:nvSpPr>
        <p:spPr>
          <a:xfrm>
            <a:off x="731520" y="5760720"/>
            <a:ext cx="10725912" cy="4572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33872"/>
            <a:ext cx="10515600" cy="347472"/>
          </a:xfrm>
          <a:prstGeom prst="rect">
            <a:avLst/>
          </a:prstGeom>
          <a:noFill/>
        </p:spPr>
        <p:txBody>
          <a:bodyPr wrap="square">
            <a:spAutoFit/>
          </a:bodyPr>
          <a:lstStyle/>
          <a:p>
            <a:pPr algn="ctr"/>
            <a:r>
              <a:rPr sz="1200" b="1" i="0">
                <a:solidFill>
                  <a:srgbClr val="FFFFFF"/>
                </a:solidFill>
                <a:latin typeface="Calibri"/>
              </a:rPr>
              <a:t>Random Forest · AUC 0,84 · F1 0,62 · rappel 0,72 · 30 features · 19 tests verts · API + dashboard déployés</a:t>
            </a:r>
          </a:p>
        </p:txBody>
      </p:sp>
      <p:sp>
        <p:nvSpPr>
          <p:cNvPr id="32" name="TextBox 31"/>
          <p:cNvSpPr txBox="1"/>
          <p:nvPr/>
        </p:nvSpPr>
        <p:spPr>
          <a:xfrm>
            <a:off x="731520" y="6309360"/>
            <a:ext cx="10725912" cy="457200"/>
          </a:xfrm>
          <a:prstGeom prst="rect">
            <a:avLst/>
          </a:prstGeom>
          <a:noFill/>
        </p:spPr>
        <p:txBody>
          <a:bodyPr wrap="square">
            <a:spAutoFit/>
          </a:bodyPr>
          <a:lstStyle/>
          <a:p>
            <a:pPr algn="ctr"/>
            <a:r>
              <a:rPr sz="1800" b="1" i="0">
                <a:solidFill>
                  <a:srgbClr val="FFFFFF"/>
                </a:solidFill>
                <a:latin typeface="Calibri"/>
              </a:rPr>
              <a:t>Merci de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